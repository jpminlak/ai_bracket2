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SpecialPlsOnTitleSld="0" strictFirstAndLastChars="0" autoCompressPictures="0">
  <p:sldMasterIdLst>
    <p:sldMasterId id="2147484143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9C8A980B-4F89-4940-BF84-561D21B453E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DDF5D8-3F60-4FD4-B0C5-A46830E9603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2" autoAdjust="0"/>
    <p:restoredTop sz="87627" autoAdjust="0"/>
  </p:normalViewPr>
  <p:slideViewPr>
    <p:cSldViewPr snapToGrid="0">
      <p:cViewPr varScale="1">
        <p:scale>
          <a:sx n="100" d="100"/>
          <a:sy n="100" d="100"/>
        </p:scale>
        <p:origin x="834" y="102"/>
      </p:cViewPr>
      <p:guideLst>
        <p:guide orient="horz" pos="1617"/>
        <p:guide pos="28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874"/>
        <p:guide pos="2149"/>
      </p:guideLst>
    </p:cSldViewPr>
  </p:notes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slide" Target="slides/slide33.xml"  /><Relationship Id="rId36" Type="http://schemas.openxmlformats.org/officeDocument/2006/relationships/slide" Target="slides/slide34.xml"  /><Relationship Id="rId37" Type="http://schemas.openxmlformats.org/officeDocument/2006/relationships/slide" Target="slides/slide35.xml"  /><Relationship Id="rId38" Type="http://schemas.openxmlformats.org/officeDocument/2006/relationships/slide" Target="slides/slide36.xml"  /><Relationship Id="rId39" Type="http://schemas.openxmlformats.org/officeDocument/2006/relationships/slide" Target="slides/slide37.xml"  /><Relationship Id="rId4" Type="http://schemas.openxmlformats.org/officeDocument/2006/relationships/slide" Target="slides/slide2.xml"  /><Relationship Id="rId40" Type="http://schemas.openxmlformats.org/officeDocument/2006/relationships/slide" Target="slides/slide38.xml"  /><Relationship Id="rId41" Type="http://schemas.openxmlformats.org/officeDocument/2006/relationships/slide" Target="slides/slide39.xml"  /><Relationship Id="rId42" Type="http://schemas.openxmlformats.org/officeDocument/2006/relationships/slide" Target="slides/slide40.xml"  /><Relationship Id="rId43" Type="http://schemas.openxmlformats.org/officeDocument/2006/relationships/slide" Target="slides/slide41.xml"  /><Relationship Id="rId44" Type="http://schemas.openxmlformats.org/officeDocument/2006/relationships/slide" Target="slides/slide42.xml"  /><Relationship Id="rId45" Type="http://schemas.openxmlformats.org/officeDocument/2006/relationships/slide" Target="slides/slide43.xml"  /><Relationship Id="rId46" Type="http://schemas.openxmlformats.org/officeDocument/2006/relationships/slide" Target="slides/slide44.xml"  /><Relationship Id="rId47" Type="http://schemas.openxmlformats.org/officeDocument/2006/relationships/slide" Target="slides/slide45.xml"  /><Relationship Id="rId48" Type="http://schemas.openxmlformats.org/officeDocument/2006/relationships/slide" Target="slides/slide46.xml"  /><Relationship Id="rId49" Type="http://schemas.openxmlformats.org/officeDocument/2006/relationships/slide" Target="slides/slide47.xml"  /><Relationship Id="rId5" Type="http://schemas.openxmlformats.org/officeDocument/2006/relationships/slide" Target="slides/slide3.xml"  /><Relationship Id="rId50" Type="http://schemas.openxmlformats.org/officeDocument/2006/relationships/presProps" Target="presProps.xml"  /><Relationship Id="rId51" Type="http://schemas.openxmlformats.org/officeDocument/2006/relationships/viewProps" Target="viewProps.xml"  /><Relationship Id="rId52" Type="http://schemas.openxmlformats.org/officeDocument/2006/relationships/theme" Target="theme/theme1.xml"  /><Relationship Id="rId53" Type="http://schemas.openxmlformats.org/officeDocument/2006/relationships/tableStyles" Target="tableStyles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20.xml"  /><Relationship Id="rId2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slide" Target="../slides/slide21.xml"  /><Relationship Id="rId2" Type="http://schemas.openxmlformats.org/officeDocument/2006/relationships/notesMaster" Target="../notesMasters/notesMaster1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slide" Target="../slides/slide22.xml"  /><Relationship Id="rId2" Type="http://schemas.openxmlformats.org/officeDocument/2006/relationships/notesMaster" Target="../notesMasters/notesMaster1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3.xml"  /><Relationship Id="rId2" Type="http://schemas.openxmlformats.org/officeDocument/2006/relationships/notesMaster" Target="../notesMasters/notesMaster1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4.xml"  /><Relationship Id="rId2" Type="http://schemas.openxmlformats.org/officeDocument/2006/relationships/notesMaster" Target="../notesMasters/notesMaster1.xml"  /></Relationships>
</file>

<file path=ppt/notesSlides/_rels/notesSlide23.xml.rels><?xml version="1.0" encoding="UTF-8" standalone="yes" ?><Relationships xmlns="http://schemas.openxmlformats.org/package/2006/relationships"><Relationship Id="rId1" Type="http://schemas.openxmlformats.org/officeDocument/2006/relationships/slide" Target="../slides/slide25.xml"  /><Relationship Id="rId2" Type="http://schemas.openxmlformats.org/officeDocument/2006/relationships/notesMaster" Target="../notesMasters/notesMaster1.xml"  /></Relationships>
</file>

<file path=ppt/notesSlides/_rels/notesSlide24.xml.rels><?xml version="1.0" encoding="UTF-8" standalone="yes" ?><Relationships xmlns="http://schemas.openxmlformats.org/package/2006/relationships"><Relationship Id="rId1" Type="http://schemas.openxmlformats.org/officeDocument/2006/relationships/slide" Target="../slides/slide26.xml"  /><Relationship Id="rId2" Type="http://schemas.openxmlformats.org/officeDocument/2006/relationships/notesMaster" Target="../notesMasters/notesMaster1.xml"  /></Relationships>
</file>

<file path=ppt/notesSlides/_rels/notesSlide25.xml.rels><?xml version="1.0" encoding="UTF-8" standalone="yes" ?><Relationships xmlns="http://schemas.openxmlformats.org/package/2006/relationships"><Relationship Id="rId1" Type="http://schemas.openxmlformats.org/officeDocument/2006/relationships/slide" Target="../slides/slide27.xml"  /><Relationship Id="rId2" Type="http://schemas.openxmlformats.org/officeDocument/2006/relationships/notesMaster" Target="../notesMasters/notesMaster1.xml"  /></Relationships>
</file>

<file path=ppt/notesSlides/_rels/notesSlide26.xml.rels><?xml version="1.0" encoding="UTF-8" standalone="yes" ?><Relationships xmlns="http://schemas.openxmlformats.org/package/2006/relationships"><Relationship Id="rId1" Type="http://schemas.openxmlformats.org/officeDocument/2006/relationships/slide" Target="../slides/slide28.xml"  /><Relationship Id="rId2" Type="http://schemas.openxmlformats.org/officeDocument/2006/relationships/notesMaster" Target="../notesMasters/notesMaster1.xml"  /></Relationships>
</file>

<file path=ppt/notesSlides/_rels/notesSlide27.xml.rels><?xml version="1.0" encoding="UTF-8" standalone="yes" ?><Relationships xmlns="http://schemas.openxmlformats.org/package/2006/relationships"><Relationship Id="rId1" Type="http://schemas.openxmlformats.org/officeDocument/2006/relationships/slide" Target="../slides/slide29.xml"  /><Relationship Id="rId2" Type="http://schemas.openxmlformats.org/officeDocument/2006/relationships/notesMaster" Target="../notesMasters/notesMaster1.xml"  /></Relationships>
</file>

<file path=ppt/notesSlides/_rels/notesSlide28.xml.rels><?xml version="1.0" encoding="UTF-8" standalone="yes" ?><Relationships xmlns="http://schemas.openxmlformats.org/package/2006/relationships"><Relationship Id="rId1" Type="http://schemas.openxmlformats.org/officeDocument/2006/relationships/slide" Target="../slides/slide30.xml"  /><Relationship Id="rId2" Type="http://schemas.openxmlformats.org/officeDocument/2006/relationships/notesMaster" Target="../notesMasters/notesMaster1.xml"  /></Relationships>
</file>

<file path=ppt/notesSlides/_rels/notesSlide29.xml.rels><?xml version="1.0" encoding="UTF-8" standalone="yes" ?><Relationships xmlns="http://schemas.openxmlformats.org/package/2006/relationships"><Relationship Id="rId1" Type="http://schemas.openxmlformats.org/officeDocument/2006/relationships/slide" Target="../slides/slide31.xml"  /><Relationship Id="rId2" Type="http://schemas.openxmlformats.org/officeDocument/2006/relationships/notesMaster" Target="../notesMasters/notesMaster1.xml"  /></Relationships>
</file>

<file path=ppt/notesSlides/_rels/notesSlide30.xml.rels><?xml version="1.0" encoding="UTF-8" standalone="yes" ?><Relationships xmlns="http://schemas.openxmlformats.org/package/2006/relationships"><Relationship Id="rId1" Type="http://schemas.openxmlformats.org/officeDocument/2006/relationships/slide" Target="../slides/slide32.xml"  /><Relationship Id="rId2" Type="http://schemas.openxmlformats.org/officeDocument/2006/relationships/notesMaster" Target="../notesMasters/notesMaster1.xml"  /></Relationships>
</file>

<file path=ppt/notesSlides/_rels/notesSlide31.xml.rels><?xml version="1.0" encoding="UTF-8" standalone="yes" ?><Relationships xmlns="http://schemas.openxmlformats.org/package/2006/relationships"><Relationship Id="rId1" Type="http://schemas.openxmlformats.org/officeDocument/2006/relationships/slide" Target="../slides/slide33.xml"  /><Relationship Id="rId2" Type="http://schemas.openxmlformats.org/officeDocument/2006/relationships/notesMaster" Target="../notesMasters/notesMaster1.xml"  /></Relationships>
</file>

<file path=ppt/notesSlides/_rels/notesSlide32.xml.rels><?xml version="1.0" encoding="UTF-8" standalone="yes" ?><Relationships xmlns="http://schemas.openxmlformats.org/package/2006/relationships"><Relationship Id="rId1" Type="http://schemas.openxmlformats.org/officeDocument/2006/relationships/slide" Target="../slides/slide34.xml"  /><Relationship Id="rId2" Type="http://schemas.openxmlformats.org/officeDocument/2006/relationships/notesMaster" Target="../notesMasters/notesMaster1.xml"  /></Relationships>
</file>

<file path=ppt/notesSlides/_rels/notesSlide3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5.xml"  /><Relationship Id="rId2" Type="http://schemas.openxmlformats.org/officeDocument/2006/relationships/notesMaster" Target="../notesMasters/notesMaster1.xml"  /></Relationships>
</file>

<file path=ppt/notesSlides/_rels/notesSlide34.xml.rels><?xml version="1.0" encoding="UTF-8" standalone="yes" ?><Relationships xmlns="http://schemas.openxmlformats.org/package/2006/relationships"><Relationship Id="rId1" Type="http://schemas.openxmlformats.org/officeDocument/2006/relationships/slide" Target="../slides/slide36.xml"  /><Relationship Id="rId2" Type="http://schemas.openxmlformats.org/officeDocument/2006/relationships/notesMaster" Target="../notesMasters/notesMaster1.xml"  /></Relationships>
</file>

<file path=ppt/notesSlides/_rels/notesSlide35.xml.rels><?xml version="1.0" encoding="UTF-8" standalone="yes" ?><Relationships xmlns="http://schemas.openxmlformats.org/package/2006/relationships"><Relationship Id="rId1" Type="http://schemas.openxmlformats.org/officeDocument/2006/relationships/slide" Target="../slides/slide37.xml"  /><Relationship Id="rId2" Type="http://schemas.openxmlformats.org/officeDocument/2006/relationships/notesMaster" Target="../notesMasters/notesMaster1.xml"  /></Relationships>
</file>

<file path=ppt/notesSlides/_rels/notesSlide36.xml.rels><?xml version="1.0" encoding="UTF-8" standalone="yes" ?><Relationships xmlns="http://schemas.openxmlformats.org/package/2006/relationships"><Relationship Id="rId1" Type="http://schemas.openxmlformats.org/officeDocument/2006/relationships/slide" Target="../slides/slide38.xml"  /><Relationship Id="rId2" Type="http://schemas.openxmlformats.org/officeDocument/2006/relationships/notesMaster" Target="../notesMasters/notesMaster1.xml"  /></Relationships>
</file>

<file path=ppt/notesSlides/_rels/notesSlide37.xml.rels><?xml version="1.0" encoding="UTF-8" standalone="yes" ?><Relationships xmlns="http://schemas.openxmlformats.org/package/2006/relationships"><Relationship Id="rId1" Type="http://schemas.openxmlformats.org/officeDocument/2006/relationships/slide" Target="../slides/slide39.xml"  /><Relationship Id="rId2" Type="http://schemas.openxmlformats.org/officeDocument/2006/relationships/notesMaster" Target="../notesMasters/notesMaster1.xml"  /></Relationships>
</file>

<file path=ppt/notesSlides/_rels/notesSlide38.xml.rels><?xml version="1.0" encoding="UTF-8" standalone="yes" ?><Relationships xmlns="http://schemas.openxmlformats.org/package/2006/relationships"><Relationship Id="rId1" Type="http://schemas.openxmlformats.org/officeDocument/2006/relationships/slide" Target="../slides/slide40.xml"  /><Relationship Id="rId2" Type="http://schemas.openxmlformats.org/officeDocument/2006/relationships/notesMaster" Target="../notesMasters/notesMaster1.xml"  /></Relationships>
</file>

<file path=ppt/notesSlides/_rels/notesSlide39.xml.rels><?xml version="1.0" encoding="UTF-8" standalone="yes" ?><Relationships xmlns="http://schemas.openxmlformats.org/package/2006/relationships"><Relationship Id="rId1" Type="http://schemas.openxmlformats.org/officeDocument/2006/relationships/slide" Target="../slides/slide41.xml"  /><Relationship Id="rId2" Type="http://schemas.openxmlformats.org/officeDocument/2006/relationships/notesMaster" Target="../notesMasters/notesMaster1.xml"  /></Relationships>
</file>

<file path=ppt/notesSlides/_rels/notesSlide40.xml.rels><?xml version="1.0" encoding="UTF-8" standalone="yes" ?><Relationships xmlns="http://schemas.openxmlformats.org/package/2006/relationships"><Relationship Id="rId1" Type="http://schemas.openxmlformats.org/officeDocument/2006/relationships/slide" Target="../slides/slide42.xml"  /><Relationship Id="rId2" Type="http://schemas.openxmlformats.org/officeDocument/2006/relationships/notesMaster" Target="../notesMasters/notesMaster1.xml"  /></Relationships>
</file>

<file path=ppt/notesSlides/_rels/notesSlide41.xml.rels><?xml version="1.0" encoding="UTF-8" standalone="yes" ?><Relationships xmlns="http://schemas.openxmlformats.org/package/2006/relationships"><Relationship Id="rId1" Type="http://schemas.openxmlformats.org/officeDocument/2006/relationships/slide" Target="../slides/slide43.xml"  /><Relationship Id="rId2" Type="http://schemas.openxmlformats.org/officeDocument/2006/relationships/notesMaster" Target="../notesMasters/notesMaster1.xml"  /></Relationships>
</file>

<file path=ppt/notesSlides/_rels/notesSlide42.xml.rels><?xml version="1.0" encoding="UTF-8" standalone="yes" ?><Relationships xmlns="http://schemas.openxmlformats.org/package/2006/relationships"><Relationship Id="rId1" Type="http://schemas.openxmlformats.org/officeDocument/2006/relationships/slide" Target="../slides/slide44.xml"  /><Relationship Id="rId2" Type="http://schemas.openxmlformats.org/officeDocument/2006/relationships/notesMaster" Target="../notesMasters/notesMaster1.xml"  /></Relationships>
</file>

<file path=ppt/notesSlides/_rels/notesSlide43.xml.rels><?xml version="1.0" encoding="UTF-8" standalone="yes" ?><Relationships xmlns="http://schemas.openxmlformats.org/package/2006/relationships"><Relationship Id="rId1" Type="http://schemas.openxmlformats.org/officeDocument/2006/relationships/slide" Target="../slides/slide45.xml"  /><Relationship Id="rId2" Type="http://schemas.openxmlformats.org/officeDocument/2006/relationships/notesMaster" Target="../notesMasters/notesMaster1.xml"  /></Relationships>
</file>

<file path=ppt/notesSlides/_rels/notesSlide4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6.xml"  /><Relationship Id="rId2" Type="http://schemas.openxmlformats.org/officeDocument/2006/relationships/notesMaster" Target="../notesMasters/notesMaster1.xml"  /></Relationships>
</file>

<file path=ppt/notesSlides/_rels/notesSlide45.xml.rels><?xml version="1.0" encoding="UTF-8" standalone="yes" ?><Relationships xmlns="http://schemas.openxmlformats.org/package/2006/relationships"><Relationship Id="rId1" Type="http://schemas.openxmlformats.org/officeDocument/2006/relationships/slide" Target="../slides/slide47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b23323dfc_0_5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b23323dfc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b23323dfc_0_5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b23323dfc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이메일 기능 현재 어려움</a:t>
            </a:r>
            <a:r>
              <a:rPr lang="en-US" altLang="ko-KR"/>
              <a:t>.</a:t>
            </a:r>
            <a:r>
              <a:rPr lang="ko-KR" altLang="en-US"/>
              <a:t> </a:t>
            </a:r>
            <a:r>
              <a:rPr lang="en-US" altLang="ko-KR"/>
              <a:t>SMTP </a:t>
            </a:r>
            <a:r>
              <a:rPr lang="ko-KR" altLang="en-US"/>
              <a:t>인증 방식 적용 불가</a:t>
            </a:r>
            <a:r>
              <a:rPr lang="en-US" altLang="ko-KR"/>
              <a:t>.</a:t>
            </a:r>
            <a:r>
              <a:rPr lang="ko-KR" altLang="en-US"/>
              <a:t> </a:t>
            </a:r>
            <a:r>
              <a:rPr lang="en-US" altLang="ko-KR"/>
              <a:t>Spring Security</a:t>
            </a:r>
            <a:r>
              <a:rPr lang="ko-KR" altLang="en-US"/>
              <a:t>와 충돌하는 듯</a:t>
            </a:r>
            <a:r>
              <a:rPr lang="en-US" altLang="ko-KR"/>
              <a:t>?</a:t>
            </a:r>
            <a:endParaRPr lang="en-US" altLang="ko-K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이에 따라 비밀번호 찾기 제한</a:t>
            </a:r>
            <a:r>
              <a:rPr lang="en-US" altLang="ko-KR"/>
              <a:t>,</a:t>
            </a:r>
            <a:r>
              <a:rPr lang="ko-KR" altLang="en-US"/>
              <a:t> 문의 기능 일부 제한</a:t>
            </a:r>
            <a:r>
              <a:rPr lang="en-US" altLang="ko-KR"/>
              <a:t>.</a:t>
            </a:r>
            <a:r>
              <a:rPr lang="ko-KR" altLang="en-US"/>
              <a:t> 안되면 삭제하자</a:t>
            </a:r>
            <a:r>
              <a:rPr lang="en-US" altLang="ko-KR"/>
              <a:t>.</a:t>
            </a:r>
            <a:endParaRPr lang="en-US" altLang="ko-KR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b23323dfc_0_5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b23323dfc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b23323dfc_0_5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b23323dfc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b23323dfc_0_6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7b23323dfc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b23323dfc_0_4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7b23323df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/>
              <a:t>* </a:t>
            </a:r>
            <a:r>
              <a:rPr lang="ko-KR" altLang="en-US"/>
              <a:t>코드 완성 후 다시 만들어야 함</a:t>
            </a:r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b23323dfc_0_4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7b23323df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/>
              <a:t>+</a:t>
            </a:r>
            <a:r>
              <a:rPr lang="ko-KR" altLang="en-US"/>
              <a:t> 프로젝트 구조도 </a:t>
            </a:r>
            <a:r>
              <a:rPr lang="en-US" altLang="ko-KR"/>
              <a:t>(Spring boot, Python)</a:t>
            </a:r>
            <a:endParaRPr lang="en-US" altLang="ko-K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/>
              <a:t>* </a:t>
            </a:r>
            <a:r>
              <a:rPr lang="ko-KR" altLang="en-US"/>
              <a:t>코드 완성 후 다시 만들어야 함</a:t>
            </a:r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lvl="0" indent="0"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b23323dfc_0_6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7b23323dfc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b23323dfc_0_6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7b23323dfc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b23323dfc_0_6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7b23323dfc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b23323dfc_0_6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7b23323dfc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b23323dfc_0_6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7b23323dfc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Google Shape;4;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*</a:t>
            </a:r>
            <a:r>
              <a:rPr lang="ko-KR" altLang="en-US"/>
              <a:t> 실험 내역은 테스트 템플릿을 참고하여 작성하자</a:t>
            </a:r>
            <a:endParaRPr lang="en-US" altLang="ko-KR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11" name="Shape 31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457200" indent="-298450">
              <a:buClr>
                <a:srgbClr val="000000"/>
              </a:buClr>
              <a:buSzPct val="25000"/>
              <a:buFont typeface="Arial"/>
              <a:buChar char="●"/>
              <a:defRPr sz="1100"/>
            </a:pPr>
            <a:r>
              <a:rPr lang="ko-KR" altLang="en-US"/>
              <a:t>출처. AI HUB음식 이미지 및 영양정보 텍스트</a:t>
            </a:r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Shape 329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30" name="Shape 33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457200" indent="-298450">
              <a:buClr>
                <a:srgbClr val="000000"/>
              </a:buClr>
              <a:buSzPct val="25000"/>
              <a:buFont typeface="Arial"/>
              <a:buChar char="●"/>
              <a:defRPr sz="1100"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Google Shape;4;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Google Shape;4;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Google Shape;4;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Google Shape;4;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Google Shape;4;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b23323dfc_0_7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b23323dfc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b23323dfc_0_7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b23323dfc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b23323dfc_0_7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b23323dfc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b23323dfc_0_7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b23323dfc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b23323dfc_0_7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b23323dfc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b23323dfc_0_7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b23323dfc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b23323dfc_0_7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b23323dfc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b23323dfc_0_7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b23323dfc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사이트의 주요기능과 상관없어 부록으로 옮김</a:t>
            </a:r>
            <a:endParaRPr lang="ko-KR" altLang="en-US"/>
          </a:p>
        </p:txBody>
      </p:sp>
    </p:spTree>
  </p:cSld>
  <p:clrMapOvr>
    <a:masterClrMapping/>
  </p:clrMapOvr>
</p:notes>
</file>

<file path=ppt/notesSlides/notesSlide3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b23323dfc_0_7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b23323dfc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3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b23323dfc_0_7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b23323dfc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3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b23323dfc_0_7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b23323dfc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3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b23323dfc_0_7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b23323dfc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3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b23323dfc_0_7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b23323dfc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3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b23323dfc_0_7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b23323dfc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3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b23323dfc_0_7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b23323dfc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3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b23323dfc_0_7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b23323dfc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3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b23323dfc_0_7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b23323dfc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3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b23323dfc_0_7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b23323dfc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4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b23323dfc_0_5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b23323dfc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4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b23323dfc_0_5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b23323dfc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4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b23323dfc_0_5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b23323dfc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4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b23323dfc_0_5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b23323dfc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4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b23323dfc_0_5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b23323dfc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4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b23323dfc_0_5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b23323dfc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182881"/>
            <a:ext cx="8793480" cy="4783454"/>
          </a:xfrm>
          <a:prstGeom prst="rect">
            <a:avLst/>
          </a:prstGeom>
          <a:solidFill>
            <a:srgbClr val="0B0B1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661782"/>
            <a:ext cx="7475220" cy="219456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b="1" cap="all" baseline="0">
                <a:solidFill>
                  <a:srgbClr val="FFFFFF"/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2902226"/>
            <a:ext cx="6575895" cy="1041124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rgbClr val="FFFFFF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>
              <a:defRPr/>
            </a:pPr>
            <a:fld id="{A5FFAB59-05A6-41B5-A2D4-5F61552A237A}" type="datetime1">
              <a:rPr lang="en-US"/>
              <a:pPr lvl="0">
                <a:defRPr/>
              </a:pPr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lang="ko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280035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FAB59-05A6-41B5-A2D4-5F61552A237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66853492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880181"/>
            <a:ext cx="7475220" cy="219456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5400" b="0" cap="all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3115890"/>
            <a:ext cx="6576822" cy="1022855"/>
          </a:xfrm>
        </p:spPr>
        <p:txBody>
          <a:bodyPr anchor="t">
            <a:normAutofit/>
          </a:bodyPr>
          <a:lstStyle>
            <a:lvl1pPr marL="0" indent="0" algn="ctr">
              <a:buNone/>
              <a:defRPr sz="165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FAB59-05A6-41B5-A2D4-5F61552A237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lang="ko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3015306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78266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1543049"/>
            <a:ext cx="3566160" cy="301752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1543050"/>
            <a:ext cx="3566160" cy="301752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FAB59-05A6-41B5-A2D4-5F61552A237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193163192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1501133"/>
            <a:ext cx="3566160" cy="58293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041112"/>
            <a:ext cx="3566160" cy="25374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499274"/>
            <a:ext cx="3566160" cy="58293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039492"/>
            <a:ext cx="3566160" cy="25374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FAB59-05A6-41B5-A2D4-5F61552A237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196879154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FAB59-05A6-41B5-A2D4-5F61552A237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140122015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FAB59-05A6-41B5-A2D4-5F61552A237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2395148081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822960"/>
            <a:ext cx="2948940" cy="130302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19" y="822960"/>
            <a:ext cx="3909060" cy="349758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125980"/>
            <a:ext cx="2948940" cy="22631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FAB59-05A6-41B5-A2D4-5F61552A237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184366668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822960"/>
            <a:ext cx="2948940" cy="130302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59936" y="802385"/>
            <a:ext cx="4574286" cy="360045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125980"/>
            <a:ext cx="2948940" cy="216027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FAB59-05A6-41B5-A2D4-5F61552A237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250957627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FAB59-05A6-41B5-A2D4-5F61552A237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260096282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71500"/>
            <a:ext cx="1743075" cy="405765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571500"/>
            <a:ext cx="5572125" cy="405765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FAB59-05A6-41B5-A2D4-5F61552A237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46102659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595300" y="4851623"/>
            <a:ext cx="548700" cy="393600"/>
          </a:xfrm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>
            <a:lvl1pPr lvl="0">
              <a:buNone/>
              <a:defRPr b="1">
                <a:solidFill>
                  <a:schemeClr val="lt1"/>
                </a:solidFill>
                <a:latin typeface="KoPub돋움체 Light"/>
                <a:ea typeface="KoPub돋움체 Light"/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ko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  <p:sp>
        <p:nvSpPr>
          <p:cNvPr id="21" name="Google Shape;68;p15"/>
          <p:cNvSpPr txBox="1">
            <a:spLocks noGrp="1"/>
          </p:cNvSpPr>
          <p:nvPr userDrawn="1"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/>
          </a:solidFill>
        </p:spPr>
        <p:txBody>
          <a:bodyPr vert="horz" wrap="square" lIns="91424" tIns="91424" rIns="91424" bIns="91424" anchor="t" anchorCtr="0">
            <a:noAutofit/>
          </a:bodyPr>
          <a:lstStyle/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endParaRPr kumimoji="0" lang="en-US" altLang="ko-KR" sz="1600" b="1" i="0" u="none" strike="noStrike" kern="1200" cap="none" spc="0" normalizeH="0" baseline="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2" name="TextBox 21"/>
          <p:cNvSpPr txBox="1"/>
          <p:nvPr userDrawn="1"/>
        </p:nvSpPr>
        <p:spPr>
          <a:xfrm>
            <a:off x="216393" y="0"/>
            <a:ext cx="8726269" cy="286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 b="1">
              <a:latin typeface="KoPub돋움체 Light"/>
              <a:ea typeface="KoPub돋움체 Light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2"/>
          <p:cNvSpPr>
            <a:spLocks noChangeArrowheads="1"/>
          </p:cNvSpPr>
          <p:nvPr userDrawn="1"/>
        </p:nvSpPr>
        <p:spPr>
          <a:xfrm>
            <a:off x="4724400" y="4899423"/>
            <a:ext cx="495300" cy="167877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번호 개체 틀 7"/>
          <p:cNvSpPr txBox="1"/>
          <p:nvPr userDrawn="1"/>
        </p:nvSpPr>
        <p:spPr>
          <a:xfrm>
            <a:off x="3708400" y="4845844"/>
            <a:ext cx="1763712" cy="426243"/>
          </a:xfrm>
          <a:prstGeom prst="rect">
            <a:avLst/>
          </a:prstGeom>
        </p:spPr>
        <p:txBody>
          <a:bodyPr lIns="99569" tIns="49785" rIns="99569" bIns="49785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1100" b="1" kern="1200">
                <a:solidFill>
                  <a:schemeClr val="tx1"/>
                </a:solidFill>
                <a:latin typeface="Rix고딕 L"/>
                <a:ea typeface="Rix고딕 L"/>
                <a:cs typeface="+mn-cs"/>
              </a:defRPr>
            </a:lvl1pPr>
            <a:lvl2pPr marL="456292" indent="-36445"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Rix고딕 L"/>
                <a:ea typeface="Rix고딕 L"/>
                <a:cs typeface="+mn-cs"/>
              </a:defRPr>
            </a:lvl2pPr>
            <a:lvl3pPr marL="914042" indent="-74348"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Rix고딕 L"/>
                <a:ea typeface="Rix고딕 L"/>
                <a:cs typeface="+mn-cs"/>
              </a:defRPr>
            </a:lvl3pPr>
            <a:lvl4pPr marL="1370333" indent="-110793"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Rix고딕 L"/>
                <a:ea typeface="Rix고딕 L"/>
                <a:cs typeface="+mn-cs"/>
              </a:defRPr>
            </a:lvl4pPr>
            <a:lvl5pPr marL="1828083" indent="-148696"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Rix고딕 L"/>
                <a:ea typeface="Rix고딕 L"/>
                <a:cs typeface="+mn-cs"/>
              </a:defRPr>
            </a:lvl5pPr>
            <a:lvl6pPr marL="2099234" algn="l" defTabSz="839694" rtl="0" eaLnBrk="1" latinLnBrk="1" hangingPunct="1">
              <a:defRPr kumimoji="1" sz="1000" kern="1200">
                <a:solidFill>
                  <a:schemeClr val="tx1"/>
                </a:solidFill>
                <a:latin typeface="Rix고딕 L"/>
                <a:ea typeface="Rix고딕 L"/>
                <a:cs typeface="+mn-cs"/>
              </a:defRPr>
            </a:lvl6pPr>
            <a:lvl7pPr marL="2519081" algn="l" defTabSz="839694" rtl="0" eaLnBrk="1" latinLnBrk="1" hangingPunct="1">
              <a:defRPr kumimoji="1" sz="1000" kern="1200">
                <a:solidFill>
                  <a:schemeClr val="tx1"/>
                </a:solidFill>
                <a:latin typeface="Rix고딕 L"/>
                <a:ea typeface="Rix고딕 L"/>
                <a:cs typeface="+mn-cs"/>
              </a:defRPr>
            </a:lvl7pPr>
            <a:lvl8pPr marL="2938927" algn="l" defTabSz="839694" rtl="0" eaLnBrk="1" latinLnBrk="1" hangingPunct="1">
              <a:defRPr kumimoji="1" sz="1000" kern="1200">
                <a:solidFill>
                  <a:schemeClr val="tx1"/>
                </a:solidFill>
                <a:latin typeface="Rix고딕 L"/>
                <a:ea typeface="Rix고딕 L"/>
                <a:cs typeface="+mn-cs"/>
              </a:defRPr>
            </a:lvl8pPr>
            <a:lvl9pPr marL="3358774" algn="l" defTabSz="839694" rtl="0" eaLnBrk="1" latinLnBrk="1" hangingPunct="1">
              <a:defRPr kumimoji="1" sz="1000" kern="1200">
                <a:solidFill>
                  <a:schemeClr val="tx1"/>
                </a:solidFill>
                <a:latin typeface="Rix고딕 L"/>
                <a:ea typeface="Rix고딕 L"/>
                <a:cs typeface="+mn-cs"/>
              </a:defRPr>
            </a:lvl9pPr>
          </a:lstStyle>
          <a:p>
            <a:pPr>
              <a:defRPr/>
            </a:pPr>
            <a:fld id="{95631B65-E6D5-4CBC-BA4B-F51FB262ECC2}" type="slidenum">
              <a:rPr lang="ko-KR" altLang="en-US" sz="900" b="0">
                <a:solidFill>
                  <a:schemeClr val="tx1">
                    <a:lumMod val="75000"/>
                    <a:lumOff val="25000"/>
                  </a:schemeClr>
                </a:solidFill>
                <a:latin typeface="Wingdings"/>
                <a:sym typeface="Wingdings"/>
              </a:rPr>
              <a:pPr>
                <a:defRPr/>
              </a:pPr>
              <a:t>‹#›</a:t>
            </a:fld>
            <a:endParaRPr lang="ko-KR" altLang="en-US" sz="900" b="0">
              <a:solidFill>
                <a:schemeClr val="tx1">
                  <a:lumMod val="75000"/>
                  <a:lumOff val="25000"/>
                </a:schemeClr>
              </a:solidFill>
              <a:latin typeface="Wingdings"/>
              <a:sym typeface="Wingdings"/>
            </a:endParaRPr>
          </a:p>
        </p:txBody>
      </p:sp>
      <p:sp>
        <p:nvSpPr>
          <p:cNvPr id="5" name="Google Shape;19;p4"/>
          <p:cNvSpPr txBox="1">
            <a:spLocks noGrp="1"/>
          </p:cNvSpPr>
          <p:nvPr userDrawn="1">
            <p:ph type="sldNum" idx="10"/>
          </p:nvPr>
        </p:nvSpPr>
        <p:spPr>
          <a:xfrm>
            <a:off x="8595300" y="4851623"/>
            <a:ext cx="548700" cy="393600"/>
          </a:xfrm>
          <a:prstGeom prst="rect">
            <a:avLst/>
          </a:prstGeom>
        </p:spPr>
        <p:txBody>
          <a:bodyPr vert="horz" wrap="square" lIns="91424" tIns="91424" rIns="91424" bIns="91424" anchor="ctr" anchorCtr="0">
            <a:normAutofit/>
          </a:bodyPr>
          <a:lstStyle>
            <a:lvl1pPr>
              <a:defRPr b="1">
                <a:latin typeface="KoPub돋움체 Light"/>
                <a:ea typeface="KoPub돋움체 Ligh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ko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4" tIns="91424" rIns="91424" bIns="91424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wrap="square" lIns="91424" tIns="91424" rIns="91424" bIns="91424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595300" y="4851623"/>
            <a:ext cx="548700" cy="393600"/>
          </a:xfrm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>
            <a:lvl1pPr lvl="0">
              <a:buNone/>
              <a:defRPr b="1">
                <a:solidFill>
                  <a:schemeClr val="lt1"/>
                </a:solidFill>
                <a:latin typeface="KoPub돋움체 Light"/>
                <a:ea typeface="KoPub돋움체 Light"/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ko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8821315" y="4887148"/>
            <a:ext cx="322685" cy="322549"/>
          </a:xfrm>
          <a:prstGeom prst="rect">
            <a:avLst/>
          </a:prstGeom>
        </p:spPr>
        <p:txBody>
          <a:bodyPr lIns="91423" tIns="91423" rIns="91423" bIns="91423">
            <a:normAutofit/>
          </a:bodyPr>
          <a:lstStyle>
            <a:lvl1pPr>
              <a:defRPr b="1">
                <a:solidFill>
                  <a:srgbClr val="FFFFFF"/>
                </a:solidFill>
                <a:latin typeface="KoPub돋움체 Light"/>
                <a:ea typeface="KoPub돋움체 Light"/>
                <a:cs typeface="KoPub돋움체 Light"/>
                <a:sym typeface="KoPub돋움체 Light"/>
              </a:defRPr>
            </a:lvl1pPr>
          </a:lstStyle>
          <a:p>
            <a:pPr>
              <a:defRPr/>
            </a:pPr>
            <a:fld id="{86CB4B4D-7CA3-9044-876B-883B54F8677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97" name="Google Shape;68;p15"/>
          <p:cNvSpPr/>
          <p:nvPr/>
        </p:nvSpPr>
        <p:spPr>
          <a:xfrm>
            <a:off x="149866" y="0"/>
            <a:ext cx="8844268" cy="295272"/>
          </a:xfrm>
          <a:prstGeom prst="rect">
            <a:avLst/>
          </a:prstGeom>
          <a:solidFill>
            <a:srgbClr val="779014"/>
          </a:solidFill>
          <a:ln w="12700">
            <a:miter/>
          </a:ln>
        </p:spPr>
        <p:txBody>
          <a:bodyPr lIns="45719" rIns="45719"/>
          <a:lstStyle/>
          <a:p>
            <a:pPr defTabSz="685800">
              <a:lnSpc>
                <a:spcPct val="90000"/>
              </a:lnSpc>
              <a:defRPr sz="1600" b="1">
                <a:solidFill>
                  <a:srgbClr val="FFFFFF"/>
                </a:solidFill>
                <a:latin typeface="KoPub돋움체 Light"/>
                <a:ea typeface="KoPub돋움체 Light"/>
                <a:cs typeface="+mn-cs"/>
              </a:defRPr>
            </a:pPr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slideLayout" Target="../slideLayouts/slideLayout13.xml"  /><Relationship Id="rId14" Type="http://schemas.openxmlformats.org/officeDocument/2006/relationships/slideLayout" Target="../slideLayouts/slideLayout14.xml"  /><Relationship Id="rId15" Type="http://schemas.openxmlformats.org/officeDocument/2006/relationships/slideLayout" Target="../slideLayouts/slideLayout15.xml"  /><Relationship Id="rId16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기본"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182881"/>
            <a:ext cx="8793480" cy="478345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457200"/>
            <a:ext cx="7406640" cy="101727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1543050"/>
            <a:ext cx="7404653" cy="302895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4667871"/>
            <a:ext cx="1746806" cy="27384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900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fld id="{A5FFAB59-05A6-41B5-A2D4-5F61552A237A}" type="datetime1">
              <a:rPr lang="en-US"/>
              <a:pPr lvl="0">
                <a:defRPr/>
              </a:pPr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4667871"/>
            <a:ext cx="3538331" cy="27384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900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4667871"/>
            <a:ext cx="1279663" cy="27384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lang="ko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6" r:id="rId1"/>
    <p:sldLayoutId id="2147484127" r:id="rId2"/>
    <p:sldLayoutId id="2147484128" r:id="rId3"/>
    <p:sldLayoutId id="2147484129" r:id="rId4"/>
    <p:sldLayoutId id="2147484130" r:id="rId5"/>
    <p:sldLayoutId id="2147484131" r:id="rId6"/>
    <p:sldLayoutId id="2147484132" r:id="rId7"/>
    <p:sldLayoutId id="2147484133" r:id="rId8"/>
    <p:sldLayoutId id="2147484134" r:id="rId9"/>
    <p:sldLayoutId id="2147484135" r:id="rId10"/>
    <p:sldLayoutId id="2147484136" r:id="rId11"/>
    <p:sldLayoutId id="2147484137" r:id="rId12"/>
    <p:sldLayoutId id="2147484138" r:id="rId13"/>
    <p:sldLayoutId id="2147484139" r:id="rId14"/>
    <p:sldLayoutId id="2147484140" r:id="rId15"/>
  </p:sldLayoutIdLst>
  <p:transition/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1" hangingPunct="1">
        <a:lnSpc>
          <a:spcPct val="90000"/>
        </a:lnSpc>
        <a:spcBef>
          <a:spcPts val="1050"/>
        </a:spcBef>
        <a:buClr>
          <a:schemeClr val="accent1"/>
        </a:buClr>
        <a:buSzPct val="80000"/>
        <a:buFont typeface="Corbel"/>
        <a:buChar char="•"/>
        <a:defRPr sz="165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1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/>
        <a:buChar char="•"/>
        <a:defRPr sz="15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1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1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1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1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1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1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1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Relationship Id="rId2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Relationship Id="rId2" Type="http://schemas.openxmlformats.org/officeDocument/2006/relationships/notesSlide" Target="../notesSlides/notesSlide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Relationship Id="rId2" Type="http://schemas.openxmlformats.org/officeDocument/2006/relationships/notesSlide" Target="../notesSlides/notesSlide5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Relationship Id="rId2" Type="http://schemas.openxmlformats.org/officeDocument/2006/relationships/notesSlide" Target="../notesSlides/notesSlide6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Relationship Id="rId2" Type="http://schemas.openxmlformats.org/officeDocument/2006/relationships/notesSlide" Target="../notesSlides/notesSlide7.xml"  /><Relationship Id="rId3" Type="http://schemas.openxmlformats.org/officeDocument/2006/relationships/image" Target="../media/image3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4.jpe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Relationship Id="rId2" Type="http://schemas.openxmlformats.org/officeDocument/2006/relationships/notesSlide" Target="../notesSlides/notesSlide9.xml"  /><Relationship Id="rId3" Type="http://schemas.openxmlformats.org/officeDocument/2006/relationships/image" Target="../media/image5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Relationship Id="rId2" Type="http://schemas.openxmlformats.org/officeDocument/2006/relationships/notesSlide" Target="../notesSlides/notesSlide10.xml"  /><Relationship Id="rId3" Type="http://schemas.openxmlformats.org/officeDocument/2006/relationships/image" Target="../media/image6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Relationship Id="rId2" Type="http://schemas.openxmlformats.org/officeDocument/2006/relationships/notesSlide" Target="../notesSlides/notesSlide11.xml"  /><Relationship Id="rId3" Type="http://schemas.openxmlformats.org/officeDocument/2006/relationships/image" Target="../media/image7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Relationship Id="rId2" Type="http://schemas.openxmlformats.org/officeDocument/2006/relationships/notesSlide" Target="../notesSlides/notesSlide12.xml"  /><Relationship Id="rId3" Type="http://schemas.openxmlformats.org/officeDocument/2006/relationships/image" Target="../media/image8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Relationship Id="rId2" Type="http://schemas.openxmlformats.org/officeDocument/2006/relationships/notesSlide" Target="../notesSlides/notesSlide13.xml"  /><Relationship Id="rId3" Type="http://schemas.openxmlformats.org/officeDocument/2006/relationships/image" Target="../media/image9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10.png"  /><Relationship Id="rId4" Type="http://schemas.openxmlformats.org/officeDocument/2006/relationships/image" Target="../media/image11.png"  /><Relationship Id="rId5" Type="http://schemas.openxmlformats.org/officeDocument/2006/relationships/image" Target="../media/image12.png"  /><Relationship Id="rId6" Type="http://schemas.openxmlformats.org/officeDocument/2006/relationships/image" Target="../media/image13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Relationship Id="rId2" Type="http://schemas.openxmlformats.org/officeDocument/2006/relationships/image" Target="../media/image14.png"  /><Relationship Id="rId3" Type="http://schemas.openxmlformats.org/officeDocument/2006/relationships/image" Target="../media/image15.png"  /><Relationship Id="rId4" Type="http://schemas.openxmlformats.org/officeDocument/2006/relationships/image" Target="../media/image16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Relationship Id="rId2" Type="http://schemas.openxmlformats.org/officeDocument/2006/relationships/image" Target="../media/image17.png"  /><Relationship Id="rId3" Type="http://schemas.openxmlformats.org/officeDocument/2006/relationships/image" Target="../media/image18.png"  /><Relationship Id="rId4" Type="http://schemas.openxmlformats.org/officeDocument/2006/relationships/image" Target="../media/image19.png"  /><Relationship Id="rId5" Type="http://schemas.openxmlformats.org/officeDocument/2006/relationships/image" Target="../media/image20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15.xml"  /><Relationship Id="rId3" Type="http://schemas.openxmlformats.org/officeDocument/2006/relationships/image" Target="../media/image21.png"  /><Relationship Id="rId4" Type="http://schemas.openxmlformats.org/officeDocument/2006/relationships/image" Target="../media/image22.png"  /><Relationship Id="rId5" Type="http://schemas.openxmlformats.org/officeDocument/2006/relationships/image" Target="../media/image23.png"  /><Relationship Id="rId6" Type="http://schemas.openxmlformats.org/officeDocument/2006/relationships/image" Target="../media/image24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6.xml"  /><Relationship Id="rId2" Type="http://schemas.openxmlformats.org/officeDocument/2006/relationships/slideLayout" Target="../slideLayouts/slideLayout15.xml"  /><Relationship Id="rId3" Type="http://schemas.openxmlformats.org/officeDocument/2006/relationships/image" Target="../media/image25.png"  /><Relationship Id="rId4" Type="http://schemas.openxmlformats.org/officeDocument/2006/relationships/image" Target="../media/image26.png"  /><Relationship Id="rId5" Type="http://schemas.openxmlformats.org/officeDocument/2006/relationships/image" Target="../media/image27.png"  /><Relationship Id="rId6" Type="http://schemas.openxmlformats.org/officeDocument/2006/relationships/image" Target="../media/image28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7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29.png"  /><Relationship Id="rId4" Type="http://schemas.openxmlformats.org/officeDocument/2006/relationships/image" Target="../media/image30.png"  /><Relationship Id="rId5" Type="http://schemas.openxmlformats.org/officeDocument/2006/relationships/image" Target="../media/image31.png"  /><Relationship Id="rId6" Type="http://schemas.openxmlformats.org/officeDocument/2006/relationships/image" Target="../media/image32.png"  /><Relationship Id="rId7" Type="http://schemas.openxmlformats.org/officeDocument/2006/relationships/image" Target="../media/image33.png"  /><Relationship Id="rId8" Type="http://schemas.openxmlformats.org/officeDocument/2006/relationships/image" Target="../media/image34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8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35.png"  /><Relationship Id="rId4" Type="http://schemas.openxmlformats.org/officeDocument/2006/relationships/image" Target="../media/image36.png"  /><Relationship Id="rId5" Type="http://schemas.openxmlformats.org/officeDocument/2006/relationships/image" Target="../media/image37.png"  /><Relationship Id="rId6" Type="http://schemas.openxmlformats.org/officeDocument/2006/relationships/image" Target="../media/image38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9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39.png"  /><Relationship Id="rId4" Type="http://schemas.openxmlformats.org/officeDocument/2006/relationships/image" Target="../media/image40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0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41.png"  /><Relationship Id="rId4" Type="http://schemas.openxmlformats.org/officeDocument/2006/relationships/image" Target="../media/image42.png"  /><Relationship Id="rId5" Type="http://schemas.openxmlformats.org/officeDocument/2006/relationships/image" Target="../media/image43.png"  /><Relationship Id="rId6" Type="http://schemas.openxmlformats.org/officeDocument/2006/relationships/image" Target="../media/image44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1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45.png"  /><Relationship Id="rId4" Type="http://schemas.openxmlformats.org/officeDocument/2006/relationships/image" Target="../media/image46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2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47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3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48.png"  /><Relationship Id="rId4" Type="http://schemas.openxmlformats.org/officeDocument/2006/relationships/image" Target="../media/image49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4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50.png"  /><Relationship Id="rId4" Type="http://schemas.openxmlformats.org/officeDocument/2006/relationships/image" Target="../media/image51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5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52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6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53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7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54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8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55.png"  /><Relationship Id="rId4" Type="http://schemas.openxmlformats.org/officeDocument/2006/relationships/image" Target="../media/image56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9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57.png"  /><Relationship Id="rId4" Type="http://schemas.openxmlformats.org/officeDocument/2006/relationships/image" Target="../media/image58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0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59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1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60.png"  /><Relationship Id="rId4" Type="http://schemas.openxmlformats.org/officeDocument/2006/relationships/image" Target="../media/image61.pn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2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62.png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3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63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4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64.png"  /><Relationship Id="rId4" Type="http://schemas.openxmlformats.org/officeDocument/2006/relationships/image" Target="../media/image65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5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66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6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67.png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7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68.png"  /><Relationship Id="rId4" Type="http://schemas.openxmlformats.org/officeDocument/2006/relationships/image" Target="../media/image69.png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8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70.png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9.xml"  /><Relationship Id="rId2" Type="http://schemas.openxmlformats.org/officeDocument/2006/relationships/slideLayout" Target="../slideLayouts/slideLayout12.xml"  /><Relationship Id="rId3" Type="http://schemas.openxmlformats.org/officeDocument/2006/relationships/image" Target="../media/image71.png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0.xml"  /><Relationship Id="rId2" Type="http://schemas.openxmlformats.org/officeDocument/2006/relationships/slideLayout" Target="../slideLayouts/slideLayout12.xml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1.xml"  /><Relationship Id="rId2" Type="http://schemas.openxmlformats.org/officeDocument/2006/relationships/slideLayout" Target="../slideLayouts/slideLayout12.xml"  /></Relationships>
</file>

<file path=ppt/slides/_rels/slide4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2.xml"  /><Relationship Id="rId2" Type="http://schemas.openxmlformats.org/officeDocument/2006/relationships/slideLayout" Target="../slideLayouts/slideLayout12.xml"  /></Relationships>
</file>

<file path=ppt/slides/_rels/slide4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3.xml"  /><Relationship Id="rId2" Type="http://schemas.openxmlformats.org/officeDocument/2006/relationships/slideLayout" Target="../slideLayouts/slideLayout12.xml"  /></Relationships>
</file>

<file path=ppt/slides/_rels/slide4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4.xml"  /><Relationship Id="rId2" Type="http://schemas.openxmlformats.org/officeDocument/2006/relationships/slideLayout" Target="../slideLayouts/slideLayout12.xml"  /></Relationships>
</file>

<file path=ppt/slides/_rels/slide4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5.xml"  /><Relationship Id="rId2" Type="http://schemas.openxmlformats.org/officeDocument/2006/relationships/slideLayout" Target="../slideLayouts/slideLayout12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>
                <a:latin typeface="KoPub돋움체 Light"/>
                <a:ea typeface="KoPub돋움체 Light"/>
                <a:cs typeface="+mn-cs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</a:t>
            </a:fld>
            <a:endParaRPr lang="en-US" altLang="ko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170155" y="181252"/>
            <a:ext cx="8803690" cy="4780995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6" name="Google Shape;162;p28"/>
          <p:cNvSpPr txBox="1">
            <a:spLocks noGrp="1"/>
          </p:cNvSpPr>
          <p:nvPr/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vert="horz" wrap="square" lIns="91424" tIns="91424" rIns="91424" bIns="91424" anchor="t" anchorCtr="0">
            <a:normAutofit/>
          </a:bodyPr>
          <a:lstStyle/>
          <a:p>
            <a:pPr marL="0" lvl="0" indent="0" algn="ctr" defTabSz="685800" rtl="0" eaLnBrk="1" latinLnBrk="1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kumimoji="0" lang="ko" sz="4800" b="1" i="0" u="none" strike="noStrike" kern="1200" cap="all" spc="0" normalizeH="0" baseline="0">
              <a:solidFill>
                <a:schemeClr val="tx1"/>
              </a:solidFill>
              <a:latin typeface="KoPub돋움체 Medium"/>
              <a:ea typeface="KoPub돋움체 Medium"/>
            </a:endParaRPr>
          </a:p>
          <a:p>
            <a:pPr marL="0" lvl="0" indent="0" algn="ctr" defTabSz="685800" rtl="0" eaLnBrk="1" latinLnBrk="1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4800" b="1" i="0" u="none" strike="noStrike" kern="1200" cap="all" spc="0" normalizeH="0" baseline="0">
                <a:solidFill>
                  <a:schemeClr val="tx1"/>
                </a:solidFill>
                <a:latin typeface="KoPub돋움체 Medium"/>
                <a:ea typeface="KoPub돋움체 Medium"/>
              </a:rPr>
              <a:t>부록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>
                <a:latin typeface="KoPub돋움체 Medium"/>
                <a:ea typeface="KoPub돋움체 Medium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2</a:t>
            </a:fld>
            <a:endParaRPr lang="en-US" altLang="ko">
              <a:latin typeface="KoPub돋움체 Medium"/>
              <a:ea typeface="KoPub돋움체 Medium"/>
            </a:endParaRPr>
          </a:p>
        </p:txBody>
      </p:sp>
      <p:graphicFrame>
        <p:nvGraphicFramePr>
          <p:cNvPr id="110" name="표 109"/>
          <p:cNvGraphicFramePr/>
          <p:nvPr/>
        </p:nvGraphicFramePr>
        <p:xfrm>
          <a:off x="370874" y="444808"/>
          <a:ext cx="8402251" cy="2503667"/>
        </p:xfrm>
        <a:graphic>
          <a:graphicData uri="http://schemas.openxmlformats.org/drawingml/2006/table">
            <a:tbl>
              <a:tblPr firstRow="1" bandRow="1"/>
              <a:tblGrid>
                <a:gridCol w="6575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0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1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90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627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요구사항명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요구사항 ID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요구사항 상세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담당자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54">
                <a:tc rowSpan="7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 기능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계정 생성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USER_01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</a:rPr>
                        <a:t>➡️</a:t>
                      </a: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사용자의 정보를 등록해서 회원가입</a:t>
                      </a:r>
                    </a:p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- 이름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계정 이름 (아이디)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비밀번호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성별, 생년월일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신장, 체중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이메일, 전화번호 (선택사항)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107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 algn="ctr">
                      <a:noFill/>
                      <a:prstDash val="solid"/>
                      <a:round/>
                    </a:lnT>
                    <a:lnB w="9525" cap="flat" cmpd="sng" algn="ctr">
                      <a:noFill/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USER_02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</a:rPr>
                        <a:t>➡️</a:t>
                      </a: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회원가입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후 로그인</a:t>
                      </a:r>
                    </a:p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- 아이디: ID</a:t>
                      </a:r>
                    </a:p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- 패스워드 : password</a:t>
                      </a:r>
                    </a:p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토큰 발급 (Spring Security 사용)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594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 algn="ctr">
                      <a:noFill/>
                      <a:prstDash val="solid"/>
                      <a:round/>
                    </a:lnT>
                    <a:lnB w="9525" cap="flat" cmpd="sng" algn="ctr">
                      <a:noFill/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 로그아웃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USER_03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</a:rPr>
                        <a:t>➡️</a:t>
                      </a: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회원 로그아웃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토큰 삭제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594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 algn="ctr">
                      <a:noFill/>
                      <a:prstDash val="solid"/>
                      <a:round/>
                    </a:lnT>
                    <a:lnB w="9525" cap="flat" cmpd="sng" algn="ctr">
                      <a:noFill/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 정보 조회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USER_04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</a:rPr>
                        <a:t>➡️</a:t>
                      </a: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사용자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(</a:t>
                      </a: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)</a:t>
                      </a: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정보를 조회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747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 algn="ctr">
                      <a:noFill/>
                      <a:prstDash val="solid"/>
                      <a:round/>
                    </a:lnT>
                    <a:lnB w="9525" cap="flat" cmpd="sng" algn="ctr">
                      <a:noFill/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 정보 수정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USER_05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</a:rPr>
                        <a:t>➡️</a:t>
                      </a:r>
                      <a:r>
                        <a:rPr 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사용자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(</a:t>
                      </a:r>
                      <a:r>
                        <a:rPr 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)</a:t>
                      </a:r>
                      <a:r>
                        <a:rPr 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정보를 수정</a:t>
                      </a:r>
                    </a:p>
                    <a:p>
                      <a:pPr algn="l">
                        <a:defRPr/>
                      </a:pPr>
                      <a:r>
                        <a:rPr 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   - 아이디를 제외한 나머지 정보 수정 가능</a:t>
                      </a:r>
                    </a:p>
                    <a:p>
                      <a:pPr algn="l">
                        <a:defRPr/>
                      </a:pPr>
                      <a:r>
                        <a:rPr 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   - 비밀번호: 기존 비밀번호, 새 비밀번호, 새 비밀번호 확인 입력 후 기존 비밀번호가 맞으면 변경 가능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594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 algn="ctr">
                      <a:noFill/>
                      <a:prstDash val="solid"/>
                      <a:round/>
                    </a:lnT>
                    <a:lnB w="9525" cap="flat" cmpd="sng" algn="ctr">
                      <a:noFill/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 탈퇴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USER_06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회원탈퇴 버튼을 누르면 탈퇴 처리.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 정보는 이용자의 요청이 없을 시 1년 간 보존.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594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 algn="ctr">
                      <a:noFill/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문의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USER_0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관리자에게 이메일로 문의하고 답장을 받을 수 있다.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 정보에 이메일을 등록한 회원만 문의 가능.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1" name="Google Shape;68;p15"/>
          <p:cNvSpPr txBox="1">
            <a:spLocks noGrp="1"/>
          </p:cNvSpPr>
          <p:nvPr>
            <p:ph type="title" idx="4294967295"/>
          </p:nvPr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/>
          </a:solidFill>
        </p:spPr>
        <p:txBody>
          <a:bodyPr vert="horz" wrap="square" lIns="91424" tIns="91424" rIns="91424" bIns="91424" anchor="t" anchorCtr="0">
            <a:noAutofit/>
          </a:bodyPr>
          <a:lstStyle/>
          <a:p>
            <a:pPr marL="68580" lvl="0" indent="0" algn="l" rtl="0"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lang="en-US" altLang="ko-KR" sz="1600" b="1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1.</a:t>
            </a:r>
            <a:r>
              <a:rPr lang="ko-KR" altLang="en-US" sz="1600" b="1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 기능 정의서 </a:t>
            </a:r>
            <a:r>
              <a:rPr lang="en-US" altLang="ko-KR" sz="1200" b="1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(1/3)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3</a:t>
            </a:fld>
            <a:endParaRPr lang="en-US" altLang="ko"/>
          </a:p>
        </p:txBody>
      </p:sp>
      <p:graphicFrame>
        <p:nvGraphicFramePr>
          <p:cNvPr id="8" name="표 7"/>
          <p:cNvGraphicFramePr/>
          <p:nvPr/>
        </p:nvGraphicFramePr>
        <p:xfrm>
          <a:off x="370874" y="443616"/>
          <a:ext cx="8400685" cy="4121012"/>
        </p:xfrm>
        <a:graphic>
          <a:graphicData uri="http://schemas.openxmlformats.org/drawingml/2006/table">
            <a:tbl>
              <a:tblPr firstRow="1" bandRow="1"/>
              <a:tblGrid>
                <a:gridCol w="6575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8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0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90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627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요구사항명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요구사항 ID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요구사항 상세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담당자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rowSpan="10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웹 페이지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음식 사진 업로드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MENU_01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사용자가 음식 사진을 업로드하여 분석에 활용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김유진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 algn="ctr">
                      <a:noFill/>
                      <a:prstDash val="solid"/>
                      <a:round/>
                    </a:lnT>
                    <a:lnB w="9525" cap="flat" cmpd="sng" algn="ctr">
                      <a:noFill/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식단 기록 관리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MENU_02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아침·점심·저녁·간식별 섭취 음식 기록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 algn="ctr">
                      <a:noFill/>
                      <a:prstDash val="solid"/>
                      <a:round/>
                    </a:lnT>
                    <a:lnB w="9525" cap="flat" cmpd="sng" algn="ctr">
                      <a:noFill/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음식 이미지 인식 (CNN)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MENU_03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업로드한 사진을 분석해 음식 종류 분류 및 섭취량 추정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김유진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 algn="ctr">
                      <a:noFill/>
                      <a:prstDash val="solid"/>
                      <a:round/>
                    </a:lnT>
                    <a:lnB w="9525" cap="flat" cmpd="sng" algn="ctr">
                      <a:noFill/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영양 성분 매칭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MENU_04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분류된 음식과 USDA Food Data API를 연동하여 칼로리, 탄단지, 영양소 계산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강성대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 algn="ctr">
                      <a:noFill/>
                      <a:prstDash val="solid"/>
                      <a:round/>
                    </a:lnT>
                    <a:lnB w="9525" cap="flat" cmpd="sng" algn="ctr">
                      <a:noFill/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섭취량 분석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MENU_05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하루 총 섭취 칼로리 및 영양소 합산 후 권장량과 비교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강성대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 algn="ctr">
                      <a:noFill/>
                      <a:prstDash val="solid"/>
                      <a:round/>
                    </a:lnT>
                    <a:lnB w="9525" cap="flat" cmpd="sng" algn="ctr">
                      <a:noFill/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맞춤 피드백 (LLM)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MENU_06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“권장량 초과/부족” 분석 후 개선 제안 및 다음날 식단 추천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김도윤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 algn="ctr">
                      <a:noFill/>
                      <a:prstDash val="solid"/>
                      <a:round/>
                    </a:lnT>
                    <a:lnB w="9525" cap="flat" cmpd="sng" algn="ctr">
                      <a:noFill/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사용자 정보 입력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MENU_07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성별, 나이, 키, 몸무게, 활동량 입력을 통한 개인화 권장량 계산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강성대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 algn="ctr">
                      <a:noFill/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데이터 저장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MENU_08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DB에 사용자별 섭취 기록 및 분석 결과 저장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그래프 시각화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MENU_09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일별/주별 칼로리, 영양소 섭취량 및 목표 달성률 시각화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김도윤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사용자 감정분석 음식추천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MENU_09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사용자가 텍스트를 적으면 감정분석 후 음식추천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이동훈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3360">
                <a:tc rowSpan="4"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감정 음식 추천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감정 분류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RECOM_01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KoBERT 기반 감정 분류 모델 로딩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입력 텍스트 토크나이징 및 감정 확률 예측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이동훈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보정 로직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RECOM_02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추천 식단 구감정 키워드 및 부정어 탐지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예측된 감정 확률을 증감하여 보정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이동훈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RAG 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문서 탐색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RECOM_03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도출된 감정과 유사도 기반 벡터DB 검색을 통해 관련 문서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탐색</a:t>
                      </a: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이동훈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265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추천 생성 (LLM 연동)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RECOM_0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RAG 기반 문맥을 포함한 프롬프트 생성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Gemini API 호출로 음식 추천 리스트 생성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이동훈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3360">
                <a:tc rowSpan="4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AI 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예측</a:t>
                      </a:r>
                    </a:p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모델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학습용 데이터셋 구축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PRED_01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학습에 필요한 기초 자료 구축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강성대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pPr algn="l">
                        <a:defRPr/>
                      </a:pPr>
                      <a:endParaRPr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DB 연동 구축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PRED_02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학습 결과와 데이터베이스의 데이터와 비교 분석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강성대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pPr algn="l">
                        <a:defRPr/>
                      </a:pPr>
                      <a:endParaRPr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학습 모델 구현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PRED_03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학습한 데이터를 바탕으로 예측 모델 구현. 추천 식단 구성.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강성대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pPr algn="l">
                        <a:defRPr/>
                      </a:pPr>
                      <a:endParaRPr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예측 결과 시각화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PRED_04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예측 결과를 그래프나 표로 정리하여 사용자에게 표시.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강성대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108" name="Google Shape;68;p15"/>
          <p:cNvSpPr txBox="1">
            <a:spLocks noGrp="1"/>
          </p:cNvSpPr>
          <p:nvPr>
            <p:ph type="title" idx="4294967295"/>
          </p:nvPr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/>
          </a:solidFill>
        </p:spPr>
        <p:txBody>
          <a:bodyPr vert="horz" wrap="square" lIns="91424" tIns="91424" rIns="91424" bIns="91424" anchor="t" anchorCtr="0">
            <a:noAutofit/>
          </a:bodyPr>
          <a:lstStyle/>
          <a:p>
            <a:pPr marL="68580" lvl="0" indent="0" algn="l" rtl="0"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lang="en-US" altLang="ko-KR" sz="1600" b="1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1.</a:t>
            </a:r>
            <a:r>
              <a:rPr lang="ko-KR" altLang="en-US" sz="1600" b="1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 기능 정의서 </a:t>
            </a:r>
            <a:r>
              <a:rPr lang="en-US" altLang="ko-KR" sz="1200" b="1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(2/3)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>
                <a:latin typeface="KoPub돋움체 Medium"/>
                <a:ea typeface="KoPub돋움체 Medium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4</a:t>
            </a:fld>
            <a:endParaRPr lang="en-US" altLang="ko">
              <a:latin typeface="KoPub돋움체 Medium"/>
              <a:ea typeface="KoPub돋움체 Medium"/>
            </a:endParaRPr>
          </a:p>
        </p:txBody>
      </p:sp>
      <p:graphicFrame>
        <p:nvGraphicFramePr>
          <p:cNvPr id="110" name="표 109"/>
          <p:cNvGraphicFramePr/>
          <p:nvPr/>
        </p:nvGraphicFramePr>
        <p:xfrm>
          <a:off x="370874" y="444807"/>
          <a:ext cx="8402251" cy="3174227"/>
        </p:xfrm>
        <a:graphic>
          <a:graphicData uri="http://schemas.openxmlformats.org/drawingml/2006/table">
            <a:tbl>
              <a:tblPr firstRow="1" bandRow="1"/>
              <a:tblGrid>
                <a:gridCol w="6575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82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5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70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90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627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요구사항명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요구사항 ID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요구사항 상세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담당자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음식기능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음식사진 등록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FOOD_01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</a:rPr>
                        <a:t>➡️</a:t>
                      </a: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사용자가 먹은 음식사진을 찍어 등록- 업로드된 사진을 서버에 저장.- 업로드 성공/실패 여부를 사용자에게 알림.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김유진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799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525" cap="flat" cmpd="sng" algn="ctr">
                      <a:noFill/>
                      <a:prstDash val="solid"/>
                      <a:round/>
                    </a:lnT>
                    <a:lnB w="9525" cap="flat" cmpd="sng" algn="ctr">
                      <a:noFill/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사진 분석 준비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FOOD_02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</a:rPr>
                        <a:t>➡️</a:t>
                      </a: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업로드된 사진을 자동으로 이미지 전처리 모듈에 전달- 이미지 크기, 해상도, 포맷 등을 분석 가능한 형태로 변환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김유진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594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525" cap="flat" cmpd="sng" algn="ctr">
                      <a:noFill/>
                      <a:prstDash val="solid"/>
                      <a:round/>
                    </a:lnT>
                    <a:lnB w="9525" cap="flat" cmpd="sng" algn="ctr">
                      <a:noFill/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음식 종류 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FOOD_03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</a:rPr>
                        <a:t>➡️</a:t>
                      </a: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전처리된 이미지를 분석하여 음식 종류를 분류- 분류된 음식 종류는 사용자에게 표시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김유진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594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525" cap="flat" cmpd="sng" algn="ctr">
                      <a:noFill/>
                      <a:prstDash val="solid"/>
                      <a:round/>
                    </a:lnT>
                    <a:lnB w="9525" cap="flat" cmpd="sng" algn="ctr">
                      <a:noFill/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섭취량 추정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FOOD_04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</a:rPr>
                        <a:t>➡️</a:t>
                      </a: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업로드된 사진을 기반으로 음식 섭취량을 추정- 섭취량 추정 결과는 음식 종류와 함께 사용자에게 제공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김유진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525" cap="flat" cmpd="sng" algn="ctr">
                      <a:noFill/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분석 결과 제공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FOOD_05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</a:rPr>
                        <a:t>➡️</a:t>
                      </a: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음식 종류와 섭취량 추정 결과를 사용자에게 시각적으로 제공- 분석 결과를 추후 활용(예: 권장량 비교, 식단 추천)할 수 있도록 내부에 저장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김유진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594">
                <a:tc rowSpan="5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맞춤 피드백 (LLM)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맞춤 피드백 준비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BACK_01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DB에서 사용자 프로필, 목표(권장량), 당일 섭취 합계를 조회하고 권장 대비 초과/부족 수치를 계산한다.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김도윤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594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 algn="ctr">
                      <a:noFill/>
                      <a:prstDash val="solid"/>
                      <a:round/>
                    </a:lnT>
                    <a:lnB w="9525" cap="flat" cmpd="sng" algn="ctr">
                      <a:noFill/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프롬프트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BACK_02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계산된 데이터(프로필, 권장량, 섭취량, 편차)를 LLM 입력 형식(JSON/프롬프트)으로 변환한다.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김도윤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594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LLM 호출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BACK_03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외부 LLM API를 호출하여 맞춤 피드백과 다음날 식단 추천 응답을 받는다.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김도윤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594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5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응답 검증 및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BACK_04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LLM 응답을 JSON 스키마에 맞게 검증하고, 이상이 없으면 DB(feedback_daily)에 저장한다.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김도윤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594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5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결과 제공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BACK_05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저장된 피드백을 사용자 화면(UI)에 제공하며, 요약 메시지·추천 식단을 표시한다.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김도윤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594">
                <a:tc rowSpan="3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데이터</a:t>
                      </a:r>
                    </a:p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베이스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테이터베이스 구축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DB_01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사용자 정보, 음식 정보, 영양소 정보, 식단 기록, 사용자별 추천 결과 정보를 데이터로 저장. DB  구축.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3594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5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데이터베이스 읽기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DB_02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각 기능별 데이터베이스 호출 시 해당 데이터를 인출한다.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3594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5" cap="flat" cmpd="sng" algn="ctr">
                      <a:noFill/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데이터베이스 수정/삭제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DB_03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데이터가 수정/삭제될 때 해당 변경사항을 DB에 반영.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</a:p>
                  </a:txBody>
                  <a:tcPr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11" name="Google Shape;68;p15"/>
          <p:cNvSpPr txBox="1">
            <a:spLocks noGrp="1"/>
          </p:cNvSpPr>
          <p:nvPr>
            <p:ph type="title" idx="4294967295"/>
          </p:nvPr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/>
          </a:solidFill>
        </p:spPr>
        <p:txBody>
          <a:bodyPr vert="horz" wrap="square" lIns="91424" tIns="91424" rIns="91424" bIns="91424" anchor="t" anchorCtr="0">
            <a:noAutofit/>
          </a:bodyPr>
          <a:lstStyle/>
          <a:p>
            <a:pPr marL="68580" lvl="0" indent="0" algn="l" rtl="0"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lang="en-US" altLang="ko-KR" sz="1600" b="1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1.</a:t>
            </a:r>
            <a:r>
              <a:rPr lang="ko-KR" altLang="en-US" sz="1600" b="1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 기능 정의서 </a:t>
            </a:r>
            <a:r>
              <a:rPr lang="en-US" altLang="ko-KR" sz="1200" b="1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(3/3)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>
                <a:latin typeface="KoPub돋움체 Medium"/>
                <a:ea typeface="KoPub돋움체 Medium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5</a:t>
            </a:fld>
            <a:endParaRPr lang="en-US" altLang="ko">
              <a:latin typeface="KoPub돋움체 Medium"/>
              <a:ea typeface="KoPub돋움체 Medium"/>
            </a:endParaRPr>
          </a:p>
        </p:txBody>
      </p:sp>
      <p:graphicFrame>
        <p:nvGraphicFramePr>
          <p:cNvPr id="115" name="표 114"/>
          <p:cNvGraphicFramePr/>
          <p:nvPr/>
        </p:nvGraphicFramePr>
        <p:xfrm>
          <a:off x="501727" y="786968"/>
          <a:ext cx="8140542" cy="2959614"/>
        </p:xfrm>
        <a:graphic>
          <a:graphicData uri="http://schemas.openxmlformats.org/drawingml/2006/table">
            <a:tbl>
              <a:tblPr firstRow="1" bandRow="1"/>
              <a:tblGrid>
                <a:gridCol w="508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48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555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527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번호</a:t>
                      </a:r>
                    </a:p>
                  </a:txBody>
                  <a:tcPr anchor="ctr">
                    <a:lnL w="9921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R>
                    <a:lnT w="19843" cap="flat" cmpd="sng" algn="ctr">
                      <a:solidFill>
                        <a:srgbClr val="0086C9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정책명</a:t>
                      </a:r>
                    </a:p>
                  </a:txBody>
                  <a:tcPr anchor="ctr">
                    <a:lnL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R>
                    <a:lnT w="19843" cap="flat" cmpd="sng" algn="ctr">
                      <a:solidFill>
                        <a:srgbClr val="0086C9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세부 항목</a:t>
                      </a:r>
                    </a:p>
                  </a:txBody>
                  <a:tcPr anchor="ctr">
                    <a:lnL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R>
                    <a:lnT w="19843" cap="flat" cmpd="sng" algn="ctr">
                      <a:solidFill>
                        <a:srgbClr val="0086C9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소개</a:t>
                      </a:r>
                    </a:p>
                  </a:txBody>
                  <a:tcPr anchor="ctr">
                    <a:lnL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R>
                    <a:lnT w="19843" cap="flat" cmpd="sng" algn="ctr">
                      <a:solidFill>
                        <a:srgbClr val="0086C9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정책 정의</a:t>
                      </a:r>
                    </a:p>
                  </a:txBody>
                  <a:tcPr anchor="ctr">
                    <a:lnL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R>
                    <a:lnT w="19843" cap="flat" cmpd="sng" algn="ctr">
                      <a:solidFill>
                        <a:srgbClr val="0086C9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927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1</a:t>
                      </a:r>
                    </a:p>
                  </a:txBody>
                  <a:tcPr anchor="ctr">
                    <a:lnL w="9921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회원가입 정책</a:t>
                      </a:r>
                    </a:p>
                  </a:txBody>
                  <a:tcPr anchor="ctr">
                    <a:lnL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약관동의</a:t>
                      </a:r>
                    </a:p>
                  </a:txBody>
                  <a:tcPr anchor="ctr">
                    <a:lnL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개인정보 처리 방침 동의 여부</a:t>
                      </a:r>
                    </a:p>
                  </a:txBody>
                  <a:tcPr anchor="ctr">
                    <a:lnL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필수 동의</a:t>
                      </a:r>
                    </a:p>
                  </a:txBody>
                  <a:tcPr anchor="ctr">
                    <a:lnL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927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2</a:t>
                      </a:r>
                    </a:p>
                  </a:txBody>
                  <a:tcPr anchor="ctr">
                    <a:lnL w="9921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개인정보 정책</a:t>
                      </a:r>
                    </a:p>
                  </a:txBody>
                  <a:tcPr anchor="ctr">
                    <a:lnL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회원</a:t>
                      </a:r>
                      <a:r>
                        <a:rPr lang="ko-KR" altLang="en-US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 정보 저장</a:t>
                      </a:r>
                    </a:p>
                  </a:txBody>
                  <a:tcPr anchor="ctr">
                    <a:lnL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회원의 영양 섭취 정보</a:t>
                      </a: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,</a:t>
                      </a:r>
                      <a:r>
                        <a:rPr lang="ko-KR" altLang="en-US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 식단 정보 저장</a:t>
                      </a:r>
                    </a:p>
                  </a:txBody>
                  <a:tcPr anchor="ctr">
                    <a:lnL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동의는 선택사항이나</a:t>
                      </a: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,</a:t>
                      </a:r>
                      <a:r>
                        <a:rPr lang="ko-KR" altLang="en-US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 저장된 정보를 바탕으로 더 나은 서비스 제공 가능</a:t>
                      </a: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.</a:t>
                      </a:r>
                    </a:p>
                  </a:txBody>
                  <a:tcPr anchor="ctr">
                    <a:lnL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927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3</a:t>
                      </a:r>
                    </a:p>
                  </a:txBody>
                  <a:tcPr anchor="ctr">
                    <a:lnL w="9921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회원 정보</a:t>
                      </a: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,</a:t>
                      </a:r>
                      <a:r>
                        <a:rPr lang="ko-KR" altLang="en-US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 이용 내역 보호</a:t>
                      </a:r>
                    </a:p>
                  </a:txBody>
                  <a:tcPr anchor="ctr">
                    <a:lnL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회원 정보</a:t>
                      </a: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,</a:t>
                      </a:r>
                      <a:r>
                        <a:rPr lang="ko-KR" altLang="en-US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 이용자의 이용 내역 보호에 관한 정책</a:t>
                      </a:r>
                    </a:p>
                  </a:txBody>
                  <a:tcPr anchor="ctr">
                    <a:lnL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수집한 개인 정보는 내부 데이터베이스에만 저장</a:t>
                      </a: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,</a:t>
                      </a:r>
                      <a:r>
                        <a:rPr lang="ko-KR" altLang="en-US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 외부 반출 금지</a:t>
                      </a: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.</a:t>
                      </a:r>
                      <a:r>
                        <a:rPr lang="ko-KR" altLang="en-US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 단 통계 자료는 외부 인용 가능</a:t>
                      </a: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.</a:t>
                      </a:r>
                    </a:p>
                  </a:txBody>
                  <a:tcPr anchor="ctr">
                    <a:lnL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503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4</a:t>
                      </a:r>
                    </a:p>
                  </a:txBody>
                  <a:tcPr anchor="ctr">
                    <a:lnL w="9921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anchor="ctr">
                    <a:lnL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파기 정책</a:t>
                      </a:r>
                    </a:p>
                  </a:txBody>
                  <a:tcPr anchor="ctr">
                    <a:lnL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저장된 기록 파기에 관한 정책</a:t>
                      </a:r>
                    </a:p>
                  </a:txBody>
                  <a:tcPr anchor="ctr">
                    <a:lnL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이용자가 기록 파기를 원할 경우 </a:t>
                      </a: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30</a:t>
                      </a:r>
                      <a:r>
                        <a:rPr lang="ko-KR" altLang="en-US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일 이내 기록 파기</a:t>
                      </a: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.</a:t>
                      </a:r>
                      <a:r>
                        <a:rPr lang="ko-KR" altLang="en-US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 탈퇴 시 </a:t>
                      </a: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1</a:t>
                      </a:r>
                      <a:r>
                        <a:rPr lang="ko-KR" altLang="en-US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년 보존 기간 후 자동 파기</a:t>
                      </a: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.</a:t>
                      </a:r>
                    </a:p>
                  </a:txBody>
                  <a:tcPr anchor="ctr">
                    <a:lnL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785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5</a:t>
                      </a:r>
                    </a:p>
                  </a:txBody>
                  <a:tcPr anchor="ctr">
                    <a:lnL w="9921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데이터 수집 범위</a:t>
                      </a:r>
                    </a:p>
                  </a:txBody>
                  <a:tcPr anchor="ctr">
                    <a:lnL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 </a:t>
                      </a:r>
                      <a:r>
                        <a:rPr lang="ko-KR" altLang="en-US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저작권</a:t>
                      </a:r>
                    </a:p>
                  </a:txBody>
                  <a:tcPr anchor="ctr">
                    <a:lnL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학습에 사용되는 사진</a:t>
                      </a: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,</a:t>
                      </a:r>
                      <a:r>
                        <a:rPr lang="ko-KR" altLang="en-US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 데이터셋의 저작권에 관한 정책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 </a:t>
                      </a:r>
                    </a:p>
                  </a:txBody>
                  <a:tcPr anchor="ctr">
                    <a:lnL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 </a:t>
                      </a:r>
                      <a:r>
                        <a:rPr lang="ko-KR" altLang="en-US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공용 데이터를 사용</a:t>
                      </a: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.</a:t>
                      </a:r>
                      <a:r>
                        <a:rPr lang="ko-KR" altLang="en-US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 저작권이 있는 자료는 원칙적으로 사용하지 않음</a:t>
                      </a: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.</a:t>
                      </a:r>
                      <a:r>
                        <a:rPr lang="ko-KR" altLang="en-US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 단</a:t>
                      </a: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,</a:t>
                      </a:r>
                      <a:r>
                        <a:rPr lang="ko-KR" altLang="en-US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 저작권이 있어도 공공 목적으로 공개한 경우 출처 표기하고 사용 가능</a:t>
                      </a: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Medium"/>
                          <a:ea typeface="KoPub돋움체 Medium"/>
                        </a:rPr>
                        <a:t>.</a:t>
                      </a:r>
                    </a:p>
                  </a:txBody>
                  <a:tcPr anchor="ctr">
                    <a:lnL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333E5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6" name="Google Shape;68;p15"/>
          <p:cNvSpPr txBox="1">
            <a:spLocks noGrp="1"/>
          </p:cNvSpPr>
          <p:nvPr>
            <p:ph type="title" idx="4294967295"/>
          </p:nvPr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/>
          </a:solidFill>
        </p:spPr>
        <p:txBody>
          <a:bodyPr vert="horz" wrap="square" lIns="91424" tIns="91424" rIns="91424" bIns="91424" anchor="t" anchorCtr="0">
            <a:noAutofit/>
          </a:bodyPr>
          <a:lstStyle/>
          <a:p>
            <a:pPr marL="68580" lvl="0" indent="0" algn="l" rtl="0"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lang="en-US" altLang="ko-KR" sz="1600" b="1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2.</a:t>
            </a:r>
            <a:r>
              <a:rPr lang="ko-KR" altLang="en-US" sz="1600" b="1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 정책 정의서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>
                <a:latin typeface="KoPub돋움체 Medium"/>
                <a:ea typeface="KoPub돋움체 Medium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6</a:t>
            </a:fld>
            <a:endParaRPr lang="en-US" altLang="ko">
              <a:latin typeface="KoPub돋움체 Medium"/>
              <a:ea typeface="KoPub돋움체 Medium"/>
            </a:endParaRPr>
          </a:p>
        </p:txBody>
      </p:sp>
      <p:sp>
        <p:nvSpPr>
          <p:cNvPr id="111" name="Google Shape;68;p15"/>
          <p:cNvSpPr txBox="1">
            <a:spLocks noGrp="1"/>
          </p:cNvSpPr>
          <p:nvPr>
            <p:ph type="title" idx="4294967295"/>
          </p:nvPr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/>
          </a:solidFill>
        </p:spPr>
        <p:txBody>
          <a:bodyPr vert="horz" wrap="square" lIns="91424" tIns="91424" rIns="91424" bIns="91424" anchor="t" anchorCtr="0">
            <a:noAutofit/>
          </a:bodyPr>
          <a:lstStyle/>
          <a:p>
            <a:pPr marL="68580" lvl="0" indent="0" algn="l" rtl="0"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lang="en-US" altLang="ko-KR" sz="1600" b="1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3.</a:t>
            </a:r>
            <a:r>
              <a:rPr lang="ko-KR" altLang="en-US" sz="1600" b="1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 프로젝트 구조도 </a:t>
            </a:r>
            <a:r>
              <a:rPr lang="en-US" altLang="ko-KR" sz="1600" b="1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(</a:t>
            </a:r>
            <a:r>
              <a:rPr lang="ko-KR" altLang="en-US" sz="1600" b="1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상세</a:t>
            </a:r>
            <a:r>
              <a:rPr lang="en-US" altLang="ko-KR" sz="1600" b="1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)</a:t>
            </a:r>
            <a:endParaRPr lang="ko-KR" altLang="en-US" sz="1600" b="1" dirty="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1762860" y="853621"/>
            <a:ext cx="509248" cy="272103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200" b="1">
                <a:latin typeface="KoPub돋움체 Light"/>
                <a:ea typeface="KoPub돋움체 Light"/>
              </a:rPr>
              <a:t>html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642614" y="356952"/>
            <a:ext cx="5120922" cy="4089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b="1">
                <a:solidFill>
                  <a:srgbClr val="779014"/>
                </a:solidFill>
                <a:latin typeface="KoPub돋움체 Light"/>
                <a:ea typeface="KoPub돋움체 Light"/>
                <a:cs typeface="+mn-cs"/>
              </a:rPr>
              <a:t>🔔</a:t>
            </a:r>
            <a:r>
              <a:rPr lang="ko-KR" altLang="en-US" sz="1400" b="1">
                <a:solidFill>
                  <a:srgbClr val="779014"/>
                </a:solidFill>
                <a:latin typeface="KoPub돋움체 Light"/>
                <a:ea typeface="KoPub돋움체 Light"/>
                <a:cs typeface="+mn-cs"/>
              </a:rPr>
              <a:t> </a:t>
            </a:r>
            <a:r>
              <a:rPr lang="ko-KR" altLang="en-US" sz="1400" b="1">
                <a:latin typeface="KoPub돋움체 Light"/>
                <a:ea typeface="KoPub돋움체 Light"/>
              </a:rPr>
              <a:t>Spring Boot + Gradle</a:t>
            </a:r>
          </a:p>
          <a:p>
            <a:pPr>
              <a:defRPr/>
            </a:pPr>
            <a:endParaRPr lang="ko-KR" altLang="en-US" sz="1200">
              <a:latin typeface="KoPub돋움체 Light"/>
              <a:ea typeface="KoPub돋움체 Light"/>
            </a:endParaRPr>
          </a:p>
          <a:p>
            <a:pPr>
              <a:defRPr/>
            </a:pPr>
            <a:r>
              <a:rPr lang="ko-KR" altLang="en-US" sz="1200">
                <a:latin typeface="KoPub돋움체 Light"/>
                <a:ea typeface="KoPub돋움체 Light"/>
              </a:rPr>
              <a:t>컨트롤러와 뷰를 연결시키는 패키지 기반 계층형 아키텍처 구조</a:t>
            </a:r>
          </a:p>
          <a:p>
            <a:pPr>
              <a:defRPr/>
            </a:pPr>
            <a:endParaRPr lang="ko-KR" altLang="en-US" sz="1200">
              <a:latin typeface="KoPub돋움체 Light"/>
              <a:ea typeface="KoPub돋움체 Light"/>
            </a:endParaRPr>
          </a:p>
          <a:p>
            <a:pPr>
              <a:defRPr/>
            </a:pPr>
            <a:endParaRPr lang="ko-KR" altLang="en-US" sz="1200">
              <a:latin typeface="KoPub돋움체 Light"/>
              <a:ea typeface="KoPub돋움체 Light"/>
            </a:endParaRPr>
          </a:p>
          <a:p>
            <a:pPr>
              <a:defRPr/>
            </a:pPr>
            <a:r>
              <a:rPr lang="en-US" altLang="en-US" sz="1200" b="1">
                <a:solidFill>
                  <a:srgbClr val="0000FF"/>
                </a:solidFill>
                <a:latin typeface="KoPub돋움체 Light"/>
                <a:ea typeface="KoPub돋움체 Light"/>
              </a:rPr>
              <a:t>📂</a:t>
            </a:r>
            <a:r>
              <a:rPr lang="ko-KR" altLang="en-US" sz="1200" b="1">
                <a:latin typeface="KoPub돋움체 Light"/>
                <a:ea typeface="KoPub돋움체 Light"/>
              </a:rPr>
              <a:t> 주요 폴더와 </a:t>
            </a:r>
            <a:r>
              <a:rPr lang="en-US" altLang="en-US" sz="1200" b="1">
                <a:solidFill>
                  <a:srgbClr val="0000FF"/>
                </a:solidFill>
                <a:latin typeface="KoPub돋움체 Light"/>
                <a:ea typeface="KoPub돋움체 Light"/>
              </a:rPr>
              <a:t>📜</a:t>
            </a:r>
            <a:r>
              <a:rPr lang="ko-KR" altLang="en-US" sz="1200" b="1">
                <a:latin typeface="KoPub돋움체 Light"/>
                <a:ea typeface="KoPub돋움체 Light"/>
              </a:rPr>
              <a:t> 파일</a:t>
            </a:r>
          </a:p>
          <a:p>
            <a:pPr>
              <a:defRPr/>
            </a:pPr>
            <a:endParaRPr lang="ko-KR" altLang="en-US" sz="1200">
              <a:latin typeface="KoPub돋움체 Light"/>
              <a:ea typeface="KoPub돋움체 Light"/>
            </a:endParaRPr>
          </a:p>
          <a:p>
            <a:pPr>
              <a:defRPr/>
            </a:pPr>
            <a:r>
              <a:rPr lang="ko-KR" altLang="en-US" sz="1200">
                <a:latin typeface="KoPub돋움체 Light"/>
                <a:ea typeface="KoPub돋움체 Light"/>
              </a:rPr>
              <a:t> </a:t>
            </a:r>
            <a:r>
              <a:rPr lang="en-US" altLang="ko-KR" sz="1200">
                <a:solidFill>
                  <a:srgbClr val="FF0000"/>
                </a:solidFill>
                <a:latin typeface="KoPub돋움체 Light"/>
                <a:ea typeface="KoPub돋움체 Light"/>
              </a:rPr>
              <a:t>🚩</a:t>
            </a:r>
            <a:r>
              <a:rPr lang="en-US" altLang="ko-KR" sz="1200">
                <a:latin typeface="KoPub돋움체 Light"/>
                <a:ea typeface="KoPub돋움체 Light"/>
              </a:rPr>
              <a:t> java</a:t>
            </a:r>
          </a:p>
          <a:p>
            <a:pPr>
              <a:defRPr/>
            </a:pPr>
            <a:r>
              <a:rPr lang="en-US" altLang="ko-KR" sz="1000">
                <a:latin typeface="KoPub돋움체 Light"/>
                <a:ea typeface="KoPub돋움체 Light"/>
              </a:rPr>
              <a:t> /food - </a:t>
            </a:r>
            <a:r>
              <a:rPr lang="ko-KR" altLang="en-US" sz="1000">
                <a:latin typeface="KoPub돋움체 Light"/>
                <a:ea typeface="KoPub돋움체 Light"/>
              </a:rPr>
              <a:t>음식 사진 분석</a:t>
            </a:r>
          </a:p>
          <a:p>
            <a:pPr>
              <a:defRPr/>
            </a:pPr>
            <a:r>
              <a:rPr lang="en-US" altLang="ko-KR" sz="1000">
                <a:latin typeface="KoPub돋움체 Light"/>
                <a:ea typeface="KoPub돋움체 Light"/>
              </a:rPr>
              <a:t> /meal - </a:t>
            </a:r>
            <a:r>
              <a:rPr lang="ko-KR" altLang="en-US" sz="1000">
                <a:latin typeface="KoPub돋움체 Light"/>
                <a:ea typeface="KoPub돋움체 Light"/>
              </a:rPr>
              <a:t>식단 추천 </a:t>
            </a:r>
            <a:r>
              <a:rPr lang="en-US" altLang="ko-KR" sz="1000">
                <a:latin typeface="KoPub돋움체 Light"/>
                <a:ea typeface="KoPub돋움체 Light"/>
              </a:rPr>
              <a:t>&amp;</a:t>
            </a:r>
            <a:r>
              <a:rPr lang="ko-KR" altLang="en-US" sz="1000">
                <a:latin typeface="KoPub돋움체 Light"/>
                <a:ea typeface="KoPub돋움체 Light"/>
              </a:rPr>
              <a:t> 기록</a:t>
            </a:r>
          </a:p>
          <a:p>
            <a:pPr>
              <a:defRPr/>
            </a:pPr>
            <a:r>
              <a:rPr lang="en-US" altLang="ko-KR" sz="1000">
                <a:latin typeface="KoPub돋움체 Light"/>
                <a:ea typeface="KoPub돋움체 Light"/>
              </a:rPr>
              <a:t> /emotion - </a:t>
            </a:r>
            <a:r>
              <a:rPr lang="ko-KR" altLang="en-US" sz="1000">
                <a:latin typeface="KoPub돋움체 Light"/>
                <a:ea typeface="KoPub돋움체 Light"/>
              </a:rPr>
              <a:t>기분 추천</a:t>
            </a:r>
          </a:p>
          <a:p>
            <a:pPr>
              <a:defRPr/>
            </a:pPr>
            <a:r>
              <a:rPr lang="en-US" altLang="ko-KR" sz="1000">
                <a:latin typeface="KoPub돋움체 Light"/>
                <a:ea typeface="KoPub돋움체 Light"/>
              </a:rPr>
              <a:t> /member - </a:t>
            </a:r>
            <a:r>
              <a:rPr lang="ko-KR" altLang="en-US" sz="1000">
                <a:latin typeface="KoPub돋움체 Light"/>
                <a:ea typeface="KoPub돋움체 Light"/>
              </a:rPr>
              <a:t>회원 관리</a:t>
            </a:r>
          </a:p>
          <a:p>
            <a:pPr>
              <a:defRPr/>
            </a:pPr>
            <a:r>
              <a:rPr lang="en-US" altLang="ko-KR" sz="1000">
                <a:latin typeface="KoPub돋움체 Light"/>
                <a:ea typeface="KoPub돋움체 Light"/>
              </a:rPr>
              <a:t> /main/</a:t>
            </a:r>
            <a:r>
              <a:rPr lang="en-US" altLang="en-US" sz="1000">
                <a:latin typeface="KoPub돋움체 Light"/>
                <a:ea typeface="KoPub돋움체 Light"/>
              </a:rPr>
              <a:t>MainController.java</a:t>
            </a:r>
            <a:r>
              <a:rPr lang="ko-KR" altLang="en-US" sz="1000">
                <a:latin typeface="KoPub돋움체 Light"/>
                <a:ea typeface="KoPub돋움체 Light"/>
              </a:rPr>
              <a:t> </a:t>
            </a:r>
            <a:r>
              <a:rPr lang="en-US" altLang="ko-KR" sz="1000">
                <a:latin typeface="KoPub돋움체 Light"/>
                <a:ea typeface="KoPub돋움체 Light"/>
              </a:rPr>
              <a:t>-</a:t>
            </a:r>
            <a:r>
              <a:rPr lang="ko-KR" altLang="en-US" sz="1000">
                <a:latin typeface="KoPub돋움체 Light"/>
                <a:ea typeface="KoPub돋움체 Light"/>
              </a:rPr>
              <a:t> 메인 페이지 연결</a:t>
            </a:r>
          </a:p>
          <a:p>
            <a:pPr>
              <a:defRPr/>
            </a:pPr>
            <a:r>
              <a:rPr lang="en-US" altLang="ko-KR" sz="1000">
                <a:latin typeface="KoPub돋움체 Light"/>
                <a:ea typeface="KoPub돋움체 Light"/>
              </a:rPr>
              <a:t> /DemoApplication.java</a:t>
            </a:r>
            <a:r>
              <a:rPr lang="ko-KR" altLang="en-US" sz="1000">
                <a:latin typeface="KoPub돋움체 Light"/>
                <a:ea typeface="KoPub돋움체 Light"/>
              </a:rPr>
              <a:t> </a:t>
            </a:r>
            <a:r>
              <a:rPr lang="en-US" altLang="ko-KR" sz="1000">
                <a:latin typeface="KoPub돋움체 Light"/>
                <a:ea typeface="KoPub돋움체 Light"/>
              </a:rPr>
              <a:t>-</a:t>
            </a:r>
            <a:r>
              <a:rPr lang="ko-KR" altLang="en-US" sz="1000">
                <a:latin typeface="KoPub돋움체 Light"/>
                <a:ea typeface="KoPub돋움체 Light"/>
              </a:rPr>
              <a:t> 프로그램 실행</a:t>
            </a:r>
          </a:p>
          <a:p>
            <a:pPr>
              <a:defRPr/>
            </a:pPr>
            <a:endParaRPr lang="ko-KR" altLang="en-US" sz="1200">
              <a:latin typeface="KoPub돋움체 Light"/>
              <a:ea typeface="KoPub돋움체 Light"/>
            </a:endParaRPr>
          </a:p>
          <a:p>
            <a:pPr>
              <a:defRPr/>
            </a:pPr>
            <a:r>
              <a:rPr lang="ko-KR" altLang="en-US" sz="1200">
                <a:latin typeface="KoPub돋움체 Light"/>
                <a:ea typeface="KoPub돋움체 Light"/>
              </a:rPr>
              <a:t> </a:t>
            </a:r>
            <a:r>
              <a:rPr lang="en-US" altLang="ko-KR" sz="1200">
                <a:solidFill>
                  <a:srgbClr val="FF0000"/>
                </a:solidFill>
                <a:latin typeface="KoPub돋움체 Light"/>
                <a:ea typeface="KoPub돋움체 Light"/>
              </a:rPr>
              <a:t>🚩</a:t>
            </a:r>
            <a:r>
              <a:rPr lang="en-US" altLang="ko-KR" sz="1200">
                <a:latin typeface="KoPub돋움체 Light"/>
                <a:ea typeface="KoPub돋움체 Light"/>
              </a:rPr>
              <a:t> html</a:t>
            </a:r>
          </a:p>
          <a:p>
            <a:pPr>
              <a:defRPr/>
            </a:pPr>
            <a:r>
              <a:rPr lang="en-US" altLang="ko-KR" sz="1000">
                <a:latin typeface="KoPub돋움체 Light"/>
                <a:ea typeface="KoPub돋움체 Light"/>
              </a:rPr>
              <a:t> /static/main.css - </a:t>
            </a:r>
            <a:r>
              <a:rPr lang="ko-KR" altLang="en-US" sz="1000">
                <a:latin typeface="KoPub돋움체 Light"/>
                <a:ea typeface="KoPub돋움체 Light"/>
              </a:rPr>
              <a:t>공통 스타일 </a:t>
            </a:r>
            <a:r>
              <a:rPr lang="en-US" altLang="ko-KR" sz="1000">
                <a:latin typeface="KoPub돋움체 Light"/>
                <a:ea typeface="KoPub돋움체 Light"/>
              </a:rPr>
              <a:t>(</a:t>
            </a:r>
            <a:r>
              <a:rPr lang="ko-KR" altLang="en-US" sz="1000">
                <a:latin typeface="KoPub돋움체 Light"/>
                <a:ea typeface="KoPub돋움체 Light"/>
              </a:rPr>
              <a:t>정적 문서</a:t>
            </a:r>
            <a:r>
              <a:rPr lang="en-US" altLang="ko-KR" sz="1000">
                <a:latin typeface="KoPub돋움체 Light"/>
                <a:ea typeface="KoPub돋움체 Light"/>
              </a:rPr>
              <a:t>)</a:t>
            </a:r>
          </a:p>
          <a:p>
            <a:pPr>
              <a:defRPr/>
            </a:pPr>
            <a:r>
              <a:rPr lang="ko-KR" altLang="en-US" sz="1000">
                <a:latin typeface="KoPub돋움체 Light"/>
                <a:ea typeface="KoPub돋움체 Light"/>
              </a:rPr>
              <a:t> </a:t>
            </a:r>
            <a:r>
              <a:rPr lang="en-US" altLang="ko-KR" sz="1000">
                <a:latin typeface="KoPub돋움체 Light"/>
                <a:ea typeface="KoPub돋움체 Light"/>
              </a:rPr>
              <a:t>/templates/main.html - </a:t>
            </a:r>
            <a:r>
              <a:rPr lang="ko-KR" altLang="en-US" sz="1000">
                <a:latin typeface="KoPub돋움체 Light"/>
                <a:ea typeface="KoPub돋움체 Light"/>
              </a:rPr>
              <a:t>메인 페이지</a:t>
            </a:r>
          </a:p>
          <a:p>
            <a:pPr>
              <a:defRPr/>
            </a:pPr>
            <a:r>
              <a:rPr lang="ko-KR" altLang="en-US" sz="1000">
                <a:latin typeface="KoPub돋움체 Light"/>
                <a:ea typeface="KoPub돋움체 Light"/>
              </a:rPr>
              <a:t> </a:t>
            </a:r>
            <a:r>
              <a:rPr lang="en-US" altLang="ko-KR" sz="1000">
                <a:latin typeface="KoPub돋움체 Light"/>
                <a:ea typeface="KoPub돋움체 Light"/>
              </a:rPr>
              <a:t>/templates/common.html - </a:t>
            </a:r>
            <a:r>
              <a:rPr lang="ko-KR" altLang="en-US" sz="1000">
                <a:latin typeface="KoPub돋움체 Light"/>
                <a:ea typeface="KoPub돋움체 Light"/>
              </a:rPr>
              <a:t>모든 문서의 </a:t>
            </a:r>
            <a:r>
              <a:rPr lang="en-US" altLang="ko-KR" sz="1000">
                <a:latin typeface="KoPub돋움체 Light"/>
                <a:ea typeface="KoPub돋움체 Light"/>
              </a:rPr>
              <a:t>header, footer</a:t>
            </a:r>
            <a:r>
              <a:rPr lang="ko-KR" altLang="en-US" sz="1000">
                <a:latin typeface="KoPub돋움체 Light"/>
                <a:ea typeface="KoPub돋움체 Light"/>
              </a:rPr>
              <a:t>에 들어가는 공통 태그</a:t>
            </a:r>
          </a:p>
          <a:p>
            <a:pPr>
              <a:defRPr/>
            </a:pPr>
            <a:r>
              <a:rPr lang="ko-KR" altLang="en-US" sz="1000">
                <a:latin typeface="KoPub돋움체 Light"/>
                <a:ea typeface="KoPub돋움체 Light"/>
              </a:rPr>
              <a:t> </a:t>
            </a:r>
            <a:r>
              <a:rPr lang="en-US" altLang="ko-KR" sz="1000">
                <a:latin typeface="KoPub돋움체 Light"/>
                <a:ea typeface="KoPub돋움체 Light"/>
              </a:rPr>
              <a:t>/templates/photo - </a:t>
            </a:r>
            <a:r>
              <a:rPr lang="ko-KR" altLang="en-US" sz="1000">
                <a:latin typeface="KoPub돋움체 Light"/>
                <a:ea typeface="KoPub돋움체 Light"/>
              </a:rPr>
              <a:t>사진 분석</a:t>
            </a:r>
          </a:p>
          <a:p>
            <a:pPr>
              <a:defRPr/>
            </a:pPr>
            <a:r>
              <a:rPr lang="ko-KR" altLang="en-US" sz="1000">
                <a:latin typeface="KoPub돋움체 Light"/>
                <a:ea typeface="KoPub돋움체 Light"/>
              </a:rPr>
              <a:t> </a:t>
            </a:r>
            <a:r>
              <a:rPr lang="en-US" altLang="ko-KR" sz="1000">
                <a:latin typeface="KoPub돋움체 Light"/>
                <a:ea typeface="KoPub돋움체 Light"/>
              </a:rPr>
              <a:t>/templates/meal - </a:t>
            </a:r>
            <a:r>
              <a:rPr lang="ko-KR" altLang="en-US" sz="1000">
                <a:latin typeface="KoPub돋움체 Light"/>
                <a:ea typeface="KoPub돋움체 Light"/>
              </a:rPr>
              <a:t>식단 추천 </a:t>
            </a:r>
            <a:r>
              <a:rPr lang="en-US" altLang="ko-KR" sz="1000">
                <a:latin typeface="KoPub돋움체 Light"/>
                <a:ea typeface="KoPub돋움체 Light"/>
              </a:rPr>
              <a:t>&amp;</a:t>
            </a:r>
            <a:r>
              <a:rPr lang="ko-KR" altLang="en-US" sz="1000">
                <a:latin typeface="KoPub돋움체 Light"/>
                <a:ea typeface="KoPub돋움체 Light"/>
              </a:rPr>
              <a:t> 기록</a:t>
            </a:r>
          </a:p>
          <a:p>
            <a:pPr>
              <a:defRPr/>
            </a:pPr>
            <a:r>
              <a:rPr lang="ko-KR" altLang="en-US" sz="1000">
                <a:latin typeface="KoPub돋움체 Light"/>
                <a:ea typeface="KoPub돋움체 Light"/>
              </a:rPr>
              <a:t> </a:t>
            </a:r>
            <a:r>
              <a:rPr lang="en-US" altLang="ko-KR" sz="1000">
                <a:latin typeface="KoPub돋움체 Light"/>
                <a:ea typeface="KoPub돋움체 Light"/>
              </a:rPr>
              <a:t>/templates/emotion - </a:t>
            </a:r>
            <a:r>
              <a:rPr lang="ko-KR" altLang="en-US" sz="1000">
                <a:latin typeface="KoPub돋움체 Light"/>
                <a:ea typeface="KoPub돋움체 Light"/>
              </a:rPr>
              <a:t>기분 추천</a:t>
            </a:r>
          </a:p>
          <a:p>
            <a:pPr>
              <a:defRPr/>
            </a:pPr>
            <a:r>
              <a:rPr lang="ko-KR" altLang="en-US" sz="1000">
                <a:latin typeface="KoPub돋움체 Light"/>
                <a:ea typeface="KoPub돋움체 Light"/>
              </a:rPr>
              <a:t> </a:t>
            </a:r>
            <a:r>
              <a:rPr lang="en-US" altLang="ko-KR" sz="1000">
                <a:latin typeface="KoPub돋움체 Light"/>
                <a:ea typeface="KoPub돋움체 Light"/>
              </a:rPr>
              <a:t>/templates/member - </a:t>
            </a:r>
            <a:r>
              <a:rPr lang="ko-KR" altLang="en-US" sz="1000">
                <a:latin typeface="KoPub돋움체 Light"/>
                <a:ea typeface="KoPub돋움체 Light"/>
              </a:rPr>
              <a:t>회원 관리</a:t>
            </a:r>
          </a:p>
          <a:p>
            <a:pPr>
              <a:defRPr/>
            </a:pPr>
            <a:r>
              <a:rPr lang="ko-KR" altLang="en-US" sz="1000">
                <a:latin typeface="KoPub돋움체 Light"/>
                <a:ea typeface="KoPub돋움체 Light"/>
              </a:rPr>
              <a:t> </a:t>
            </a:r>
            <a:r>
              <a:rPr lang="en-US" altLang="ko-KR" sz="1000">
                <a:latin typeface="KoPub돋움체 Light"/>
                <a:ea typeface="KoPub돋움체 Light"/>
              </a:rPr>
              <a:t>/templates/footer - </a:t>
            </a:r>
            <a:r>
              <a:rPr lang="ko-KR" altLang="en-US" sz="1000">
                <a:latin typeface="KoPub돋움체 Light"/>
                <a:ea typeface="KoPub돋움체 Light"/>
              </a:rPr>
              <a:t>고객 지원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EFC3E51-DBDA-4F5F-8075-AFFBED2F7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050" y="356952"/>
            <a:ext cx="1268227" cy="45501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937944C-119D-4F42-AE40-13C3E33215A7}"/>
              </a:ext>
            </a:extLst>
          </p:cNvPr>
          <p:cNvSpPr txBox="1"/>
          <p:nvPr/>
        </p:nvSpPr>
        <p:spPr>
          <a:xfrm>
            <a:off x="1568278" y="356952"/>
            <a:ext cx="453761" cy="270900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200" b="1">
                <a:latin typeface="KoPub돋움체 Light"/>
                <a:ea typeface="KoPub돋움체 Light"/>
              </a:rPr>
              <a:t>java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6E08B76-F7FC-4708-B43B-1D2A94A1E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4407" y="350771"/>
            <a:ext cx="1273608" cy="32721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>
                <a:latin typeface="KoPub돋움체 Medium"/>
                <a:ea typeface="KoPub돋움체 Medium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7</a:t>
            </a:fld>
            <a:endParaRPr lang="en-US" altLang="ko">
              <a:latin typeface="KoPub돋움체 Medium"/>
              <a:ea typeface="KoPub돋움체 Medium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3662230" y="551150"/>
            <a:ext cx="386078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b="1" dirty="0">
                <a:solidFill>
                  <a:srgbClr val="779014"/>
                </a:solidFill>
                <a:latin typeface="KoPub돋움체 Light"/>
                <a:ea typeface="KoPub돋움체 Light"/>
                <a:cs typeface="+mn-cs"/>
              </a:rPr>
              <a:t>🔔</a:t>
            </a:r>
            <a:r>
              <a:rPr lang="ko-KR" altLang="en-US" sz="1400" b="1" dirty="0">
                <a:solidFill>
                  <a:srgbClr val="779014"/>
                </a:solidFill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400" b="1" dirty="0">
                <a:latin typeface="KoPub돋움체 Light"/>
                <a:ea typeface="KoPub돋움체 Light"/>
                <a:cs typeface="+mn-cs"/>
              </a:rPr>
              <a:t>Python</a:t>
            </a:r>
            <a:r>
              <a:rPr lang="ko-KR" altLang="en-US" sz="1400" b="1" dirty="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000" b="1" dirty="0">
                <a:latin typeface="KoPub돋움체 Light"/>
                <a:ea typeface="KoPub돋움체 Light"/>
                <a:cs typeface="+mn-cs"/>
              </a:rPr>
              <a:t>(1/2)</a:t>
            </a:r>
          </a:p>
          <a:p>
            <a:pPr>
              <a:defRPr/>
            </a:pPr>
            <a:endParaRPr lang="ko-KR" altLang="en-US" sz="1200" dirty="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 dirty="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200" dirty="0">
                <a:latin typeface="KoPub돋움체 Light"/>
                <a:ea typeface="KoPub돋움체 Light"/>
                <a:cs typeface="+mn-cs"/>
              </a:rPr>
              <a:t>CNN </a:t>
            </a:r>
            <a:r>
              <a:rPr lang="ko-KR" altLang="en-US" sz="1200" dirty="0">
                <a:latin typeface="KoPub돋움체 Light"/>
                <a:ea typeface="KoPub돋움체 Light"/>
                <a:cs typeface="+mn-cs"/>
              </a:rPr>
              <a:t>모델 학습</a:t>
            </a:r>
            <a:r>
              <a:rPr lang="en-US" altLang="ko-KR" sz="1200" dirty="0">
                <a:latin typeface="KoPub돋움체 Light"/>
                <a:ea typeface="KoPub돋움체 Light"/>
                <a:cs typeface="+mn-cs"/>
              </a:rPr>
              <a:t>,</a:t>
            </a:r>
            <a:r>
              <a:rPr lang="ko-KR" altLang="en-US" sz="1200" dirty="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200" dirty="0">
                <a:latin typeface="KoPub돋움체 Light"/>
                <a:ea typeface="KoPub돋움체 Light"/>
                <a:cs typeface="+mn-cs"/>
              </a:rPr>
              <a:t>LLM</a:t>
            </a:r>
            <a:r>
              <a:rPr lang="ko-KR" altLang="en-US" sz="1200" dirty="0">
                <a:latin typeface="KoPub돋움체 Light"/>
                <a:ea typeface="KoPub돋움체 Light"/>
                <a:cs typeface="+mn-cs"/>
              </a:rPr>
              <a:t> 학습 등을 수행</a:t>
            </a:r>
            <a:r>
              <a:rPr lang="en-US" altLang="ko-KR" sz="1200" dirty="0">
                <a:latin typeface="KoPub돋움체 Light"/>
                <a:ea typeface="KoPub돋움체 Light"/>
                <a:cs typeface="+mn-cs"/>
              </a:rPr>
              <a:t>.</a:t>
            </a:r>
            <a:r>
              <a:rPr lang="ko-KR" altLang="en-US" sz="1200" dirty="0">
                <a:latin typeface="KoPub돋움체 Light"/>
                <a:ea typeface="KoPub돋움체 Light"/>
                <a:cs typeface="+mn-cs"/>
              </a:rPr>
              <a:t> 그 결과를 </a:t>
            </a:r>
            <a:r>
              <a:rPr lang="en-US" altLang="ko-KR" sz="1200" dirty="0">
                <a:latin typeface="KoPub돋움체 Light"/>
                <a:ea typeface="KoPub돋움체 Light"/>
                <a:cs typeface="+mn-cs"/>
              </a:rPr>
              <a:t>DB</a:t>
            </a:r>
            <a:r>
              <a:rPr lang="ko-KR" altLang="en-US" sz="1200" dirty="0">
                <a:latin typeface="KoPub돋움체 Light"/>
                <a:ea typeface="KoPub돋움체 Light"/>
                <a:cs typeface="+mn-cs"/>
              </a:rPr>
              <a:t>에 저장하거나 뷰에 표시한다</a:t>
            </a:r>
            <a:r>
              <a:rPr lang="en-US" altLang="ko-KR" sz="1200" dirty="0">
                <a:latin typeface="KoPub돋움체 Light"/>
                <a:ea typeface="KoPub돋움체 Light"/>
                <a:cs typeface="+mn-cs"/>
              </a:rPr>
              <a:t>.</a:t>
            </a:r>
          </a:p>
          <a:p>
            <a:pPr>
              <a:defRPr/>
            </a:pPr>
            <a:endParaRPr lang="ko-KR" altLang="en-US" sz="1200" dirty="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endParaRPr lang="ko-KR" altLang="en-US" sz="1200" dirty="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en-US" altLang="en-US" sz="1200" b="1" dirty="0">
                <a:solidFill>
                  <a:srgbClr val="0000FF"/>
                </a:solidFill>
                <a:latin typeface="KoPub돋움체 Light"/>
                <a:ea typeface="KoPub돋움체 Light"/>
                <a:cs typeface="+mn-cs"/>
              </a:rPr>
              <a:t>📂</a:t>
            </a:r>
            <a:r>
              <a:rPr lang="ko-KR" altLang="en-US" sz="1200" b="1" dirty="0">
                <a:latin typeface="KoPub돋움체 Light"/>
                <a:ea typeface="KoPub돋움체 Light"/>
                <a:cs typeface="+mn-cs"/>
              </a:rPr>
              <a:t> 주요 폴더와 </a:t>
            </a:r>
            <a:r>
              <a:rPr lang="en-US" altLang="en-US" sz="1200" b="1" dirty="0">
                <a:solidFill>
                  <a:srgbClr val="0000FF"/>
                </a:solidFill>
                <a:latin typeface="KoPub돋움체 Light"/>
                <a:ea typeface="KoPub돋움체 Light"/>
                <a:cs typeface="+mn-cs"/>
              </a:rPr>
              <a:t>📜</a:t>
            </a:r>
            <a:r>
              <a:rPr lang="ko-KR" altLang="en-US" sz="1200" b="1" dirty="0">
                <a:latin typeface="KoPub돋움체 Light"/>
                <a:ea typeface="KoPub돋움체 Light"/>
                <a:cs typeface="+mn-cs"/>
              </a:rPr>
              <a:t> 파일</a:t>
            </a:r>
          </a:p>
          <a:p>
            <a:pPr>
              <a:defRPr/>
            </a:pPr>
            <a:endParaRPr lang="ko-KR" altLang="en-US" sz="1200" dirty="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 dirty="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200" dirty="0">
                <a:solidFill>
                  <a:srgbClr val="FF0000"/>
                </a:solidFill>
                <a:latin typeface="KoPub돋움체 Light"/>
                <a:ea typeface="KoPub돋움체 Light"/>
                <a:cs typeface="+mn-cs"/>
              </a:rPr>
              <a:t>🚩</a:t>
            </a:r>
            <a:r>
              <a:rPr lang="en-US" altLang="ko-KR" sz="1200" dirty="0">
                <a:latin typeface="KoPub돋움체 Light"/>
                <a:ea typeface="KoPub돋움체 Light"/>
                <a:cs typeface="+mn-cs"/>
              </a:rPr>
              <a:t> CNN </a:t>
            </a:r>
            <a:r>
              <a:rPr lang="ko-KR" altLang="en-US" sz="1200" dirty="0">
                <a:latin typeface="KoPub돋움체 Light"/>
                <a:ea typeface="KoPub돋움체 Light"/>
                <a:cs typeface="+mn-cs"/>
              </a:rPr>
              <a:t>모델</a:t>
            </a:r>
          </a:p>
          <a:p>
            <a:pPr>
              <a:defRPr/>
            </a:pPr>
            <a:r>
              <a:rPr lang="en-US" altLang="ko-KR" sz="1000" dirty="0">
                <a:latin typeface="KoPub돋움체 Light"/>
                <a:ea typeface="KoPub돋움체 Light"/>
                <a:cs typeface="+mn-cs"/>
              </a:rPr>
              <a:t> /photo - </a:t>
            </a:r>
            <a:r>
              <a:rPr lang="ko-KR" altLang="en-US" sz="1000" dirty="0">
                <a:latin typeface="KoPub돋움체 Light"/>
                <a:ea typeface="KoPub돋움체 Light"/>
                <a:cs typeface="+mn-cs"/>
              </a:rPr>
              <a:t>사진 분석</a:t>
            </a:r>
          </a:p>
          <a:p>
            <a:pPr>
              <a:defRPr/>
            </a:pPr>
            <a:r>
              <a:rPr lang="ko-KR" altLang="en-US" sz="1000" dirty="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000" dirty="0">
                <a:latin typeface="KoPub돋움체 Light"/>
                <a:ea typeface="KoPub돋움체 Light"/>
                <a:cs typeface="+mn-cs"/>
              </a:rPr>
              <a:t>/photo/model - </a:t>
            </a:r>
            <a:r>
              <a:rPr lang="ko-KR" altLang="en-US" sz="1000" dirty="0">
                <a:latin typeface="KoPub돋움체 Light"/>
                <a:ea typeface="KoPub돋움체 Light"/>
                <a:cs typeface="+mn-cs"/>
              </a:rPr>
              <a:t>사진 분석 모델 </a:t>
            </a:r>
            <a:r>
              <a:rPr lang="en-US" altLang="ko-KR" sz="1000" dirty="0">
                <a:latin typeface="KoPub돋움체 Light"/>
                <a:ea typeface="KoPub돋움체 Light"/>
                <a:cs typeface="+mn-cs"/>
              </a:rPr>
              <a:t>(CNN)</a:t>
            </a:r>
            <a:r>
              <a:rPr lang="ko-KR" altLang="en-US" sz="1000" dirty="0">
                <a:latin typeface="KoPub돋움체 Light"/>
                <a:ea typeface="KoPub돋움체 Light"/>
                <a:cs typeface="+mn-cs"/>
              </a:rPr>
              <a:t> 위치</a:t>
            </a:r>
          </a:p>
          <a:p>
            <a:pPr>
              <a:defRPr/>
            </a:pPr>
            <a:r>
              <a:rPr lang="en-US" altLang="ko-KR" sz="1000" dirty="0">
                <a:latin typeface="KoPub돋움체 Light"/>
                <a:ea typeface="KoPub돋움체 Light"/>
                <a:cs typeface="+mn-cs"/>
              </a:rPr>
              <a:t> /photo/app.py - </a:t>
            </a:r>
            <a:r>
              <a:rPr lang="ko-KR" altLang="en-US" sz="1000" dirty="0">
                <a:latin typeface="KoPub돋움체 Light"/>
                <a:ea typeface="KoPub돋움체 Light"/>
                <a:cs typeface="+mn-cs"/>
              </a:rPr>
              <a:t>실행 파일</a:t>
            </a:r>
          </a:p>
          <a:p>
            <a:pPr>
              <a:defRPr/>
            </a:pPr>
            <a:endParaRPr lang="ko-KR" altLang="en-US" sz="1000" dirty="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 dirty="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200" dirty="0">
                <a:solidFill>
                  <a:srgbClr val="FF0000"/>
                </a:solidFill>
                <a:latin typeface="KoPub돋움체 Light"/>
                <a:ea typeface="KoPub돋움체 Light"/>
                <a:cs typeface="+mn-cs"/>
              </a:rPr>
              <a:t>🚩</a:t>
            </a:r>
            <a:r>
              <a:rPr lang="en-US" altLang="ko-KR" sz="1200" dirty="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200" dirty="0" err="1">
                <a:latin typeface="KoPub돋움체 Light"/>
                <a:ea typeface="KoPub돋움체 Light"/>
                <a:cs typeface="+mn-cs"/>
              </a:rPr>
              <a:t>Ollama</a:t>
            </a:r>
            <a:r>
              <a:rPr lang="en-US" altLang="ko-KR" sz="1200" dirty="0">
                <a:latin typeface="KoPub돋움체 Light"/>
                <a:ea typeface="KoPub돋움체 Light"/>
                <a:cs typeface="+mn-cs"/>
              </a:rPr>
              <a:t> (LLM)</a:t>
            </a:r>
          </a:p>
          <a:p>
            <a:pPr>
              <a:defRPr/>
            </a:pPr>
            <a:r>
              <a:rPr lang="ko-KR" altLang="en-US" sz="1000" dirty="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000" dirty="0">
                <a:latin typeface="KoPub돋움체 Light"/>
                <a:ea typeface="KoPub돋움체 Light"/>
                <a:cs typeface="+mn-cs"/>
              </a:rPr>
              <a:t>/</a:t>
            </a:r>
            <a:r>
              <a:rPr lang="en-US" altLang="ko-KR" sz="1000" dirty="0" err="1">
                <a:latin typeface="KoPub돋움체 Light"/>
                <a:ea typeface="KoPub돋움체 Light"/>
                <a:cs typeface="+mn-cs"/>
              </a:rPr>
              <a:t>FastAPI</a:t>
            </a:r>
            <a:r>
              <a:rPr lang="en-US" altLang="ko-KR" sz="1000" dirty="0">
                <a:latin typeface="KoPub돋움체 Light"/>
                <a:ea typeface="KoPub돋움체 Light"/>
                <a:cs typeface="+mn-cs"/>
              </a:rPr>
              <a:t> - </a:t>
            </a:r>
            <a:r>
              <a:rPr lang="en-US" altLang="ko-KR" sz="1000" dirty="0" err="1">
                <a:latin typeface="KoPub돋움체 Light"/>
                <a:ea typeface="KoPub돋움체 Light"/>
                <a:cs typeface="+mn-cs"/>
              </a:rPr>
              <a:t>FastAPI</a:t>
            </a:r>
            <a:r>
              <a:rPr lang="en-US" altLang="ko-KR" sz="1000" dirty="0">
                <a:latin typeface="KoPub돋움체 Light"/>
                <a:ea typeface="KoPub돋움체 Light"/>
                <a:cs typeface="+mn-cs"/>
              </a:rPr>
              <a:t> </a:t>
            </a:r>
            <a:r>
              <a:rPr lang="ko-KR" altLang="en-US" sz="1000" dirty="0">
                <a:latin typeface="KoPub돋움체 Light"/>
                <a:ea typeface="KoPub돋움체 Light"/>
                <a:cs typeface="+mn-cs"/>
              </a:rPr>
              <a:t>서버 구축</a:t>
            </a:r>
            <a:r>
              <a:rPr lang="en-US" altLang="ko-KR" sz="1000" dirty="0">
                <a:latin typeface="KoPub돋움체 Light"/>
                <a:ea typeface="KoPub돋움체 Light"/>
                <a:cs typeface="+mn-cs"/>
              </a:rPr>
              <a:t>,</a:t>
            </a:r>
            <a:r>
              <a:rPr lang="ko-KR" altLang="en-US" sz="1000" dirty="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000" dirty="0" err="1">
                <a:latin typeface="KoPub돋움체 Light"/>
                <a:ea typeface="KoPub돋움체 Light"/>
                <a:cs typeface="+mn-cs"/>
              </a:rPr>
              <a:t>Ollama</a:t>
            </a:r>
            <a:r>
              <a:rPr lang="en-US" altLang="ko-KR" sz="1000" dirty="0">
                <a:latin typeface="KoPub돋움체 Light"/>
                <a:ea typeface="KoPub돋움체 Light"/>
                <a:cs typeface="+mn-cs"/>
              </a:rPr>
              <a:t> </a:t>
            </a:r>
            <a:r>
              <a:rPr lang="ko-KR" altLang="en-US" sz="1000" dirty="0">
                <a:latin typeface="KoPub돋움체 Light"/>
                <a:ea typeface="KoPub돋움체 Light"/>
                <a:cs typeface="+mn-cs"/>
              </a:rPr>
              <a:t>기동</a:t>
            </a:r>
          </a:p>
          <a:p>
            <a:pPr>
              <a:defRPr/>
            </a:pPr>
            <a:r>
              <a:rPr lang="en-US" altLang="ko-KR" sz="1000" dirty="0">
                <a:latin typeface="KoPub돋움체 Light"/>
                <a:ea typeface="KoPub돋움체 Light"/>
                <a:cs typeface="+mn-cs"/>
              </a:rPr>
              <a:t> /</a:t>
            </a:r>
            <a:r>
              <a:rPr lang="en-US" altLang="ko-KR" sz="1000" dirty="0" err="1">
                <a:latin typeface="KoPub돋움체 Light"/>
                <a:ea typeface="KoPub돋움체 Light"/>
                <a:cs typeface="+mn-cs"/>
              </a:rPr>
              <a:t>MealMind</a:t>
            </a:r>
            <a:r>
              <a:rPr lang="en-US" altLang="ko-KR" sz="1000" dirty="0">
                <a:latin typeface="KoPub돋움체 Light"/>
                <a:ea typeface="KoPub돋움체 Light"/>
                <a:cs typeface="+mn-cs"/>
              </a:rPr>
              <a:t> - LLM </a:t>
            </a:r>
            <a:r>
              <a:rPr lang="ko-KR" altLang="en-US" sz="1000" dirty="0">
                <a:latin typeface="KoPub돋움체 Light"/>
                <a:ea typeface="KoPub돋움체 Light"/>
                <a:cs typeface="+mn-cs"/>
              </a:rPr>
              <a:t>모델 학습</a:t>
            </a:r>
          </a:p>
          <a:p>
            <a:pPr>
              <a:defRPr/>
            </a:pPr>
            <a:r>
              <a:rPr lang="en-US" altLang="ko-KR" sz="1000" dirty="0">
                <a:latin typeface="KoPub돋움체 Light"/>
                <a:ea typeface="KoPub돋움체 Light"/>
                <a:cs typeface="+mn-cs"/>
              </a:rPr>
              <a:t> /MealMind/app.py - </a:t>
            </a:r>
            <a:r>
              <a:rPr lang="ko-KR" altLang="en-US" sz="1000" dirty="0">
                <a:latin typeface="KoPub돋움체 Light"/>
                <a:ea typeface="KoPub돋움체 Light"/>
                <a:cs typeface="+mn-cs"/>
              </a:rPr>
              <a:t>실행 파일</a:t>
            </a:r>
            <a:endParaRPr lang="en-US" altLang="ko-KR" sz="1000" dirty="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endParaRPr lang="en-US" altLang="ko-KR" sz="1000" dirty="0">
              <a:latin typeface="KoPub돋움체 Light"/>
              <a:ea typeface="KoPub돋움체 Light"/>
            </a:endParaRPr>
          </a:p>
          <a:p>
            <a:pPr>
              <a:defRPr/>
            </a:pPr>
            <a:r>
              <a:rPr lang="ko-KR" altLang="en-US" sz="1200" dirty="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200" dirty="0">
                <a:solidFill>
                  <a:srgbClr val="FF0000"/>
                </a:solidFill>
                <a:latin typeface="KoPub돋움체 Light"/>
                <a:ea typeface="KoPub돋움체 Light"/>
                <a:cs typeface="+mn-cs"/>
              </a:rPr>
              <a:t>🚩</a:t>
            </a:r>
            <a:r>
              <a:rPr lang="en-US" altLang="ko-KR" sz="1200" dirty="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200" dirty="0" err="1">
                <a:latin typeface="KoPub돋움체 Light"/>
                <a:ea typeface="KoPub돋움체 Light"/>
                <a:cs typeface="+mn-cs"/>
              </a:rPr>
              <a:t>KoBERT</a:t>
            </a:r>
            <a:r>
              <a:rPr lang="en-US" altLang="ko-KR" sz="1200" dirty="0">
                <a:latin typeface="KoPub돋움체 Light"/>
                <a:ea typeface="KoPub돋움체 Light"/>
                <a:cs typeface="+mn-cs"/>
              </a:rPr>
              <a:t> (LLM)</a:t>
            </a:r>
          </a:p>
          <a:p>
            <a:pPr>
              <a:defRPr/>
            </a:pPr>
            <a:r>
              <a:rPr lang="en-US" altLang="ko-KR" sz="1000" dirty="0">
                <a:latin typeface="KoPub돋움체 Light"/>
                <a:ea typeface="KoPub돋움체 Light"/>
                <a:cs typeface="+mn-cs"/>
              </a:rPr>
              <a:t> /Predict - </a:t>
            </a:r>
            <a:r>
              <a:rPr lang="ko-KR" altLang="en-US" sz="1000" dirty="0">
                <a:latin typeface="KoPub돋움체 Light"/>
                <a:ea typeface="KoPub돋움체 Light"/>
                <a:cs typeface="+mn-cs"/>
              </a:rPr>
              <a:t>기분 추천</a:t>
            </a:r>
          </a:p>
          <a:p>
            <a:pPr>
              <a:defRPr/>
            </a:pPr>
            <a:r>
              <a:rPr lang="ko-KR" altLang="en-US" sz="1000" dirty="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000" dirty="0">
                <a:latin typeface="KoPub돋움체 Light"/>
                <a:ea typeface="KoPub돋움체 Light"/>
                <a:cs typeface="+mn-cs"/>
              </a:rPr>
              <a:t>/Predict/</a:t>
            </a:r>
            <a:r>
              <a:rPr lang="en-US" altLang="ko-KR" sz="1000" dirty="0" err="1">
                <a:latin typeface="KoPub돋움체 Light"/>
                <a:ea typeface="KoPub돋움체 Light"/>
                <a:cs typeface="+mn-cs"/>
              </a:rPr>
              <a:t>kobert_emotion_model</a:t>
            </a:r>
            <a:r>
              <a:rPr lang="ko-KR" altLang="en-US" sz="1000" dirty="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000" dirty="0">
                <a:latin typeface="KoPub돋움체 Light"/>
                <a:ea typeface="KoPub돋움체 Light"/>
                <a:cs typeface="+mn-cs"/>
              </a:rPr>
              <a:t>-</a:t>
            </a:r>
            <a:r>
              <a:rPr lang="ko-KR" altLang="en-US" sz="1000" dirty="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000" dirty="0" err="1">
                <a:latin typeface="KoPub돋움체 Light"/>
                <a:ea typeface="KoPub돋움체 Light"/>
                <a:cs typeface="+mn-cs"/>
              </a:rPr>
              <a:t>KoBERT</a:t>
            </a:r>
            <a:r>
              <a:rPr lang="en-US" altLang="ko-KR" sz="1000" dirty="0">
                <a:latin typeface="KoPub돋움체 Light"/>
                <a:ea typeface="KoPub돋움체 Light"/>
                <a:cs typeface="+mn-cs"/>
              </a:rPr>
              <a:t> </a:t>
            </a:r>
            <a:r>
              <a:rPr lang="ko-KR" altLang="en-US" sz="1000" dirty="0">
                <a:latin typeface="KoPub돋움체 Light"/>
                <a:ea typeface="KoPub돋움체 Light"/>
                <a:cs typeface="+mn-cs"/>
              </a:rPr>
              <a:t>모델</a:t>
            </a:r>
          </a:p>
          <a:p>
            <a:pPr>
              <a:defRPr/>
            </a:pPr>
            <a:r>
              <a:rPr lang="ko-KR" altLang="en-US" sz="1000" dirty="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000" dirty="0">
                <a:latin typeface="KoPub돋움체 Light"/>
                <a:ea typeface="KoPub돋움체 Light"/>
                <a:cs typeface="+mn-cs"/>
              </a:rPr>
              <a:t>/Predict/app.py - </a:t>
            </a:r>
            <a:r>
              <a:rPr lang="ko-KR" altLang="en-US" sz="1000" dirty="0">
                <a:latin typeface="KoPub돋움체 Light"/>
                <a:ea typeface="KoPub돋움체 Light"/>
                <a:cs typeface="+mn-cs"/>
              </a:rPr>
              <a:t>실행 파일</a:t>
            </a:r>
          </a:p>
          <a:p>
            <a:pPr>
              <a:defRPr/>
            </a:pPr>
            <a:endParaRPr lang="en-US" altLang="ko-KR" sz="1000" dirty="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en-US" altLang="ko-KR" sz="1000" dirty="0">
                <a:latin typeface="KoPub돋움체 Light"/>
                <a:ea typeface="KoPub돋움체 Light"/>
                <a:cs typeface="+mn-cs"/>
              </a:rPr>
              <a:t>/requirements.txt - pip </a:t>
            </a:r>
            <a:r>
              <a:rPr lang="ko-KR" altLang="en-US" sz="1000" dirty="0">
                <a:latin typeface="KoPub돋움체 Light"/>
                <a:ea typeface="KoPub돋움체 Light"/>
                <a:cs typeface="+mn-cs"/>
              </a:rPr>
              <a:t>설치</a:t>
            </a:r>
            <a:r>
              <a:rPr lang="en-US" altLang="ko-KR" sz="1000" dirty="0">
                <a:latin typeface="KoPub돋움체 Light"/>
                <a:ea typeface="KoPub돋움체 Light"/>
                <a:cs typeface="+mn-cs"/>
              </a:rPr>
              <a:t>,</a:t>
            </a:r>
            <a:r>
              <a:rPr lang="ko-KR" altLang="en-US" sz="1000" dirty="0">
                <a:latin typeface="KoPub돋움체 Light"/>
                <a:ea typeface="KoPub돋움체 Light"/>
                <a:cs typeface="+mn-cs"/>
              </a:rPr>
              <a:t> 서버 기동 실행법을 기록한 텍스트 문서</a:t>
            </a:r>
          </a:p>
        </p:txBody>
      </p:sp>
      <p:sp>
        <p:nvSpPr>
          <p:cNvPr id="6" name="Google Shape;68;p15">
            <a:extLst>
              <a:ext uri="{FF2B5EF4-FFF2-40B4-BE49-F238E27FC236}">
                <a16:creationId xmlns:a16="http://schemas.microsoft.com/office/drawing/2014/main" id="{4BFA3EBD-424E-41C5-945F-246B987AB4FA}"/>
              </a:ext>
            </a:extLst>
          </p:cNvPr>
          <p:cNvSpPr txBox="1">
            <a:spLocks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/>
          </a:solidFill>
        </p:spPr>
        <p:txBody>
          <a:bodyPr vert="horz" wrap="square" lIns="91424" tIns="91424" rIns="91424" bIns="91424" anchor="t" anchorCtr="0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8580">
              <a:spcBef>
                <a:spcPts val="0"/>
              </a:spcBef>
              <a:buSzPct val="100000"/>
              <a:defRPr/>
            </a:pPr>
            <a:r>
              <a:rPr lang="en-US" altLang="ko-KR" sz="1600" b="1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3.</a:t>
            </a:r>
            <a:r>
              <a:rPr lang="ko-KR" altLang="en-US" sz="1600" b="1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 프로젝트 구조도 </a:t>
            </a:r>
            <a:r>
              <a:rPr lang="en-US" altLang="ko-KR" sz="1600" b="1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(</a:t>
            </a:r>
            <a:r>
              <a:rPr lang="ko-KR" altLang="en-US" sz="1600" b="1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상세</a:t>
            </a:r>
            <a:r>
              <a:rPr lang="en-US" altLang="ko-KR" sz="1600" b="1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)</a:t>
            </a:r>
            <a:endParaRPr lang="ko-KR" altLang="en-US" sz="1600" b="1" dirty="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7DCC929-1044-4F6D-8C5F-F886382B1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28" y="408709"/>
            <a:ext cx="3144500" cy="44429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E761B2-41F6-46AA-9474-BF5A3684906B}"/>
              </a:ext>
            </a:extLst>
          </p:cNvPr>
          <p:cNvSpPr txBox="1"/>
          <p:nvPr/>
        </p:nvSpPr>
        <p:spPr>
          <a:xfrm>
            <a:off x="1009248" y="454034"/>
            <a:ext cx="765596" cy="215444"/>
          </a:xfrm>
          <a:prstGeom prst="rect">
            <a:avLst/>
          </a:prstGeom>
          <a:ln w="28575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800" b="1" dirty="0">
                <a:latin typeface="KoPub돋움체 Light"/>
                <a:ea typeface="KoPub돋움체 Light"/>
              </a:rPr>
              <a:t>Spring</a:t>
            </a:r>
            <a:r>
              <a:rPr lang="ko-KR" altLang="en-US" sz="800" b="1" dirty="0">
                <a:latin typeface="KoPub돋움체 Light"/>
                <a:ea typeface="KoPub돋움체 Light"/>
              </a:rPr>
              <a:t> </a:t>
            </a:r>
            <a:r>
              <a:rPr lang="en-US" altLang="ko-KR" sz="800" b="1" dirty="0">
                <a:latin typeface="KoPub돋움체 Light"/>
                <a:ea typeface="KoPub돋움체 Light"/>
              </a:rPr>
              <a:t>Boot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4E9393-C2C0-4345-B32E-402D21091B2F}"/>
              </a:ext>
            </a:extLst>
          </p:cNvPr>
          <p:cNvSpPr txBox="1"/>
          <p:nvPr/>
        </p:nvSpPr>
        <p:spPr>
          <a:xfrm>
            <a:off x="1679732" y="3887766"/>
            <a:ext cx="765596" cy="215444"/>
          </a:xfrm>
          <a:prstGeom prst="rect">
            <a:avLst/>
          </a:prstGeom>
          <a:ln w="28575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800" b="1" dirty="0" err="1">
                <a:latin typeface="KoPub돋움체 Light"/>
                <a:ea typeface="KoPub돋움체 Light"/>
              </a:rPr>
              <a:t>KoBERT</a:t>
            </a:r>
            <a:r>
              <a:rPr lang="en-US" altLang="ko-KR" sz="800" b="1" dirty="0">
                <a:latin typeface="KoPub돋움체 Light"/>
                <a:ea typeface="KoPub돋움체 Light"/>
              </a:rPr>
              <a:t> </a:t>
            </a:r>
            <a:r>
              <a:rPr lang="ko-KR" altLang="en-US" sz="800" b="1" dirty="0">
                <a:latin typeface="KoPub돋움체 Light"/>
                <a:ea typeface="KoPub돋움체 Light"/>
              </a:rPr>
              <a:t>모델</a:t>
            </a:r>
            <a:endParaRPr lang="en-US" altLang="ko-KR" sz="800" b="1" dirty="0">
              <a:latin typeface="KoPub돋움체 Light"/>
              <a:ea typeface="KoPub돋움체 Ligh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;p4"/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8</a:t>
            </a:fld>
            <a:endParaRPr 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81025" y="476250"/>
            <a:ext cx="7981950" cy="4191000"/>
          </a:xfrm>
          <a:prstGeom prst="rect">
            <a:avLst/>
          </a:prstGeom>
        </p:spPr>
      </p:pic>
      <p:sp>
        <p:nvSpPr>
          <p:cNvPr id="12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/>
          </a:solidFill>
        </p:spPr>
        <p:txBody>
          <a:bodyPr vert="horz" wrap="square" lIns="91424" tIns="91424" rIns="91424" bIns="91424" anchor="t" anchorCtr="0">
            <a:noAutofit/>
          </a:bodyPr>
          <a:lstStyle/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kumimoji="0" lang="en-US" altLang="ko-KR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4.</a:t>
            </a:r>
            <a:r>
              <a:rPr kumimoji="0" lang="ko-KR" altLang="en-US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 업무 흐름도 </a:t>
            </a:r>
            <a:r>
              <a:rPr kumimoji="0" lang="en-US" altLang="ko-KR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세부</a:t>
            </a:r>
            <a:r>
              <a:rPr kumimoji="0" lang="en-US" altLang="ko-KR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>
                <a:latin typeface="KoPub돋움체 Medium"/>
                <a:ea typeface="KoPub돋움체 Medium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9</a:t>
            </a:fld>
            <a:endParaRPr lang="en-US" altLang="ko">
              <a:latin typeface="KoPub돋움체 Medium"/>
              <a:ea typeface="KoPub돋움체 Medium"/>
            </a:endParaRPr>
          </a:p>
        </p:txBody>
      </p:sp>
      <p:sp>
        <p:nvSpPr>
          <p:cNvPr id="126" name="Rectangle 24"/>
          <p:cNvSpPr>
            <a:spLocks noChangeArrowheads="1"/>
          </p:cNvSpPr>
          <p:nvPr/>
        </p:nvSpPr>
        <p:spPr>
          <a:xfrm>
            <a:off x="179512" y="775399"/>
            <a:ext cx="8563034" cy="4121728"/>
          </a:xfrm>
          <a:prstGeom prst="rect">
            <a:avLst/>
          </a:prstGeom>
          <a:noFill/>
          <a:ln w="9525" algn="ctr">
            <a:solidFill>
              <a:sysClr val="windowText" lastClr="000000"/>
            </a:solidFill>
            <a:miter/>
          </a:ln>
        </p:spPr>
        <p:txBody>
          <a:bodyPr wrap="none" anchor="ctr"/>
          <a:lstStyle/>
          <a:p>
            <a:pPr marL="0" marR="0" lvl="0" indent="0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400" b="0" i="0" u="none" strike="noStrike" kern="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graphicFrame>
        <p:nvGraphicFramePr>
          <p:cNvPr id="127" name="Group 3"/>
          <p:cNvGraphicFramePr>
            <a:graphicFrameLocks noGrp="1"/>
          </p:cNvGraphicFramePr>
          <p:nvPr/>
        </p:nvGraphicFramePr>
        <p:xfrm>
          <a:off x="190375" y="505635"/>
          <a:ext cx="8560488" cy="247176"/>
        </p:xfrm>
        <a:graphic>
          <a:graphicData uri="http://schemas.openxmlformats.org/drawingml/2006/table">
            <a:tbl>
              <a:tblPr firstRow="1" bandRow="1"/>
              <a:tblGrid>
                <a:gridCol w="112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0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3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26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394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821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0" lang="en-US" altLang="ko-KR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Sub-Process ID</a:t>
                      </a:r>
                      <a:endParaRPr kumimoji="0" lang="en-US" altLang="ko-KR" sz="1000" b="0" i="0" u="none" strike="noStrike" cap="none" normalizeH="0" baseline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just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en-US" altLang="ko-KR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PRJ-01</a:t>
                      </a:r>
                      <a:endParaRPr kumimoji="1" lang="ko-KR" altLang="en-US" sz="1000" b="0" i="0" u="none" strike="noStrike" cap="none" normalizeH="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0" lang="en-US" altLang="ko-KR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Sub-Process</a:t>
                      </a:r>
                      <a:r>
                        <a:rPr kumimoji="0" lang="ko-KR" altLang="en-US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 </a:t>
                      </a:r>
                      <a:r>
                        <a:rPr kumimoji="0" lang="en-US" altLang="ko-KR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Name</a:t>
                      </a:r>
                      <a:endParaRPr kumimoji="0" lang="en-US" altLang="ko-KR" sz="1000" b="0" i="0" u="none" strike="noStrike" cap="none" normalizeH="0" baseline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just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로그인 </a:t>
                      </a:r>
                      <a:r>
                        <a:rPr kumimoji="1" lang="en-US" altLang="ko-KR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&amp;</a:t>
                      </a:r>
                      <a:r>
                        <a:rPr kumimoji="1" lang="ko-KR" altLang="en-US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 로그 아웃</a:t>
                      </a:r>
                      <a:endParaRPr kumimoji="1" lang="ko-KR" altLang="en-US" sz="1000" b="0" i="0" u="none" strike="noStrike" cap="none" normalizeH="0" baseline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0" lang="ko-KR" altLang="en-US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정의</a:t>
                      </a:r>
                      <a:endParaRPr kumimoji="0" lang="ko-KR" altLang="en-US" sz="1000" b="0" i="0" u="none" strike="noStrike" cap="none" normalizeH="0" baseline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just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0" lang="ko-KR" altLang="en-US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시작 시 로그인</a:t>
                      </a:r>
                      <a:r>
                        <a:rPr kumimoji="0" lang="en-US" altLang="ko-KR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,</a:t>
                      </a:r>
                      <a:r>
                        <a:rPr kumimoji="0" lang="ko-KR" altLang="en-US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 계정 생성</a:t>
                      </a:r>
                      <a:r>
                        <a:rPr kumimoji="0" lang="en-US" altLang="ko-KR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,</a:t>
                      </a:r>
                      <a:r>
                        <a:rPr kumimoji="0" lang="ko-KR" altLang="en-US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 로그아웃 과정</a:t>
                      </a:r>
                      <a:endParaRPr kumimoji="0" lang="ko-KR" altLang="en-US" sz="1000" b="0" i="0" u="none" strike="noStrike" cap="none" normalizeH="0" baseline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8" name="직사각형 127"/>
          <p:cNvSpPr/>
          <p:nvPr/>
        </p:nvSpPr>
        <p:spPr>
          <a:xfrm>
            <a:off x="188650" y="777720"/>
            <a:ext cx="1128204" cy="4105922"/>
          </a:xfrm>
          <a:prstGeom prst="rect">
            <a:avLst/>
          </a:prstGeom>
          <a:noFill/>
          <a:ln w="12700"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1" name="TextBox 130"/>
          <p:cNvSpPr txBox="1"/>
          <p:nvPr/>
        </p:nvSpPr>
        <p:spPr>
          <a:xfrm>
            <a:off x="440588" y="2271528"/>
            <a:ext cx="650977" cy="2983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400">
                <a:latin typeface="KoPub돋움체 Light"/>
                <a:ea typeface="KoPub돋움체 Light"/>
                <a:cs typeface="+mn-cs"/>
              </a:rPr>
              <a:t>로그인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487" y="3725990"/>
            <a:ext cx="808889" cy="720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>
                <a:latin typeface="KoPub돋움체 Light"/>
                <a:ea typeface="KoPub돋움체 Light"/>
                <a:cs typeface="+mn-cs"/>
              </a:rPr>
              <a:t>메인메뉴 </a:t>
            </a:r>
            <a:r>
              <a:rPr lang="en-US" altLang="ko-KR" sz="1400">
                <a:latin typeface="KoPub돋움체 Light"/>
                <a:ea typeface="KoPub돋움체 Light"/>
                <a:cs typeface="+mn-cs"/>
              </a:rPr>
              <a:t>&amp;</a:t>
            </a:r>
            <a:r>
              <a:rPr lang="ko-KR" altLang="en-US" sz="1400">
                <a:latin typeface="KoPub돋움체 Light"/>
                <a:ea typeface="KoPub돋움체 Light"/>
                <a:cs typeface="+mn-cs"/>
              </a:rPr>
              <a:t> 로그아웃</a:t>
            </a:r>
          </a:p>
        </p:txBody>
      </p:sp>
      <p:pic>
        <p:nvPicPr>
          <p:cNvPr id="141" name="그림 14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58565" y="860378"/>
            <a:ext cx="5341290" cy="3980551"/>
          </a:xfrm>
          <a:prstGeom prst="rect">
            <a:avLst/>
          </a:prstGeom>
        </p:spPr>
      </p:pic>
      <p:sp>
        <p:nvSpPr>
          <p:cNvPr id="142" name="직사각형 129"/>
          <p:cNvSpPr/>
          <p:nvPr/>
        </p:nvSpPr>
        <p:spPr>
          <a:xfrm>
            <a:off x="223630" y="1684937"/>
            <a:ext cx="8479906" cy="1577745"/>
          </a:xfrm>
          <a:prstGeom prst="rect">
            <a:avLst/>
          </a:prstGeom>
          <a:noFill/>
          <a:ln w="9525">
            <a:solidFill>
              <a:schemeClr val="dk1"/>
            </a:solidFill>
            <a:prstDash val="sysDot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3" name="직사각형 129"/>
          <p:cNvSpPr/>
          <p:nvPr/>
        </p:nvSpPr>
        <p:spPr>
          <a:xfrm>
            <a:off x="223503" y="817509"/>
            <a:ext cx="8479906" cy="867071"/>
          </a:xfrm>
          <a:prstGeom prst="rect">
            <a:avLst/>
          </a:prstGeom>
          <a:noFill/>
          <a:ln w="9525">
            <a:solidFill>
              <a:schemeClr val="dk1"/>
            </a:solidFill>
            <a:prstDash val="sysDot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4" name="직사각형 131"/>
          <p:cNvSpPr/>
          <p:nvPr/>
        </p:nvSpPr>
        <p:spPr>
          <a:xfrm>
            <a:off x="228440" y="3264242"/>
            <a:ext cx="8476855" cy="1595358"/>
          </a:xfrm>
          <a:prstGeom prst="rect">
            <a:avLst/>
          </a:prstGeom>
          <a:noFill/>
          <a:ln w="9525">
            <a:solidFill>
              <a:schemeClr val="dk1"/>
            </a:solidFill>
            <a:prstDash val="sysDot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5" name="TextBox 130"/>
          <p:cNvSpPr txBox="1"/>
          <p:nvPr/>
        </p:nvSpPr>
        <p:spPr>
          <a:xfrm>
            <a:off x="331420" y="1086479"/>
            <a:ext cx="868473" cy="2927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>
                <a:latin typeface="KoPub돋움체 Light"/>
                <a:ea typeface="KoPub돋움체 Light"/>
                <a:cs typeface="+mn-cs"/>
              </a:rPr>
              <a:t>회원 확인</a:t>
            </a:r>
          </a:p>
        </p:txBody>
      </p:sp>
      <p:sp>
        <p:nvSpPr>
          <p:cNvPr id="147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/>
          </a:solidFill>
        </p:spPr>
        <p:txBody>
          <a:bodyPr vert="horz" wrap="square" lIns="91424" tIns="91424" rIns="91424" bIns="91424" anchor="t" anchorCtr="0">
            <a:noAutofit/>
          </a:bodyPr>
          <a:lstStyle/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kumimoji="0" lang="en-US" altLang="ko-KR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4.</a:t>
            </a:r>
            <a:r>
              <a:rPr kumimoji="0" lang="ko-KR" altLang="en-US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 업무 흐름도 </a:t>
            </a:r>
            <a:r>
              <a:rPr kumimoji="0" lang="en-US" altLang="ko-KR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세부</a:t>
            </a:r>
            <a:r>
              <a:rPr kumimoji="0" lang="en-US" altLang="ko-KR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>
                <a:latin typeface="KoPub돋움체 Medium"/>
                <a:ea typeface="KoPub돋움체 Medium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10</a:t>
            </a:fld>
            <a:endParaRPr lang="en-US" altLang="ko">
              <a:latin typeface="KoPub돋움체 Medium"/>
              <a:ea typeface="KoPub돋움체 Medium"/>
            </a:endParaRPr>
          </a:p>
        </p:txBody>
      </p:sp>
      <p:sp>
        <p:nvSpPr>
          <p:cNvPr id="126" name="Rectangle 24"/>
          <p:cNvSpPr>
            <a:spLocks noChangeArrowheads="1"/>
          </p:cNvSpPr>
          <p:nvPr/>
        </p:nvSpPr>
        <p:spPr>
          <a:xfrm>
            <a:off x="179512" y="775399"/>
            <a:ext cx="8574436" cy="4121728"/>
          </a:xfrm>
          <a:prstGeom prst="rect">
            <a:avLst/>
          </a:prstGeom>
          <a:noFill/>
          <a:ln w="9525" algn="ctr">
            <a:solidFill>
              <a:sysClr val="windowText" lastClr="000000"/>
            </a:solidFill>
            <a:miter/>
          </a:ln>
        </p:spPr>
        <p:txBody>
          <a:bodyPr wrap="none" anchor="ctr"/>
          <a:lstStyle/>
          <a:p>
            <a:pPr marL="0" marR="0" lvl="0" indent="0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400" b="0" i="0" u="none" strike="noStrike" kern="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graphicFrame>
        <p:nvGraphicFramePr>
          <p:cNvPr id="127" name="Group 3"/>
          <p:cNvGraphicFramePr>
            <a:graphicFrameLocks noGrp="1"/>
          </p:cNvGraphicFramePr>
          <p:nvPr/>
        </p:nvGraphicFramePr>
        <p:xfrm>
          <a:off x="190375" y="505635"/>
          <a:ext cx="8560488" cy="247176"/>
        </p:xfrm>
        <a:graphic>
          <a:graphicData uri="http://schemas.openxmlformats.org/drawingml/2006/table">
            <a:tbl>
              <a:tblPr firstRow="1" bandRow="1"/>
              <a:tblGrid>
                <a:gridCol w="112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0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3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26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394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821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0" lang="en-US" altLang="ko-KR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Sub-Process ID</a:t>
                      </a:r>
                      <a:endParaRPr kumimoji="0" lang="en-US" altLang="ko-KR" sz="1000" b="0" i="0" u="none" strike="noStrike" cap="none" normalizeH="0" baseline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just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en-US" altLang="ko-KR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PRJ-02</a:t>
                      </a:r>
                      <a:endParaRPr kumimoji="1" lang="ko-KR" altLang="en-US" sz="1000" b="0" i="0" u="none" strike="noStrike" cap="none" normalizeH="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0" lang="en-US" altLang="ko-KR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Sub-Process</a:t>
                      </a:r>
                      <a:r>
                        <a:rPr kumimoji="0" lang="ko-KR" altLang="en-US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 </a:t>
                      </a:r>
                      <a:r>
                        <a:rPr kumimoji="0" lang="en-US" altLang="ko-KR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Name</a:t>
                      </a:r>
                      <a:endParaRPr kumimoji="0" lang="en-US" altLang="ko-KR" sz="1000" b="0" i="0" u="none" strike="noStrike" cap="none" normalizeH="0" baseline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just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음식 사진 분석</a:t>
                      </a:r>
                      <a:endParaRPr kumimoji="1" lang="ko-KR" altLang="en-US" sz="1000" b="0" i="0" u="none" strike="noStrike" cap="none" normalizeH="0" baseline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0" lang="ko-KR" altLang="en-US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정의</a:t>
                      </a:r>
                      <a:endParaRPr kumimoji="0" lang="ko-KR" altLang="en-US" sz="1000" b="0" i="0" u="none" strike="noStrike" cap="none" normalizeH="0" baseline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just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0" lang="ko-KR" altLang="en-US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사진을 분석하여 음식을 판별</a:t>
                      </a:r>
                      <a:endParaRPr kumimoji="0" lang="ko-KR" altLang="en-US" sz="1000" b="0" i="0" u="none" strike="noStrike" cap="none" normalizeH="0" baseline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8" name="직사각형 127"/>
          <p:cNvSpPr/>
          <p:nvPr/>
        </p:nvSpPr>
        <p:spPr>
          <a:xfrm>
            <a:off x="188650" y="777720"/>
            <a:ext cx="1128204" cy="4105922"/>
          </a:xfrm>
          <a:prstGeom prst="rect">
            <a:avLst/>
          </a:prstGeom>
          <a:noFill/>
          <a:ln w="12700"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1" name="TextBox 130"/>
          <p:cNvSpPr txBox="1"/>
          <p:nvPr/>
        </p:nvSpPr>
        <p:spPr>
          <a:xfrm>
            <a:off x="348112" y="1433058"/>
            <a:ext cx="867278" cy="2985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400">
                <a:latin typeface="KoPub돋움체 Light"/>
                <a:ea typeface="KoPub돋움체 Light"/>
                <a:cs typeface="+mn-cs"/>
              </a:rPr>
              <a:t>사진 입력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42877" y="3055874"/>
            <a:ext cx="873622" cy="2950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>
                <a:latin typeface="KoPub돋움체 Light"/>
                <a:ea typeface="KoPub돋움체 Light"/>
                <a:cs typeface="+mn-cs"/>
              </a:rPr>
              <a:t>음식 판별</a:t>
            </a:r>
          </a:p>
        </p:txBody>
      </p:sp>
      <p:sp>
        <p:nvSpPr>
          <p:cNvPr id="138" name="TextBox 132"/>
          <p:cNvSpPr txBox="1"/>
          <p:nvPr/>
        </p:nvSpPr>
        <p:spPr>
          <a:xfrm>
            <a:off x="315941" y="4185512"/>
            <a:ext cx="873622" cy="5179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400">
                <a:latin typeface="KoPub돋움체 Light"/>
                <a:ea typeface="KoPub돋움체 Light"/>
                <a:cs typeface="+mn-cs"/>
              </a:rPr>
              <a:t>섭취량 분석</a:t>
            </a:r>
          </a:p>
        </p:txBody>
      </p:sp>
      <p:pic>
        <p:nvPicPr>
          <p:cNvPr id="139" name="그림 13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81183" y="869457"/>
            <a:ext cx="4619717" cy="3950193"/>
          </a:xfrm>
          <a:prstGeom prst="rect">
            <a:avLst/>
          </a:prstGeom>
        </p:spPr>
      </p:pic>
      <p:sp>
        <p:nvSpPr>
          <p:cNvPr id="14" name="직사각형 129"/>
          <p:cNvSpPr/>
          <p:nvPr/>
        </p:nvSpPr>
        <p:spPr>
          <a:xfrm>
            <a:off x="232879" y="2371475"/>
            <a:ext cx="8470682" cy="1668745"/>
          </a:xfrm>
          <a:prstGeom prst="rect">
            <a:avLst/>
          </a:prstGeom>
          <a:noFill/>
          <a:ln w="9525">
            <a:solidFill>
              <a:schemeClr val="dk1"/>
            </a:solidFill>
            <a:prstDash val="sysDot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직사각형 129"/>
          <p:cNvSpPr/>
          <p:nvPr/>
        </p:nvSpPr>
        <p:spPr>
          <a:xfrm>
            <a:off x="232879" y="4070056"/>
            <a:ext cx="8475444" cy="758656"/>
          </a:xfrm>
          <a:prstGeom prst="rect">
            <a:avLst/>
          </a:prstGeom>
          <a:noFill/>
          <a:ln w="9525">
            <a:solidFill>
              <a:schemeClr val="dk1"/>
            </a:solidFill>
            <a:prstDash val="sysDot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직사각형 129"/>
          <p:cNvSpPr/>
          <p:nvPr/>
        </p:nvSpPr>
        <p:spPr>
          <a:xfrm>
            <a:off x="232879" y="817729"/>
            <a:ext cx="8472785" cy="1531158"/>
          </a:xfrm>
          <a:prstGeom prst="rect">
            <a:avLst/>
          </a:prstGeom>
          <a:noFill/>
          <a:ln w="9525">
            <a:solidFill>
              <a:schemeClr val="dk1"/>
            </a:solidFill>
            <a:prstDash val="sysDot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0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/>
          </a:solidFill>
        </p:spPr>
        <p:txBody>
          <a:bodyPr vert="horz" wrap="square" lIns="91424" tIns="91424" rIns="91424" bIns="91424" anchor="t" anchorCtr="0">
            <a:noAutofit/>
          </a:bodyPr>
          <a:lstStyle/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kumimoji="0" lang="en-US" altLang="ko-KR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4.</a:t>
            </a:r>
            <a:r>
              <a:rPr kumimoji="0" lang="ko-KR" altLang="en-US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 업무 흐름도 </a:t>
            </a:r>
            <a:r>
              <a:rPr kumimoji="0" lang="en-US" altLang="ko-KR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세부</a:t>
            </a:r>
            <a:r>
              <a:rPr kumimoji="0" lang="en-US" altLang="ko-KR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>
                <a:latin typeface="KoPub돋움체 Medium"/>
                <a:ea typeface="KoPub돋움체 Medium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11</a:t>
            </a:fld>
            <a:endParaRPr lang="en-US" altLang="ko">
              <a:latin typeface="KoPub돋움체 Medium"/>
              <a:ea typeface="KoPub돋움체 Medium"/>
            </a:endParaRPr>
          </a:p>
        </p:txBody>
      </p:sp>
      <p:sp>
        <p:nvSpPr>
          <p:cNvPr id="126" name="Rectangle 24"/>
          <p:cNvSpPr>
            <a:spLocks noChangeArrowheads="1"/>
          </p:cNvSpPr>
          <p:nvPr/>
        </p:nvSpPr>
        <p:spPr>
          <a:xfrm>
            <a:off x="179512" y="775399"/>
            <a:ext cx="8563034" cy="4121728"/>
          </a:xfrm>
          <a:prstGeom prst="rect">
            <a:avLst/>
          </a:prstGeom>
          <a:noFill/>
          <a:ln w="9525" algn="ctr">
            <a:solidFill>
              <a:sysClr val="windowText" lastClr="000000"/>
            </a:solidFill>
            <a:miter/>
          </a:ln>
        </p:spPr>
        <p:txBody>
          <a:bodyPr wrap="none" anchor="ctr"/>
          <a:lstStyle/>
          <a:p>
            <a:pPr marL="0" marR="0" lvl="0" indent="0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400" b="0" i="0" u="none" strike="noStrike" kern="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graphicFrame>
        <p:nvGraphicFramePr>
          <p:cNvPr id="127" name="Group 3"/>
          <p:cNvGraphicFramePr>
            <a:graphicFrameLocks noGrp="1"/>
          </p:cNvGraphicFramePr>
          <p:nvPr/>
        </p:nvGraphicFramePr>
        <p:xfrm>
          <a:off x="190375" y="505635"/>
          <a:ext cx="8560488" cy="247176"/>
        </p:xfrm>
        <a:graphic>
          <a:graphicData uri="http://schemas.openxmlformats.org/drawingml/2006/table">
            <a:tbl>
              <a:tblPr firstRow="1" bandRow="1"/>
              <a:tblGrid>
                <a:gridCol w="112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0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3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26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394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821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0" lang="en-US" altLang="ko-KR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Sub-Process ID</a:t>
                      </a:r>
                      <a:endParaRPr kumimoji="0" lang="en-US" altLang="ko-KR" sz="1000" b="0" i="0" u="none" strike="noStrike" cap="none" normalizeH="0" baseline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just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en-US" altLang="ko-KR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PRJ-03</a:t>
                      </a:r>
                      <a:endParaRPr kumimoji="1" lang="en-US" altLang="ko-KR" sz="1000" b="0" i="0" u="none" strike="noStrike" cap="none" normalizeH="0" baseline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0" lang="en-US" altLang="ko-KR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Sub-Process</a:t>
                      </a:r>
                      <a:r>
                        <a:rPr kumimoji="0" lang="ko-KR" altLang="en-US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 </a:t>
                      </a:r>
                      <a:r>
                        <a:rPr kumimoji="0" lang="en-US" altLang="ko-KR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Name</a:t>
                      </a:r>
                      <a:endParaRPr kumimoji="0" lang="en-US" altLang="ko-KR" sz="1000" b="0" i="0" u="none" strike="noStrike" cap="none" normalizeH="0" baseline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just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예측 모델 구성</a:t>
                      </a:r>
                      <a:endParaRPr kumimoji="1" lang="ko-KR" altLang="en-US" sz="1000" b="0" i="0" u="none" strike="noStrike" cap="none" normalizeH="0" baseline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0" lang="ko-KR" altLang="en-US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정의</a:t>
                      </a:r>
                      <a:endParaRPr kumimoji="0" lang="ko-KR" altLang="en-US" sz="1000" b="0" i="0" u="none" strike="noStrike" cap="none" normalizeH="0" baseline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just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0" lang="ko-KR" altLang="en-US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데이터셋에 따른 예측 모델 생성</a:t>
                      </a:r>
                      <a:endParaRPr kumimoji="0" lang="ko-KR" altLang="en-US" sz="1000" b="0" i="0" u="none" strike="noStrike" cap="none" normalizeH="0" baseline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8" name="직사각형 127"/>
          <p:cNvSpPr/>
          <p:nvPr/>
        </p:nvSpPr>
        <p:spPr>
          <a:xfrm>
            <a:off x="188650" y="777720"/>
            <a:ext cx="1128204" cy="4105922"/>
          </a:xfrm>
          <a:prstGeom prst="rect">
            <a:avLst/>
          </a:prstGeom>
          <a:noFill/>
          <a:ln w="12700"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1" name="TextBox 130"/>
          <p:cNvSpPr txBox="1"/>
          <p:nvPr/>
        </p:nvSpPr>
        <p:spPr>
          <a:xfrm>
            <a:off x="338864" y="2313054"/>
            <a:ext cx="860527" cy="513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>
                <a:latin typeface="KoPub돋움체 Light"/>
                <a:ea typeface="KoPub돋움체 Light"/>
                <a:cs typeface="+mn-cs"/>
              </a:rPr>
              <a:t>모델링 및</a:t>
            </a:r>
          </a:p>
          <a:p>
            <a:pPr>
              <a:defRPr/>
            </a:pPr>
            <a:r>
              <a:rPr lang="ko-KR" altLang="en-US" sz="1400">
                <a:latin typeface="KoPub돋움체 Light"/>
                <a:ea typeface="KoPub돋움체 Light"/>
                <a:cs typeface="+mn-cs"/>
              </a:rPr>
              <a:t>학습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74734" y="3790723"/>
            <a:ext cx="808889" cy="5126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>
                <a:latin typeface="KoPub돋움체 Light"/>
                <a:ea typeface="KoPub돋움체 Light"/>
                <a:cs typeface="+mn-cs"/>
              </a:rPr>
              <a:t>평가 및 배포</a:t>
            </a:r>
          </a:p>
        </p:txBody>
      </p:sp>
      <p:sp>
        <p:nvSpPr>
          <p:cNvPr id="145" name="TextBox 130"/>
          <p:cNvSpPr txBox="1"/>
          <p:nvPr/>
        </p:nvSpPr>
        <p:spPr>
          <a:xfrm>
            <a:off x="331420" y="1086479"/>
            <a:ext cx="868473" cy="511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>
                <a:latin typeface="KoPub돋움체 Light"/>
                <a:ea typeface="KoPub돋움체 Light"/>
                <a:cs typeface="+mn-cs"/>
              </a:rPr>
              <a:t>데이터 준비</a:t>
            </a:r>
          </a:p>
        </p:txBody>
      </p:sp>
      <p:pic>
        <p:nvPicPr>
          <p:cNvPr id="146" name="그림 14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933483" y="1079327"/>
            <a:ext cx="5851033" cy="3220336"/>
          </a:xfrm>
          <a:prstGeom prst="rect">
            <a:avLst/>
          </a:prstGeom>
        </p:spPr>
      </p:pic>
      <p:sp>
        <p:nvSpPr>
          <p:cNvPr id="147" name="직사각형 129"/>
          <p:cNvSpPr/>
          <p:nvPr/>
        </p:nvSpPr>
        <p:spPr>
          <a:xfrm>
            <a:off x="223503" y="817508"/>
            <a:ext cx="8479906" cy="1089013"/>
          </a:xfrm>
          <a:prstGeom prst="rect">
            <a:avLst/>
          </a:prstGeom>
          <a:noFill/>
          <a:ln w="9525">
            <a:solidFill>
              <a:schemeClr val="dk1"/>
            </a:solidFill>
            <a:prstDash val="sysDot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8" name="직사각형 129"/>
          <p:cNvSpPr/>
          <p:nvPr/>
        </p:nvSpPr>
        <p:spPr>
          <a:xfrm>
            <a:off x="223630" y="1905775"/>
            <a:ext cx="8479906" cy="1411783"/>
          </a:xfrm>
          <a:prstGeom prst="rect">
            <a:avLst/>
          </a:prstGeom>
          <a:noFill/>
          <a:ln w="9525">
            <a:solidFill>
              <a:schemeClr val="dk1"/>
            </a:solidFill>
            <a:prstDash val="sysDot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9" name="직사각형 131"/>
          <p:cNvSpPr/>
          <p:nvPr/>
        </p:nvSpPr>
        <p:spPr>
          <a:xfrm>
            <a:off x="223677" y="3319118"/>
            <a:ext cx="8481618" cy="1540481"/>
          </a:xfrm>
          <a:prstGeom prst="rect">
            <a:avLst/>
          </a:prstGeom>
          <a:noFill/>
          <a:ln w="9525">
            <a:solidFill>
              <a:schemeClr val="dk1"/>
            </a:solidFill>
            <a:prstDash val="sysDot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0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/>
          </a:solidFill>
        </p:spPr>
        <p:txBody>
          <a:bodyPr vert="horz" wrap="square" lIns="91424" tIns="91424" rIns="91424" bIns="91424" anchor="t" anchorCtr="0">
            <a:noAutofit/>
          </a:bodyPr>
          <a:lstStyle/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kumimoji="0" lang="en-US" altLang="ko-KR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4.</a:t>
            </a:r>
            <a:r>
              <a:rPr kumimoji="0" lang="ko-KR" altLang="en-US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 업무 흐름도 </a:t>
            </a:r>
            <a:r>
              <a:rPr kumimoji="0" lang="en-US" altLang="ko-KR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세부</a:t>
            </a:r>
            <a:r>
              <a:rPr kumimoji="0" lang="en-US" altLang="ko-KR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>
                <a:latin typeface="KoPub돋움체 Medium"/>
                <a:ea typeface="KoPub돋움체 Medium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12</a:t>
            </a:fld>
            <a:endParaRPr lang="en-US" altLang="ko">
              <a:latin typeface="KoPub돋움체 Medium"/>
              <a:ea typeface="KoPub돋움체 Medium"/>
            </a:endParaRPr>
          </a:p>
        </p:txBody>
      </p:sp>
      <p:sp>
        <p:nvSpPr>
          <p:cNvPr id="126" name="Rectangle 24"/>
          <p:cNvSpPr>
            <a:spLocks noChangeArrowheads="1"/>
          </p:cNvSpPr>
          <p:nvPr/>
        </p:nvSpPr>
        <p:spPr>
          <a:xfrm>
            <a:off x="179512" y="775399"/>
            <a:ext cx="8563034" cy="4121728"/>
          </a:xfrm>
          <a:prstGeom prst="rect">
            <a:avLst/>
          </a:prstGeom>
          <a:noFill/>
          <a:ln w="9525" algn="ctr">
            <a:solidFill>
              <a:sysClr val="windowText" lastClr="000000"/>
            </a:solidFill>
            <a:miter/>
          </a:ln>
        </p:spPr>
        <p:txBody>
          <a:bodyPr wrap="none" anchor="ctr"/>
          <a:lstStyle/>
          <a:p>
            <a:pPr marL="0" marR="0" lvl="0" indent="0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400" b="0" i="0" u="none" strike="noStrike" kern="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graphicFrame>
        <p:nvGraphicFramePr>
          <p:cNvPr id="127" name="Group 3"/>
          <p:cNvGraphicFramePr>
            <a:graphicFrameLocks noGrp="1"/>
          </p:cNvGraphicFramePr>
          <p:nvPr/>
        </p:nvGraphicFramePr>
        <p:xfrm>
          <a:off x="190375" y="505635"/>
          <a:ext cx="8560488" cy="247176"/>
        </p:xfrm>
        <a:graphic>
          <a:graphicData uri="http://schemas.openxmlformats.org/drawingml/2006/table">
            <a:tbl>
              <a:tblPr firstRow="1" bandRow="1"/>
              <a:tblGrid>
                <a:gridCol w="112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0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3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26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394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821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0" lang="en-US" altLang="ko-KR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Sub-Process ID</a:t>
                      </a:r>
                      <a:endParaRPr kumimoji="0" lang="en-US" altLang="ko-KR" sz="1000" b="0" i="0" u="none" strike="noStrike" cap="none" normalizeH="0" baseline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just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en-US" altLang="ko-KR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PRJ-04</a:t>
                      </a:r>
                      <a:endParaRPr kumimoji="1" lang="en-US" altLang="ko-KR" sz="1000" b="0" i="0" u="none" strike="noStrike" cap="none" normalizeH="0" baseline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0" lang="en-US" altLang="ko-KR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Sub-Process</a:t>
                      </a:r>
                      <a:r>
                        <a:rPr kumimoji="0" lang="ko-KR" altLang="en-US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 </a:t>
                      </a:r>
                      <a:r>
                        <a:rPr kumimoji="0" lang="en-US" altLang="ko-KR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Name</a:t>
                      </a:r>
                      <a:endParaRPr kumimoji="0" lang="en-US" altLang="ko-KR" sz="1000" b="0" i="0" u="none" strike="noStrike" cap="none" normalizeH="0" baseline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just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식단 추천</a:t>
                      </a:r>
                      <a:endParaRPr kumimoji="1" lang="ko-KR" altLang="en-US" sz="1000" b="0" i="0" u="none" strike="noStrike" cap="none" normalizeH="0" baseline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0" lang="ko-KR" altLang="en-US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정의</a:t>
                      </a:r>
                      <a:endParaRPr kumimoji="0" lang="ko-KR" altLang="en-US" sz="1000" b="0" i="0" u="none" strike="noStrike" cap="none" normalizeH="0" baseline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just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0" lang="en-US" altLang="ko-KR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LLM</a:t>
                      </a:r>
                      <a:r>
                        <a:rPr kumimoji="0" lang="ko-KR" altLang="en-US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 모델을 사용한 식단 추천</a:t>
                      </a:r>
                      <a:endParaRPr kumimoji="0" lang="ko-KR" altLang="en-US" sz="1000" b="0" i="0" u="none" strike="noStrike" cap="none" normalizeH="0" baseline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2" name="직사각형 127"/>
          <p:cNvSpPr/>
          <p:nvPr/>
        </p:nvSpPr>
        <p:spPr>
          <a:xfrm>
            <a:off x="188650" y="777720"/>
            <a:ext cx="1128204" cy="4105922"/>
          </a:xfrm>
          <a:prstGeom prst="rect">
            <a:avLst/>
          </a:prstGeom>
          <a:noFill/>
          <a:ln w="12700"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3" name="TextBox 130"/>
          <p:cNvSpPr txBox="1"/>
          <p:nvPr/>
        </p:nvSpPr>
        <p:spPr>
          <a:xfrm>
            <a:off x="449836" y="1274491"/>
            <a:ext cx="651254" cy="295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400">
                <a:latin typeface="KoPub돋움체 Light"/>
                <a:ea typeface="KoPub돋움체 Light"/>
                <a:cs typeface="+mn-cs"/>
              </a:rPr>
              <a:t>사용자</a:t>
            </a:r>
          </a:p>
        </p:txBody>
      </p:sp>
      <p:sp>
        <p:nvSpPr>
          <p:cNvPr id="134" name="TextBox 130"/>
          <p:cNvSpPr txBox="1"/>
          <p:nvPr/>
        </p:nvSpPr>
        <p:spPr>
          <a:xfrm>
            <a:off x="551558" y="2571750"/>
            <a:ext cx="500520" cy="2933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>
                <a:latin typeface="KoPub돋움체 Light"/>
                <a:ea typeface="KoPub돋움체 Light"/>
                <a:cs typeface="+mn-cs"/>
              </a:rPr>
              <a:t>서버</a:t>
            </a:r>
          </a:p>
        </p:txBody>
      </p:sp>
      <p:sp>
        <p:nvSpPr>
          <p:cNvPr id="135" name="TextBox 130"/>
          <p:cNvSpPr txBox="1"/>
          <p:nvPr/>
        </p:nvSpPr>
        <p:spPr>
          <a:xfrm>
            <a:off x="348111" y="4085753"/>
            <a:ext cx="905379" cy="2938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>
                <a:latin typeface="KoPub돋움체 Light"/>
                <a:ea typeface="KoPub돋움체 Light"/>
                <a:cs typeface="+mn-cs"/>
              </a:rPr>
              <a:t>LLM </a:t>
            </a:r>
            <a:r>
              <a:rPr lang="ko-KR" altLang="en-US" sz="1400">
                <a:latin typeface="KoPub돋움체 Light"/>
                <a:ea typeface="KoPub돋움체 Light"/>
                <a:cs typeface="+mn-cs"/>
              </a:rPr>
              <a:t>모델</a:t>
            </a:r>
          </a:p>
        </p:txBody>
      </p:sp>
      <p:pic>
        <p:nvPicPr>
          <p:cNvPr id="137" name="그림 13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56555" y="1481947"/>
            <a:ext cx="4050475" cy="2749087"/>
          </a:xfrm>
          <a:prstGeom prst="rect">
            <a:avLst/>
          </a:prstGeom>
        </p:spPr>
      </p:pic>
      <p:sp>
        <p:nvSpPr>
          <p:cNvPr id="138" name="직사각형 129"/>
          <p:cNvSpPr/>
          <p:nvPr/>
        </p:nvSpPr>
        <p:spPr>
          <a:xfrm>
            <a:off x="228439" y="817509"/>
            <a:ext cx="8474971" cy="1171514"/>
          </a:xfrm>
          <a:prstGeom prst="rect">
            <a:avLst/>
          </a:prstGeom>
          <a:noFill/>
          <a:ln w="9525">
            <a:solidFill>
              <a:schemeClr val="dk1"/>
            </a:solidFill>
            <a:prstDash val="sysDot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9" name="직사각형 131"/>
          <p:cNvSpPr/>
          <p:nvPr/>
        </p:nvSpPr>
        <p:spPr>
          <a:xfrm>
            <a:off x="232878" y="1991050"/>
            <a:ext cx="8476855" cy="1642064"/>
          </a:xfrm>
          <a:prstGeom prst="rect">
            <a:avLst/>
          </a:prstGeom>
          <a:noFill/>
          <a:ln w="9525">
            <a:solidFill>
              <a:schemeClr val="dk1"/>
            </a:solidFill>
            <a:prstDash val="sysDot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0" name="직사각형 131"/>
          <p:cNvSpPr/>
          <p:nvPr/>
        </p:nvSpPr>
        <p:spPr>
          <a:xfrm>
            <a:off x="228440" y="3626983"/>
            <a:ext cx="8476855" cy="1232616"/>
          </a:xfrm>
          <a:prstGeom prst="rect">
            <a:avLst/>
          </a:prstGeom>
          <a:noFill/>
          <a:ln w="9525">
            <a:solidFill>
              <a:schemeClr val="dk1"/>
            </a:solidFill>
            <a:prstDash val="sysDot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1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/>
          </a:solidFill>
        </p:spPr>
        <p:txBody>
          <a:bodyPr vert="horz" wrap="square" lIns="91424" tIns="91424" rIns="91424" bIns="91424" anchor="t" anchorCtr="0">
            <a:noAutofit/>
          </a:bodyPr>
          <a:lstStyle/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kumimoji="0" lang="en-US" altLang="ko-KR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4.</a:t>
            </a:r>
            <a:r>
              <a:rPr kumimoji="0" lang="ko-KR" altLang="en-US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 업무 흐름도 </a:t>
            </a:r>
            <a:r>
              <a:rPr kumimoji="0" lang="en-US" altLang="ko-KR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세부</a:t>
            </a:r>
            <a:r>
              <a:rPr kumimoji="0" lang="en-US" altLang="ko-KR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>
                <a:latin typeface="KoPub돋움체 Medium"/>
                <a:ea typeface="KoPub돋움체 Medium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13</a:t>
            </a:fld>
            <a:endParaRPr lang="en-US" altLang="ko">
              <a:latin typeface="KoPub돋움체 Medium"/>
              <a:ea typeface="KoPub돋움체 Medium"/>
            </a:endParaRPr>
          </a:p>
        </p:txBody>
      </p:sp>
      <p:sp>
        <p:nvSpPr>
          <p:cNvPr id="126" name="Rectangle 24"/>
          <p:cNvSpPr>
            <a:spLocks noChangeArrowheads="1"/>
          </p:cNvSpPr>
          <p:nvPr/>
        </p:nvSpPr>
        <p:spPr>
          <a:xfrm>
            <a:off x="179512" y="775399"/>
            <a:ext cx="8563034" cy="4121728"/>
          </a:xfrm>
          <a:prstGeom prst="rect">
            <a:avLst/>
          </a:prstGeom>
          <a:noFill/>
          <a:ln w="9525" algn="ctr">
            <a:solidFill>
              <a:sysClr val="windowText" lastClr="000000"/>
            </a:solidFill>
            <a:miter/>
          </a:ln>
        </p:spPr>
        <p:txBody>
          <a:bodyPr wrap="none" anchor="ctr"/>
          <a:lstStyle/>
          <a:p>
            <a:pPr marL="0" marR="0" lvl="0" indent="0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400" b="0" i="0" u="none" strike="noStrike" kern="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graphicFrame>
        <p:nvGraphicFramePr>
          <p:cNvPr id="127" name="Group 3"/>
          <p:cNvGraphicFramePr>
            <a:graphicFrameLocks noGrp="1"/>
          </p:cNvGraphicFramePr>
          <p:nvPr/>
        </p:nvGraphicFramePr>
        <p:xfrm>
          <a:off x="190375" y="505635"/>
          <a:ext cx="8560488" cy="247176"/>
        </p:xfrm>
        <a:graphic>
          <a:graphicData uri="http://schemas.openxmlformats.org/drawingml/2006/table">
            <a:tbl>
              <a:tblPr firstRow="1" bandRow="1"/>
              <a:tblGrid>
                <a:gridCol w="112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0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3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26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394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821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0" lang="en-US" altLang="ko-KR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Sub-Process ID</a:t>
                      </a:r>
                      <a:endParaRPr kumimoji="0" lang="en-US" altLang="ko-KR" sz="1000" b="0" i="0" u="none" strike="noStrike" cap="none" normalizeH="0" baseline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just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en-US" altLang="ko-KR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PRJ-05</a:t>
                      </a:r>
                      <a:endParaRPr kumimoji="1" lang="en-US" altLang="ko-KR" sz="1000" b="0" i="0" u="none" strike="noStrike" cap="none" normalizeH="0" baseline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0" lang="en-US" altLang="ko-KR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Sub-Process</a:t>
                      </a:r>
                      <a:r>
                        <a:rPr kumimoji="0" lang="ko-KR" altLang="en-US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 </a:t>
                      </a:r>
                      <a:r>
                        <a:rPr kumimoji="0" lang="en-US" altLang="ko-KR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Name</a:t>
                      </a:r>
                      <a:endParaRPr kumimoji="0" lang="en-US" altLang="ko-KR" sz="1000" b="0" i="0" u="none" strike="noStrike" cap="none" normalizeH="0" baseline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just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사용자 감정 분석</a:t>
                      </a:r>
                      <a:endParaRPr kumimoji="1" lang="ko-KR" altLang="en-US" sz="1000" b="0" i="0" u="none" strike="noStrike" cap="none" normalizeH="0" baseline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0" lang="ko-KR" altLang="en-US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정의</a:t>
                      </a:r>
                      <a:endParaRPr kumimoji="0" lang="ko-KR" altLang="en-US" sz="1000" b="0" i="0" u="none" strike="noStrike" cap="none" normalizeH="0" baseline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just" defTabSz="914400" rtl="0" eaLnBrk="1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0" lang="ko-KR" altLang="en-US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사용자의 감정</a:t>
                      </a:r>
                      <a:r>
                        <a:rPr kumimoji="0" lang="en-US" altLang="ko-KR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/</a:t>
                      </a:r>
                      <a:r>
                        <a:rPr kumimoji="0" lang="ko-KR" altLang="en-US" sz="1000" b="0" i="0" u="none" strike="noStrike" cap="none" normalizeH="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/>
                        </a:rPr>
                        <a:t>기분에 따른 식단 추천</a:t>
                      </a:r>
                      <a:endParaRPr kumimoji="0" lang="ko-KR" altLang="en-US" sz="1000" b="0" i="0" u="none" strike="noStrike" cap="none" normalizeH="0" baseline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</a:endParaRPr>
                    </a:p>
                  </a:txBody>
                  <a:tcPr marL="90000" marR="90000" marT="46880" marB="46880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8" name="직사각형 127"/>
          <p:cNvSpPr/>
          <p:nvPr/>
        </p:nvSpPr>
        <p:spPr>
          <a:xfrm>
            <a:off x="188650" y="777720"/>
            <a:ext cx="1128204" cy="4105922"/>
          </a:xfrm>
          <a:prstGeom prst="rect">
            <a:avLst/>
          </a:prstGeom>
          <a:noFill/>
          <a:ln w="12700"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1" name="TextBox 130"/>
          <p:cNvSpPr txBox="1"/>
          <p:nvPr/>
        </p:nvSpPr>
        <p:spPr>
          <a:xfrm>
            <a:off x="422910" y="1579661"/>
            <a:ext cx="659130" cy="5139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400">
                <a:latin typeface="KoPub돋움체 Light"/>
                <a:ea typeface="KoPub돋움체 Light"/>
                <a:cs typeface="+mn-cs"/>
              </a:rPr>
              <a:t>사용자</a:t>
            </a:r>
          </a:p>
          <a:p>
            <a:pPr algn="ctr">
              <a:defRPr/>
            </a:pPr>
            <a:r>
              <a:rPr lang="ko-KR" altLang="en-US" sz="1400">
                <a:latin typeface="KoPub돋움체 Light"/>
                <a:ea typeface="KoPub돋움체 Light"/>
                <a:cs typeface="+mn-cs"/>
              </a:rPr>
              <a:t>입력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15558" y="3146939"/>
            <a:ext cx="864374" cy="299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>
                <a:latin typeface="KoPub돋움체 Light"/>
                <a:ea typeface="KoPub돋움체 Light"/>
                <a:cs typeface="+mn-cs"/>
              </a:rPr>
              <a:t>감정 분석</a:t>
            </a:r>
          </a:p>
        </p:txBody>
      </p:sp>
      <p:pic>
        <p:nvPicPr>
          <p:cNvPr id="12" name="Google Shape;126;p23" title="업무흐름도 - 4 감정1.png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>
            <a:off x="3469529" y="832994"/>
            <a:ext cx="2204942" cy="395968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직사각형 129"/>
          <p:cNvSpPr/>
          <p:nvPr/>
        </p:nvSpPr>
        <p:spPr>
          <a:xfrm>
            <a:off x="228440" y="817509"/>
            <a:ext cx="8472416" cy="1888688"/>
          </a:xfrm>
          <a:prstGeom prst="rect">
            <a:avLst/>
          </a:prstGeom>
          <a:noFill/>
          <a:ln w="9525">
            <a:solidFill>
              <a:schemeClr val="dk1"/>
            </a:solidFill>
            <a:prstDash val="sysDot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5" name="직사각형 129"/>
          <p:cNvSpPr/>
          <p:nvPr/>
        </p:nvSpPr>
        <p:spPr>
          <a:xfrm>
            <a:off x="228440" y="2731756"/>
            <a:ext cx="8472416" cy="1047159"/>
          </a:xfrm>
          <a:prstGeom prst="rect">
            <a:avLst/>
          </a:prstGeom>
          <a:noFill/>
          <a:ln w="9525">
            <a:solidFill>
              <a:schemeClr val="dk1"/>
            </a:solidFill>
            <a:prstDash val="sysDot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6" name="직사각형 129"/>
          <p:cNvSpPr/>
          <p:nvPr/>
        </p:nvSpPr>
        <p:spPr>
          <a:xfrm>
            <a:off x="232879" y="3799666"/>
            <a:ext cx="8472416" cy="1056406"/>
          </a:xfrm>
          <a:prstGeom prst="rect">
            <a:avLst/>
          </a:prstGeom>
          <a:noFill/>
          <a:ln w="9525">
            <a:solidFill>
              <a:schemeClr val="dk1"/>
            </a:solidFill>
            <a:prstDash val="sysDot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7" name="TextBox 132"/>
          <p:cNvSpPr txBox="1"/>
          <p:nvPr/>
        </p:nvSpPr>
        <p:spPr>
          <a:xfrm>
            <a:off x="366235" y="4205602"/>
            <a:ext cx="864374" cy="297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>
                <a:latin typeface="KoPub돋움체 Light"/>
                <a:ea typeface="KoPub돋움체 Light"/>
                <a:cs typeface="+mn-cs"/>
              </a:rPr>
              <a:t>음식 추천</a:t>
            </a:r>
          </a:p>
        </p:txBody>
      </p:sp>
      <p:sp>
        <p:nvSpPr>
          <p:cNvPr id="138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/>
          </a:solidFill>
        </p:spPr>
        <p:txBody>
          <a:bodyPr vert="horz" wrap="square" lIns="91424" tIns="91424" rIns="91424" bIns="91424" anchor="t" anchorCtr="0">
            <a:noAutofit/>
          </a:bodyPr>
          <a:lstStyle/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kumimoji="0" lang="en-US" altLang="ko-KR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4.</a:t>
            </a:r>
            <a:r>
              <a:rPr kumimoji="0" lang="ko-KR" altLang="en-US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 업무 흐름도 </a:t>
            </a:r>
            <a:r>
              <a:rPr kumimoji="0" lang="en-US" altLang="ko-KR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세부</a:t>
            </a:r>
            <a:r>
              <a:rPr kumimoji="0" lang="en-US" altLang="ko-KR" sz="1600" b="1" i="0" u="none" strike="noStrike" kern="1200" cap="none" spc="0" normalizeH="0" baseline="0" dirty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;p4"/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>
                <a:latin typeface="KoPub돋움체 Light"/>
                <a:ea typeface="KoPub돋움체 Light"/>
                <a:cs typeface="+mn-cs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14</a:t>
            </a:fld>
            <a:endParaRPr lang="en-US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6" name="Google Shape;68;p15"/>
          <p:cNvSpPr txBox="1">
            <a:spLocks noGrp="1"/>
          </p:cNvSpPr>
          <p:nvPr/>
        </p:nvSpPr>
        <p:spPr>
          <a:xfrm>
            <a:off x="166454" y="875520"/>
            <a:ext cx="4414678" cy="295272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>
              <a:defRPr/>
            </a:pPr>
            <a:r>
              <a:rPr lang="en-US" altLang="ko-KR" sz="1200" b="1">
                <a:latin typeface="KoPub돋움체 Light"/>
                <a:ea typeface="KoPub돋움체 Light"/>
                <a:cs typeface="+mn-cs"/>
              </a:rPr>
              <a:t>■ MobileNetV2: 경량 컨볼루션 신경망(CNN) 모델</a:t>
            </a:r>
            <a:r>
              <a:rPr lang="ko-KR" altLang="en-US" sz="1200" b="1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200" b="1">
                <a:latin typeface="KoPub돋움체 Light"/>
                <a:ea typeface="KoPub돋움체 Light"/>
                <a:cs typeface="+mn-cs"/>
              </a:rPr>
              <a:t>(1) </a:t>
            </a:r>
            <a:endParaRPr lang="en-US" altLang="ko-KR" sz="1200" b="1">
              <a:latin typeface="KoPub돋움체 Light"/>
              <a:ea typeface="KoPub돋움체 Light"/>
              <a:cs typeface="+mn-cs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3662" y="1729100"/>
            <a:ext cx="1960708" cy="767989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372493" y="1719693"/>
            <a:ext cx="3434470" cy="78823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05166" y="3179429"/>
            <a:ext cx="3623471" cy="942882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014623" y="3179429"/>
            <a:ext cx="2566861" cy="1248975"/>
          </a:xfrm>
          <a:prstGeom prst="rect">
            <a:avLst/>
          </a:prstGeom>
        </p:spPr>
      </p:pic>
      <p:sp>
        <p:nvSpPr>
          <p:cNvPr id="13" name="TextBox 6"/>
          <p:cNvSpPr txBox="1"/>
          <p:nvPr/>
        </p:nvSpPr>
        <p:spPr>
          <a:xfrm>
            <a:off x="372117" y="1157222"/>
            <a:ext cx="4944432" cy="547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20" lvl="8" indent="-57120">
              <a:buFont typeface="Arial"/>
              <a:buChar char="•"/>
              <a:defRPr/>
            </a:pPr>
            <a:r>
              <a:rPr lang="ko-KR" altLang="ko-KR" sz="1000">
                <a:latin typeface="KoPub돋움체 Light"/>
                <a:ea typeface="KoPub돋움체 Light"/>
                <a:cs typeface="+mn-cs"/>
              </a:rPr>
              <a:t> Dataset: Food Images (</a:t>
            </a:r>
            <a:r>
              <a:rPr lang="ko-KR" altLang="ko-KR" sz="1000" b="1">
                <a:latin typeface="KoPub돋움체 Light"/>
                <a:ea typeface="KoPub돋움체 Light"/>
                <a:cs typeface="+mn-cs"/>
              </a:rPr>
              <a:t>Food-101</a:t>
            </a:r>
            <a:r>
              <a:rPr lang="ko-KR" altLang="ko-KR" sz="1000">
                <a:latin typeface="KoPub돋움체 Light"/>
                <a:ea typeface="KoPub돋움체 Light"/>
                <a:cs typeface="+mn-cs"/>
              </a:rPr>
              <a:t>)</a:t>
            </a:r>
            <a:endParaRPr lang="ko-KR" altLang="ko-KR" sz="1000">
              <a:latin typeface="KoPub돋움체 Light"/>
              <a:ea typeface="KoPub돋움체 Light"/>
              <a:cs typeface="+mn-cs"/>
            </a:endParaRPr>
          </a:p>
          <a:p>
            <a:pPr marL="0" lvl="8" indent="0">
              <a:buFont typeface="Arial"/>
              <a:buNone/>
              <a:defRPr/>
            </a:pPr>
            <a:r>
              <a:rPr lang="ko-KR" altLang="ko-KR" sz="1000">
                <a:latin typeface="KoPub돋움체 Light"/>
                <a:ea typeface="KoPub돋움체 Light"/>
                <a:cs typeface="+mn-cs"/>
              </a:rPr>
              <a:t> - 101개의 클래스와 10100장의 이미지</a:t>
            </a:r>
            <a:endParaRPr lang="ko-KR" altLang="ko-KR" sz="1000">
              <a:latin typeface="KoPub돋움체 Light"/>
              <a:ea typeface="KoPub돋움체 Light"/>
              <a:cs typeface="+mn-cs"/>
            </a:endParaRPr>
          </a:p>
          <a:p>
            <a:pPr marL="0" lvl="8" indent="0">
              <a:buFont typeface="Arial"/>
              <a:buNone/>
              <a:defRPr/>
            </a:pPr>
            <a:r>
              <a:rPr lang="ko-KR" altLang="ko-KR" sz="1000">
                <a:latin typeface="KoPub돋움체 Light"/>
                <a:ea typeface="KoPub돋움체 Light"/>
                <a:cs typeface="+mn-cs"/>
              </a:rPr>
              <a:t> - 훈련 데이터와 검증데이터 8:2로 분할</a:t>
            </a:r>
            <a:endParaRPr lang="ko-KR" altLang="ko-KR" sz="1000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4" name="TextBox 6"/>
          <p:cNvSpPr txBox="1"/>
          <p:nvPr/>
        </p:nvSpPr>
        <p:spPr>
          <a:xfrm>
            <a:off x="321068" y="2554929"/>
            <a:ext cx="4944433" cy="548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20" lvl="8" indent="-57120">
              <a:buFont typeface="Arial"/>
              <a:buChar char="•"/>
              <a:defRPr/>
            </a:pPr>
            <a:r>
              <a:rPr lang="ko-KR" altLang="ko-KR" sz="1000">
                <a:latin typeface="KoPub돋움체 Light"/>
                <a:ea typeface="KoPub돋움체 Light"/>
                <a:cs typeface="+mn-cs"/>
              </a:rPr>
              <a:t> 모델 구성: 전이 학습(Transfer Learning) 적용</a:t>
            </a:r>
            <a:endParaRPr lang="ko-KR" altLang="ko-KR" sz="1000">
              <a:latin typeface="KoPub돋움체 Light"/>
              <a:ea typeface="KoPub돋움체 Light"/>
              <a:cs typeface="+mn-cs"/>
            </a:endParaRPr>
          </a:p>
          <a:p>
            <a:pPr marL="0" lvl="8" indent="0">
              <a:buFont typeface="Arial"/>
              <a:buNone/>
              <a:defRPr/>
            </a:pPr>
            <a:r>
              <a:rPr lang="ko-KR" altLang="ko-KR" sz="1000">
                <a:latin typeface="KoPub돋움체 Light"/>
                <a:ea typeface="KoPub돋움체 Light"/>
                <a:cs typeface="+mn-cs"/>
              </a:rPr>
              <a:t> - 이미지넷(ImageNet) 데이터셋으로 사전 학습된 가중치 활용</a:t>
            </a:r>
            <a:endParaRPr lang="ko-KR" altLang="ko-KR" sz="1000">
              <a:latin typeface="KoPub돋움체 Light"/>
              <a:ea typeface="KoPub돋움체 Light"/>
              <a:cs typeface="+mn-cs"/>
            </a:endParaRPr>
          </a:p>
          <a:p>
            <a:pPr marL="0" lvl="8" indent="0">
              <a:buFont typeface="Arial"/>
              <a:buNone/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</a:t>
            </a:r>
            <a:r>
              <a:rPr lang="ko-KR" altLang="ko-KR" sz="1000">
                <a:latin typeface="KoPub돋움체 Light"/>
                <a:ea typeface="KoPub돋움체 Light"/>
                <a:cs typeface="+mn-cs"/>
              </a:rPr>
              <a:t>- 사전 학습된 가중치를 미세 조정하도록 설정</a:t>
            </a:r>
            <a:endParaRPr lang="ko-KR" altLang="ko-KR" sz="1000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5" name="TextBox 6"/>
          <p:cNvSpPr txBox="1"/>
          <p:nvPr/>
        </p:nvSpPr>
        <p:spPr>
          <a:xfrm>
            <a:off x="297766" y="4141617"/>
            <a:ext cx="4944432" cy="8491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20" lvl="8" indent="-57120">
              <a:buFont typeface="Arial"/>
              <a:buChar char="•"/>
              <a:defRPr/>
            </a:pPr>
            <a:r>
              <a:rPr lang="ko-KR" altLang="ko-KR" sz="1000">
                <a:latin typeface="KoPub돋움체 Light"/>
                <a:ea typeface="KoPub돋움체 Light"/>
                <a:cs typeface="+mn-cs"/>
              </a:rPr>
              <a:t> 학습 환경 설정</a:t>
            </a:r>
            <a:endParaRPr lang="ko-KR" altLang="ko-KR" sz="1000">
              <a:latin typeface="KoPub돋움체 Light"/>
              <a:ea typeface="KoPub돋움체 Light"/>
              <a:cs typeface="+mn-cs"/>
            </a:endParaRPr>
          </a:p>
          <a:p>
            <a:pPr marL="0" lvl="8" indent="0">
              <a:buFont typeface="Arial"/>
              <a:buNone/>
              <a:defRPr/>
            </a:pPr>
            <a:r>
              <a:rPr lang="ko-KR" altLang="ko-KR" sz="1000">
                <a:latin typeface="KoPub돋움체 Light"/>
                <a:ea typeface="KoPub돋움체 Light"/>
                <a:cs typeface="+mn-cs"/>
              </a:rPr>
              <a:t> - 옵티마이저: Adam 옵티마이저 사용</a:t>
            </a:r>
            <a:endParaRPr lang="ko-KR" altLang="ko-KR" sz="1000">
              <a:latin typeface="KoPub돋움체 Light"/>
              <a:ea typeface="KoPub돋움체 Light"/>
              <a:cs typeface="+mn-cs"/>
            </a:endParaRPr>
          </a:p>
          <a:p>
            <a:pPr marL="0" lvl="8" indent="0">
              <a:buFont typeface="Arial"/>
              <a:buNone/>
              <a:defRPr/>
            </a:pPr>
            <a:r>
              <a:rPr lang="ko-KR" altLang="ko-KR" sz="1000">
                <a:latin typeface="KoPub돋움체 Light"/>
                <a:ea typeface="KoPub돋움체 Light"/>
                <a:cs typeface="+mn-cs"/>
              </a:rPr>
              <a:t> - 학습률: 초기 학습률을 1e-5 (0.00001)로 설정</a:t>
            </a:r>
            <a:endParaRPr lang="ko-KR" altLang="ko-KR" sz="1000">
              <a:latin typeface="KoPub돋움체 Light"/>
              <a:ea typeface="KoPub돋움체 Light"/>
              <a:cs typeface="+mn-cs"/>
            </a:endParaRPr>
          </a:p>
          <a:p>
            <a:pPr marL="0" lvl="8" indent="0">
              <a:buFont typeface="Arial"/>
              <a:buNone/>
              <a:defRPr/>
            </a:pPr>
            <a:r>
              <a:rPr lang="ko-KR" altLang="ko-KR" sz="1000">
                <a:latin typeface="KoPub돋움체 Light"/>
                <a:ea typeface="KoPub돋움체 Light"/>
                <a:cs typeface="+mn-cs"/>
              </a:rPr>
              <a:t> - 에포크 20회로 설정</a:t>
            </a:r>
            <a:endParaRPr lang="ko-KR" altLang="ko-KR" sz="1000">
              <a:latin typeface="KoPub돋움체 Light"/>
              <a:ea typeface="KoPub돋움체 Light"/>
              <a:cs typeface="+mn-cs"/>
            </a:endParaRPr>
          </a:p>
          <a:p>
            <a:pPr marL="0" lvl="8" indent="0">
              <a:buFont typeface="Arial"/>
              <a:buNone/>
              <a:defRPr/>
            </a:pPr>
            <a:r>
              <a:rPr lang="ko-KR" altLang="ko-KR" sz="1000">
                <a:latin typeface="KoPub돋움체 Light"/>
                <a:ea typeface="KoPub돋움체 Light"/>
                <a:cs typeface="+mn-cs"/>
              </a:rPr>
              <a:t> - EarlyStopping을 적용하여 과적합 방지</a:t>
            </a:r>
            <a:endParaRPr lang="ko-KR" altLang="ko-KR" sz="1000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6" name="Google Shape;17;p4"/>
          <p:cNvSpPr>
            <a:spLocks noGrp="1"/>
          </p:cNvSpPr>
          <p:nvPr/>
        </p:nvSpPr>
        <p:spPr>
          <a:xfrm>
            <a:off x="173182" y="555346"/>
            <a:ext cx="8780318" cy="3230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kumimoji="0" lang="en-US" altLang="ko-KR" sz="1400" b="1" i="0" u="none" strike="noStrike" kern="0" cap="none" spc="-5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MobileNetV2</a:t>
            </a:r>
            <a:r>
              <a:rPr kumimoji="0" lang="en-US" altLang="ko-KR" sz="1400" b="1" i="0" u="none" strike="noStrike" kern="0" cap="none" spc="-100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 </a:t>
            </a:r>
            <a:r>
              <a:rPr kumimoji="0" lang="ko-KR" altLang="en-US" sz="1400" b="1" i="0" u="none" strike="noStrike" kern="0" cap="none" spc="-104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모델 </a:t>
            </a:r>
            <a:r>
              <a:rPr kumimoji="0" lang="en-US" altLang="ko-KR" sz="1400" b="1" i="0" u="none" strike="noStrike" kern="0" cap="none" spc="-104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(1)</a:t>
            </a:r>
            <a:endParaRPr kumimoji="0" lang="en-US" altLang="ko-KR" sz="1400" b="1" i="0" u="none" strike="noStrike" kern="0" cap="none" spc="-104" normalizeH="0" baseline="0">
              <a:solidFill>
                <a:schemeClr val="dk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8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/>
          </a:solidFill>
        </p:spPr>
        <p:txBody>
          <a:bodyPr vert="horz" wrap="square" lIns="91424" tIns="91424" rIns="91424" bIns="91424" anchor="t" anchorCtr="0">
            <a:noAutofit/>
          </a:bodyPr>
          <a:lstStyle/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kumimoji="0" lang="en-US" altLang="ko-KR" sz="1600" b="1" i="0" u="none" strike="noStrike" kern="1200" cap="none" spc="0" normalizeH="0" baseline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5. </a:t>
            </a:r>
            <a:r>
              <a:rPr kumimoji="0" lang="ko-KR" altLang="en-US" sz="1600" b="1" i="0" u="none" strike="noStrike" kern="1200" cap="none" spc="0" normalizeH="0" baseline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인공지능 학습 </a:t>
            </a:r>
            <a:r>
              <a:rPr kumimoji="0" lang="en-US" altLang="ko-KR" sz="1600" b="1" i="0" u="none" strike="noStrike" kern="1200" cap="none" spc="0" normalizeH="0" baseline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상세</a:t>
            </a:r>
            <a:r>
              <a:rPr kumimoji="0" lang="en-US" altLang="ko-KR" sz="1600" b="1" i="0" u="none" strike="noStrike" kern="1200" cap="none" spc="0" normalizeH="0" baseline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)</a:t>
            </a:r>
            <a:endParaRPr kumimoji="0" lang="en-US" altLang="ko-KR" sz="1600" b="1" i="0" u="none" strike="noStrike" kern="1200" cap="none" spc="0" normalizeH="0" baseline="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808807" y="889615"/>
            <a:ext cx="3859400" cy="241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1400" indent="-71400">
              <a:buFont typeface="Arial"/>
              <a:buChar char="•"/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학습 결과 시각화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9384" y="889615"/>
            <a:ext cx="3939228" cy="241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20" lvl="8" indent="-57120">
              <a:buFont typeface="Arial"/>
              <a:buChar char="•"/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학습 진행 및 결과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Google Shape;19;p4"/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>
                <a:latin typeface="KoPub돋움체 Light"/>
                <a:ea typeface="KoPub돋움체 Light"/>
                <a:cs typeface="+mn-cs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15</a:t>
            </a:fld>
            <a:endParaRPr lang="en-US">
              <a:latin typeface="KoPub돋움체 Light"/>
              <a:ea typeface="KoPub돋움체 Light"/>
              <a:cs typeface="+mn-cs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22562" y="1116442"/>
            <a:ext cx="3857145" cy="2197209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2562" y="3721074"/>
            <a:ext cx="3481135" cy="50707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863442" y="1169055"/>
            <a:ext cx="3842757" cy="20981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9382" y="4228144"/>
            <a:ext cx="4218709" cy="694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/>
              <a:buNone/>
              <a:defRPr/>
            </a:pP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 - 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훈련 정확도는 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0.8742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까지 상승했으나 검증 정확도가 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0.7177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에서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  <a:p>
            <a:pPr marL="0" indent="0">
              <a:buFont typeface="Arial"/>
              <a:buNone/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더 이상 상승하지 않고 정체됨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  <a:p>
            <a:pPr marL="0" indent="0">
              <a:buFont typeface="Arial"/>
              <a:buNone/>
              <a:defRPr/>
            </a:pP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 - 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훈련 손실은 지속적으로 감소하고 있지만 검증 손실은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 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일정 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  <a:p>
            <a:pPr marL="0" indent="0">
              <a:buFont typeface="Arial"/>
              <a:buNone/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에포크부터 큰 변화가 없음</a:t>
            </a:r>
            <a:endParaRPr lang="ko-KR" altLang="en-US" sz="1000"/>
          </a:p>
        </p:txBody>
      </p:sp>
      <p:sp>
        <p:nvSpPr>
          <p:cNvPr id="20" name="TextBox 11"/>
          <p:cNvSpPr txBox="1"/>
          <p:nvPr/>
        </p:nvSpPr>
        <p:spPr>
          <a:xfrm>
            <a:off x="322562" y="3305069"/>
            <a:ext cx="3984987" cy="3887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8" indent="0">
              <a:buFont typeface="Arial"/>
              <a:buNone/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-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14개 에포크에 걸친 모델의 학습 과정을 보여주며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,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EarlyStopping으로 예정된 에포크보다 일찍 학습 과정을 종료함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1" name="TextBox 14"/>
          <p:cNvSpPr txBox="1"/>
          <p:nvPr/>
        </p:nvSpPr>
        <p:spPr>
          <a:xfrm>
            <a:off x="4905721" y="3427888"/>
            <a:ext cx="3859400" cy="99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Font typeface="Arial"/>
              <a:buNone/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- 모델의 훈련 정확도&amp;손실과 검증 정확도&amp;손실 간의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  <a:p>
            <a:pPr marL="0" indent="0">
              <a:buFont typeface="Arial"/>
              <a:buNone/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간격이 벌어지는 결과가 나옴</a:t>
            </a:r>
            <a:br>
              <a:rPr lang="ko-KR" altLang="en-US" sz="1000">
                <a:latin typeface="KoPub돋움체 Light"/>
                <a:ea typeface="KoPub돋움체 Light"/>
                <a:cs typeface="+mn-cs"/>
              </a:rPr>
            </a:br>
            <a:endParaRPr lang="ko-KR" altLang="en-US" sz="1000">
              <a:latin typeface="KoPub돋움체 Light"/>
              <a:ea typeface="KoPub돋움체 Light"/>
              <a:cs typeface="+mn-cs"/>
            </a:endParaRPr>
          </a:p>
          <a:p>
            <a:pPr marL="0" indent="0">
              <a:buFont typeface="Arial"/>
              <a:buNone/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◆ 결론: 과적합 발생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  <a:p>
            <a:pPr marL="0" indent="0">
              <a:buFont typeface="Arial"/>
              <a:buNone/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  → 모델이 훈련 데이터에 너무 특화되어 새로운 데이터를  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  <a:p>
            <a:pPr marL="0" indent="0">
              <a:buFont typeface="Arial"/>
              <a:buNone/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     잘 처리하지 못하는 상태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3" name="Google Shape;17;p4"/>
          <p:cNvSpPr>
            <a:spLocks noGrp="1"/>
          </p:cNvSpPr>
          <p:nvPr/>
        </p:nvSpPr>
        <p:spPr>
          <a:xfrm>
            <a:off x="173182" y="555346"/>
            <a:ext cx="8780318" cy="3230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kumimoji="0" lang="en-US" altLang="ko-KR" sz="1400" b="1" i="0" u="none" strike="noStrike" kern="0" cap="none" spc="-5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MobileNetV2</a:t>
            </a:r>
            <a:r>
              <a:rPr kumimoji="0" lang="en-US" altLang="ko-KR" sz="1400" b="1" i="0" u="none" strike="noStrike" kern="0" cap="none" spc="-100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 </a:t>
            </a:r>
            <a:r>
              <a:rPr kumimoji="0" lang="ko-KR" altLang="en-US" sz="1400" b="1" i="0" u="none" strike="noStrike" kern="0" cap="none" spc="-104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모델 </a:t>
            </a:r>
            <a:r>
              <a:rPr kumimoji="0" lang="en-US" altLang="ko-KR" sz="1400" b="1" i="0" u="none" strike="noStrike" kern="0" cap="none" spc="-104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(1)</a:t>
            </a:r>
            <a:endParaRPr kumimoji="0" lang="en-US" altLang="ko-KR" sz="1400" b="1" i="0" u="none" strike="noStrike" kern="0" cap="none" spc="-104" normalizeH="0" baseline="0">
              <a:solidFill>
                <a:schemeClr val="dk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5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/>
          </a:solidFill>
        </p:spPr>
        <p:txBody>
          <a:bodyPr vert="horz" wrap="square" lIns="91424" tIns="91424" rIns="91424" bIns="91424" anchor="t" anchorCtr="0">
            <a:noAutofit/>
          </a:bodyPr>
          <a:lstStyle/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kumimoji="0" lang="en-US" altLang="ko-KR" sz="1600" b="1" i="0" u="none" strike="noStrike" kern="1200" cap="none" spc="0" normalizeH="0" baseline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5. </a:t>
            </a:r>
            <a:r>
              <a:rPr kumimoji="0" lang="ko-KR" altLang="en-US" sz="1600" b="1" i="0" u="none" strike="noStrike" kern="1200" cap="none" spc="0" normalizeH="0" baseline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인공지능 학습 </a:t>
            </a:r>
            <a:r>
              <a:rPr kumimoji="0" lang="en-US" altLang="ko-KR" sz="1600" b="1" i="0" u="none" strike="noStrike" kern="1200" cap="none" spc="0" normalizeH="0" baseline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상세</a:t>
            </a:r>
            <a:r>
              <a:rPr kumimoji="0" lang="en-US" altLang="ko-KR" sz="1600" b="1" i="0" u="none" strike="noStrike" kern="1200" cap="none" spc="0" normalizeH="0" baseline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)</a:t>
            </a:r>
            <a:endParaRPr kumimoji="0" lang="en-US" altLang="ko-KR" sz="1600" b="1" i="0" u="none" strike="noStrike" kern="1200" cap="none" spc="0" normalizeH="0" baseline="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;p4"/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>
                <a:latin typeface="KoPub돋움체 Light"/>
                <a:ea typeface="KoPub돋움체 Light"/>
                <a:cs typeface="+mn-cs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16</a:t>
            </a:fld>
            <a:endParaRPr lang="en-US">
              <a:latin typeface="KoPub돋움체 Light"/>
              <a:ea typeface="KoPub돋움체 Light"/>
              <a:cs typeface="+mn-cs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27157" y="1243399"/>
            <a:ext cx="3270033" cy="842279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36683" y="2378190"/>
            <a:ext cx="2895810" cy="1090796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572000" y="1807505"/>
            <a:ext cx="3740367" cy="2020245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572000" y="1193199"/>
            <a:ext cx="4151966" cy="4713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77810" y="965548"/>
            <a:ext cx="386918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20" indent="-57120">
              <a:buFont typeface="Arial"/>
              <a:buChar char="•"/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데이터 증강(Data Augmentation)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49871" y="957568"/>
            <a:ext cx="4366972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20" indent="-57120">
              <a:buFont typeface="Arial"/>
              <a:buChar char="•"/>
              <a:defRPr/>
            </a:pP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 학습 결과</a:t>
            </a:r>
            <a:endParaRPr lang="ko-KR" altLang="en-US" sz="1050">
              <a:latin typeface="KoPub돋움체 Light"/>
              <a:ea typeface="KoPub돋움체 Light"/>
              <a:cs typeface="+mn-cs"/>
            </a:endParaRPr>
          </a:p>
          <a:p>
            <a:pPr marL="0" indent="0">
              <a:buFont typeface="Arial"/>
              <a:buNone/>
              <a:defRPr/>
            </a:pPr>
            <a:endParaRPr lang="ko-KR" altLang="en-US" sz="300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5" name="Google Shape;17;p4"/>
          <p:cNvSpPr>
            <a:spLocks noGrp="1"/>
          </p:cNvSpPr>
          <p:nvPr/>
        </p:nvSpPr>
        <p:spPr>
          <a:xfrm>
            <a:off x="173182" y="555346"/>
            <a:ext cx="8780318" cy="3230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kumimoji="0" lang="en-US" altLang="ko-KR" sz="1400" b="1" i="0" u="none" strike="noStrike" kern="0" cap="none" spc="-5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MobileNetV2</a:t>
            </a:r>
            <a:r>
              <a:rPr kumimoji="0" lang="en-US" altLang="ko-KR" sz="1400" b="1" i="0" u="none" strike="noStrike" kern="0" cap="none" spc="-100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 </a:t>
            </a:r>
            <a:r>
              <a:rPr kumimoji="0" lang="ko-KR" altLang="en-US" sz="1400" b="1" i="0" u="none" strike="noStrike" kern="0" cap="none" spc="-104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모델 </a:t>
            </a:r>
            <a:r>
              <a:rPr kumimoji="0" lang="en-US" altLang="ko-KR" sz="1400" b="1" i="0" u="none" strike="noStrike" kern="0" cap="none" spc="-104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(1)</a:t>
            </a:r>
            <a:endParaRPr kumimoji="0" lang="en-US" altLang="ko-KR" sz="1400" b="1" i="0" u="none" strike="noStrike" kern="0" cap="none" spc="-104" normalizeH="0" baseline="0">
              <a:solidFill>
                <a:schemeClr val="dk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7157" y="2131969"/>
            <a:ext cx="386918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- 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데이터 증강 레이어 → 훈련 데이터의 다양성을 늘림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36683" y="3471620"/>
            <a:ext cx="38691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- 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데이터 증강 레이어 및 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Dropout 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레이어 추가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(Dropout: 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과적합 방지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)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449871" y="3800260"/>
            <a:ext cx="4366972" cy="388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Font typeface="Arial"/>
              <a:buNone/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- 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오히려 정확도가 크게 떨어져서 모델이 제성능을 전혀 내지 못함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  <a:p>
            <a:pPr marL="0" indent="0">
              <a:buFont typeface="Arial"/>
              <a:buNone/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- 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미세 조정단계의 학습률과 조지 종료 혹은 데이터셋 자체의 문제일 가능성이 높음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7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>
              <a:alpha val="100000"/>
            </a:srgbClr>
          </a:solidFill>
        </p:spPr>
        <p:txBody>
          <a:bodyPr vert="horz" wrap="square" lIns="91424" tIns="91424" rIns="91424" bIns="91424" anchor="t" anchorCtr="0">
            <a:noAutofit/>
          </a:bodyPr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5.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인공지능 학습 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상세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)</a:t>
            </a:r>
            <a:endPara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<a:solidFill>
                <a:srgbClr val="ffffff"/>
              </a:solidFill>
              <a:latin typeface="KoPub돋움체 Light"/>
              <a:ea typeface="KoPub돋움체 Light"/>
              <a:cs typeface="Corbe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19;p4"/>
          <p:cNvSpPr txBox="1">
            <a:spLocks noGrp="1"/>
          </p:cNvSpPr>
          <p:nvPr>
            <p:ph type="sldNum" sz="quarter" idx="2"/>
          </p:nvPr>
        </p:nvSpPr>
        <p:spPr>
          <a:xfrm>
            <a:off x="8821315" y="4887148"/>
            <a:ext cx="322686" cy="32254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 lang="en-US" altLang="en-US"/>
              <a:pPr>
                <a:defRPr/>
              </a:pPr>
              <a:t>17</a:t>
            </a:fld>
            <a:endParaRPr lang="en-US" altLang="en-US"/>
          </a:p>
        </p:txBody>
      </p:sp>
      <p:sp>
        <p:nvSpPr>
          <p:cNvPr id="296" name="Google Shape;68;p15"/>
          <p:cNvSpPr txBox="1"/>
          <p:nvPr/>
        </p:nvSpPr>
        <p:spPr>
          <a:xfrm>
            <a:off x="166454" y="875520"/>
            <a:ext cx="4414678" cy="358903"/>
          </a:xfrm>
          <a:prstGeom prst="rect">
            <a:avLst/>
          </a:prstGeom>
          <a:ln w="12700">
            <a:miter/>
          </a:ln>
        </p:spPr>
        <p:txBody>
          <a:bodyPr lIns="91423" tIns="91423" rIns="91423" bIns="91423">
            <a:spAutoFit/>
          </a:bodyPr>
          <a:lstStyle/>
          <a:p>
            <a:pPr>
              <a:defRPr sz="1200" b="1">
                <a:latin typeface="KoPub돋움체 Light"/>
                <a:ea typeface="KoPub돋움체 Light"/>
                <a:cs typeface="+mn-cs"/>
              </a:defRPr>
            </a:pPr>
            <a:r>
              <a:rPr lang="ko-KR" altLang="en-US">
                <a:latin typeface="KoPub돋움체 Light"/>
                <a:ea typeface="KoPub돋움체 Light"/>
                <a:cs typeface="+mn-cs"/>
              </a:rPr>
              <a:t>■ MobileNetV2: 경량 컨볼루션 신경망(CNN) 모델 (2) </a:t>
            </a:r>
            <a:endParaRPr lang="ko-KR" altLang="en-US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98" name="TextBox 6"/>
          <p:cNvSpPr txBox="1"/>
          <p:nvPr/>
        </p:nvSpPr>
        <p:spPr>
          <a:xfrm>
            <a:off x="4395526" y="1369854"/>
            <a:ext cx="4455348" cy="390366"/>
          </a:xfrm>
          <a:prstGeom prst="rect">
            <a:avLst/>
          </a:prstGeom>
          <a:ln w="12700">
            <a:miter/>
          </a:ln>
        </p:spPr>
        <p:txBody>
          <a:bodyPr wrap="square" lIns="45719" rIns="45719">
            <a:spAutoFit/>
          </a:bodyPr>
          <a:lstStyle/>
          <a:p>
            <a:pPr marL="57119" lvl="8" indent="-57119">
              <a:buSzPct val="100000"/>
              <a:buFont typeface="Arial"/>
              <a:buChar char="•"/>
              <a:defRPr sz="1000">
                <a:latin typeface="KoPub돋움체 Light"/>
                <a:ea typeface="KoPub돋움체 Light"/>
                <a:cs typeface="+mn-cs"/>
              </a:defRPr>
            </a:pPr>
            <a:r>
              <a:rPr lang="ko-KR" altLang="en-US">
                <a:latin typeface="KoPub돋움체 Light"/>
                <a:ea typeface="KoPub돋움체 Light"/>
                <a:cs typeface="+mn-cs"/>
              </a:rPr>
              <a:t> 모델 구성: 전이 학습(Transfer Learning) 적용</a:t>
            </a:r>
            <a:endParaRPr lang="ko-KR" altLang="en-US">
              <a:latin typeface="KoPub돋움체 Light"/>
              <a:ea typeface="KoPub돋움체 Light"/>
              <a:cs typeface="+mn-cs"/>
            </a:endParaRPr>
          </a:p>
          <a:p>
            <a:pPr marL="0" lvl="8" indent="0">
              <a:buSzPct val="100000"/>
              <a:buFont typeface="Arial"/>
              <a:buNone/>
              <a:defRPr sz="1000">
                <a:latin typeface="KoPub돋움체 Light"/>
                <a:ea typeface="KoPub돋움체 Light"/>
                <a:cs typeface="+mn-cs"/>
              </a:defRPr>
            </a:pPr>
            <a:r>
              <a:rPr lang="ko-KR" altLang="en-US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>
                <a:latin typeface="KoPub돋움체 Light"/>
                <a:ea typeface="KoPub돋움체 Light"/>
                <a:cs typeface="+mn-cs"/>
              </a:rPr>
              <a:t>-</a:t>
            </a:r>
            <a:r>
              <a:rPr lang="ko-KR" altLang="en-US">
                <a:latin typeface="KoPub돋움체 Light"/>
                <a:ea typeface="KoPub돋움체 Light"/>
                <a:cs typeface="+mn-cs"/>
              </a:rPr>
              <a:t> 상세 내용 상동(上同)</a:t>
            </a:r>
            <a:endParaRPr lang="ko-KR" altLang="en-US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99" name="TextBox 6"/>
          <p:cNvSpPr txBox="1"/>
          <p:nvPr/>
        </p:nvSpPr>
        <p:spPr>
          <a:xfrm>
            <a:off x="4395527" y="4369689"/>
            <a:ext cx="3419618" cy="390906"/>
          </a:xfrm>
          <a:prstGeom prst="rect">
            <a:avLst/>
          </a:prstGeom>
          <a:ln w="12700">
            <a:miter/>
          </a:ln>
        </p:spPr>
        <p:txBody>
          <a:bodyPr wrap="square" lIns="45719" rIns="45719">
            <a:spAutoFit/>
          </a:bodyPr>
          <a:lstStyle/>
          <a:p>
            <a:pPr marL="57119" lvl="8" indent="-57119">
              <a:buSzPct val="100000"/>
              <a:buFont typeface="Arial"/>
              <a:buChar char="•"/>
              <a:defRPr sz="1000">
                <a:latin typeface="KoPub돋움체 Light"/>
                <a:ea typeface="KoPub돋움체 Light"/>
                <a:cs typeface="+mn-cs"/>
              </a:defRPr>
            </a:pPr>
            <a:r>
              <a:rPr lang="ko-KR" altLang="en-US">
                <a:latin typeface="KoPub돋움체 Light"/>
                <a:ea typeface="KoPub돋움체 Light"/>
                <a:cs typeface="+mn-cs"/>
              </a:rPr>
              <a:t> 학습 환경 설정</a:t>
            </a:r>
            <a:endParaRPr lang="ko-KR" altLang="en-US">
              <a:latin typeface="KoPub돋움체 Light"/>
              <a:ea typeface="KoPub돋움체 Light"/>
              <a:cs typeface="+mn-cs"/>
            </a:endParaRPr>
          </a:p>
          <a:p>
            <a:pPr marL="0" lvl="8" indent="0">
              <a:buSzPct val="100000"/>
              <a:buFont typeface="Arial"/>
              <a:buNone/>
              <a:defRPr sz="1000">
                <a:latin typeface="KoPub돋움체 Light"/>
                <a:ea typeface="KoPub돋움체 Light"/>
                <a:cs typeface="+mn-cs"/>
              </a:defRPr>
            </a:pPr>
            <a:r>
              <a:rPr lang="ko-KR" altLang="en-US">
                <a:latin typeface="KoPub돋움체 Light"/>
                <a:ea typeface="KoPub돋움체 Light"/>
                <a:cs typeface="+mn-cs"/>
              </a:rPr>
              <a:t> - 상세 내용 상동</a:t>
            </a:r>
            <a:endParaRPr lang="ko-KR" altLang="en-US">
              <a:latin typeface="KoPub돋움체 Light"/>
              <a:ea typeface="KoPub돋움체 Light"/>
              <a:cs typeface="+mn-cs"/>
            </a:endParaRPr>
          </a:p>
        </p:txBody>
      </p:sp>
      <p:pic>
        <p:nvPicPr>
          <p:cNvPr id="303" name="그림 19" descr="그림 1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469097" y="3032308"/>
            <a:ext cx="3333540" cy="1035359"/>
          </a:xfrm>
          <a:prstGeom prst="rect">
            <a:avLst/>
          </a:prstGeom>
          <a:ln w="12700">
            <a:miter/>
          </a:ln>
        </p:spPr>
      </p:pic>
      <p:pic>
        <p:nvPicPr>
          <p:cNvPr id="304" name="그림 20" descr="그림 2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459268" y="1798241"/>
            <a:ext cx="2635096" cy="1068479"/>
          </a:xfrm>
          <a:prstGeom prst="rect">
            <a:avLst/>
          </a:prstGeom>
          <a:ln w="12700">
            <a:miter/>
          </a:ln>
        </p:spPr>
      </p:pic>
      <p:pic>
        <p:nvPicPr>
          <p:cNvPr id="308" name="붙여넣은 동영상.png" descr="붙여넣은 동영상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76634" y="1758830"/>
            <a:ext cx="2846326" cy="1496391"/>
          </a:xfrm>
          <a:prstGeom prst="rect">
            <a:avLst/>
          </a:prstGeom>
          <a:ln w="12700">
            <a:miter/>
          </a:ln>
        </p:spPr>
      </p:pic>
      <p:pic>
        <p:nvPicPr>
          <p:cNvPr id="309" name="붙여넣은 동영상.png" descr="붙여넣은 동영상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76634" y="3290404"/>
            <a:ext cx="2846326" cy="1526291"/>
          </a:xfrm>
          <a:prstGeom prst="rect">
            <a:avLst/>
          </a:prstGeom>
          <a:ln w="12700">
            <a:miter/>
          </a:ln>
        </p:spPr>
      </p:pic>
      <p:sp>
        <p:nvSpPr>
          <p:cNvPr id="312" name="TextBox 6"/>
          <p:cNvSpPr txBox="1"/>
          <p:nvPr/>
        </p:nvSpPr>
        <p:spPr>
          <a:xfrm>
            <a:off x="372117" y="1157222"/>
            <a:ext cx="4944432" cy="547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20" lvl="8" indent="-57120">
              <a:buFont typeface="Arial"/>
              <a:buChar char="•"/>
              <a:defRPr/>
            </a:pPr>
            <a:r>
              <a:rPr lang="ko-KR" altLang="ko-KR" sz="1000">
                <a:latin typeface="KoPub돋움체 Light"/>
                <a:ea typeface="KoPub돋움체 Light"/>
                <a:cs typeface="+mn-cs"/>
              </a:rPr>
              <a:t> Dataset: Food Images (</a:t>
            </a:r>
            <a:r>
              <a:rPr lang="en-US" altLang="ko-KR" sz="1000" b="1">
                <a:latin typeface="KoPub돋움체 Light"/>
                <a:ea typeface="KoPub돋움체 Light"/>
                <a:cs typeface="+mn-cs"/>
              </a:rPr>
              <a:t>AI HUB</a:t>
            </a:r>
            <a:r>
              <a:rPr lang="ko-KR" altLang="ko-KR" sz="1000">
                <a:latin typeface="KoPub돋움체 Light"/>
                <a:ea typeface="KoPub돋움체 Light"/>
                <a:cs typeface="+mn-cs"/>
              </a:rPr>
              <a:t>)</a:t>
            </a:r>
            <a:endParaRPr lang="ko-KR" altLang="ko-KR" sz="1000">
              <a:latin typeface="KoPub돋움체 Light"/>
              <a:ea typeface="KoPub돋움체 Light"/>
              <a:cs typeface="+mn-cs"/>
            </a:endParaRPr>
          </a:p>
          <a:p>
            <a:pPr marL="0" lvl="8" indent="0">
              <a:buFont typeface="Arial"/>
              <a:buNone/>
              <a:defRPr/>
            </a:pPr>
            <a:r>
              <a:rPr lang="ko-KR" altLang="ko-KR" sz="1000">
                <a:latin typeface="KoPub돋움체 Light"/>
                <a:ea typeface="KoPub돋움체 Light"/>
                <a:cs typeface="+mn-cs"/>
              </a:rPr>
              <a:t> - 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12</a:t>
            </a:r>
            <a:r>
              <a:rPr lang="ko-KR" altLang="ko-KR" sz="1000">
                <a:latin typeface="KoPub돋움체 Light"/>
                <a:ea typeface="KoPub돋움체 Light"/>
                <a:cs typeface="+mn-cs"/>
              </a:rPr>
              <a:t>개의 클래스와 2159장의 이미지</a:t>
            </a:r>
            <a:endParaRPr lang="ko-KR" altLang="ko-KR" sz="1000">
              <a:latin typeface="KoPub돋움체 Light"/>
              <a:ea typeface="KoPub돋움체 Light"/>
              <a:cs typeface="+mn-cs"/>
            </a:endParaRPr>
          </a:p>
          <a:p>
            <a:pPr marL="0" lvl="8" indent="0">
              <a:buFont typeface="Arial"/>
              <a:buNone/>
              <a:defRPr/>
            </a:pPr>
            <a:r>
              <a:rPr lang="ko-KR" altLang="ko-KR" sz="1000">
                <a:latin typeface="KoPub돋움체 Light"/>
                <a:ea typeface="KoPub돋움체 Light"/>
                <a:cs typeface="+mn-cs"/>
              </a:rPr>
              <a:t> - 훈련 데이터와 검증데이터 8:2로 분할</a:t>
            </a:r>
            <a:endParaRPr lang="ko-KR" altLang="ko-KR" sz="1000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313" name="Google Shape;17;p4"/>
          <p:cNvSpPr>
            <a:spLocks noGrp="1"/>
          </p:cNvSpPr>
          <p:nvPr/>
        </p:nvSpPr>
        <p:spPr>
          <a:xfrm>
            <a:off x="173182" y="555346"/>
            <a:ext cx="8780318" cy="3230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kumimoji="0" lang="en-US" altLang="ko-KR" sz="1400" b="1" i="0" u="none" strike="noStrike" kern="0" cap="none" spc="-5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MobileNetV2</a:t>
            </a:r>
            <a:r>
              <a:rPr kumimoji="0" lang="en-US" altLang="ko-KR" sz="1400" b="1" i="0" u="none" strike="noStrike" kern="0" cap="none" spc="-100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 </a:t>
            </a:r>
            <a:r>
              <a:rPr kumimoji="0" lang="ko-KR" altLang="en-US" sz="1400" b="1" i="0" u="none" strike="noStrike" kern="0" cap="none" spc="-104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모델 </a:t>
            </a:r>
            <a:r>
              <a:rPr kumimoji="0" lang="en-US" altLang="ko-KR" sz="1400" b="1" i="0" u="none" strike="noStrike" kern="0" cap="none" spc="-104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(2)</a:t>
            </a:r>
            <a:endParaRPr kumimoji="0" lang="en-US" altLang="ko-KR" sz="1400" b="1" i="0" u="none" strike="noStrike" kern="0" cap="none" spc="-104" normalizeH="0" baseline="0">
              <a:solidFill>
                <a:schemeClr val="dk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316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>
              <a:alpha val="100000"/>
            </a:srgbClr>
          </a:solidFill>
        </p:spPr>
        <p:txBody>
          <a:bodyPr vert="horz" wrap="square" lIns="91424" tIns="91424" rIns="91424" bIns="91424" anchor="t" anchorCtr="0">
            <a:noAutofit/>
          </a:bodyPr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5.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인공지능 학습 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상세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)</a:t>
            </a:r>
            <a:endPara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<a:solidFill>
                <a:srgbClr val="ffffff"/>
              </a:solidFill>
              <a:latin typeface="KoPub돋움체 Light"/>
              <a:ea typeface="KoPub돋움체 Light"/>
              <a:cs typeface="Corbe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5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extBox 14"/>
          <p:cNvSpPr txBox="1"/>
          <p:nvPr/>
        </p:nvSpPr>
        <p:spPr>
          <a:xfrm>
            <a:off x="4401395" y="1037575"/>
            <a:ext cx="3767961" cy="241956"/>
          </a:xfrm>
          <a:prstGeom prst="rect">
            <a:avLst/>
          </a:prstGeom>
          <a:ln w="12700">
            <a:miter/>
          </a:ln>
        </p:spPr>
        <p:txBody>
          <a:bodyPr lIns="45719" rIns="45719">
            <a:spAutoFit/>
          </a:bodyPr>
          <a:lstStyle>
            <a:lvl1pPr marL="71400" indent="-71400">
              <a:buSzPct val="100000"/>
              <a:buFont typeface="Arial"/>
              <a:buChar char="•"/>
              <a:defRPr sz="1000">
                <a:latin typeface="KoPub돋움체 Light"/>
                <a:ea typeface="KoPub돋움체 Light"/>
                <a:cs typeface="KoPub돋움체 Light"/>
                <a:sym typeface="KoPub돋움체 Light"/>
              </a:defRPr>
            </a:lvl1pPr>
          </a:lstStyle>
          <a:p>
            <a:pPr>
              <a:defRPr/>
            </a:pPr>
            <a:r>
              <a:rPr lang="ko-KR" altLang="en-US"/>
              <a:t> 학습 결과 시각화</a:t>
            </a:r>
            <a:endParaRPr lang="ko-KR" altLang="en-US"/>
          </a:p>
        </p:txBody>
      </p:sp>
      <p:sp>
        <p:nvSpPr>
          <p:cNvPr id="314" name="TextBox 11"/>
          <p:cNvSpPr txBox="1"/>
          <p:nvPr/>
        </p:nvSpPr>
        <p:spPr>
          <a:xfrm>
            <a:off x="295103" y="889614"/>
            <a:ext cx="3847789" cy="241956"/>
          </a:xfrm>
          <a:prstGeom prst="rect">
            <a:avLst/>
          </a:prstGeom>
          <a:ln w="12700">
            <a:miter/>
          </a:ln>
        </p:spPr>
        <p:txBody>
          <a:bodyPr lIns="45719" rIns="45719">
            <a:spAutoFit/>
          </a:bodyPr>
          <a:lstStyle/>
          <a:p>
            <a:pPr marL="57119" lvl="8" indent="-57119">
              <a:buSzPct val="100000"/>
              <a:buFont typeface="Arial"/>
              <a:buChar char="•"/>
              <a:defRPr sz="1000">
                <a:latin typeface="KoPub돋움체 Light"/>
                <a:ea typeface="KoPub돋움체 Light"/>
                <a:cs typeface="+mn-cs"/>
              </a:defRPr>
            </a:pPr>
            <a:r>
              <a:rPr lang="ko-KR" altLang="en-US">
                <a:latin typeface="KoPub돋움체 Light"/>
                <a:ea typeface="KoPub돋움체 Light"/>
                <a:cs typeface="+mn-cs"/>
              </a:rPr>
              <a:t> 학습 진행 및 결과</a:t>
            </a:r>
            <a:endParaRPr lang="ko-KR" altLang="en-US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315" name="Google Shape;19;p4"/>
          <p:cNvSpPr txBox="1">
            <a:spLocks noGrp="1"/>
          </p:cNvSpPr>
          <p:nvPr>
            <p:ph type="sldNum" sz="quarter" idx="2"/>
          </p:nvPr>
        </p:nvSpPr>
        <p:spPr>
          <a:xfrm>
            <a:off x="8821315" y="4887148"/>
            <a:ext cx="322686" cy="32254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 lang="en-US" altLang="en-US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316" name="TextBox 2"/>
          <p:cNvSpPr txBox="1"/>
          <p:nvPr/>
        </p:nvSpPr>
        <p:spPr>
          <a:xfrm>
            <a:off x="399010" y="4265133"/>
            <a:ext cx="3674138" cy="390687"/>
          </a:xfrm>
          <a:prstGeom prst="rect">
            <a:avLst/>
          </a:prstGeom>
          <a:ln w="12700">
            <a:miter/>
          </a:ln>
        </p:spPr>
        <p:txBody>
          <a:bodyPr wrap="square" lIns="45719" rIns="45719">
            <a:spAutoFit/>
          </a:bodyPr>
          <a:lstStyle/>
          <a:p>
            <a:pPr>
              <a:defRPr sz="1000">
                <a:latin typeface="KoPub돋움체 Light"/>
                <a:ea typeface="KoPub돋움체 Light"/>
                <a:cs typeface="+mn-cs"/>
              </a:defRPr>
            </a:pPr>
            <a:r>
              <a:rPr lang="ko-KR" altLang="en-US">
                <a:latin typeface="KoPub돋움체 Light"/>
                <a:ea typeface="KoPub돋움체 Light"/>
                <a:cs typeface="+mn-cs"/>
              </a:rPr>
              <a:t> - 훈련 데이터에 대해 약 97.8%의 높은 정확도를 보이지만,</a:t>
            </a:r>
            <a:endParaRPr lang="ko-KR" altLang="en-US">
              <a:latin typeface="KoPub돋움체 Light"/>
              <a:ea typeface="KoPub돋움체 Light"/>
              <a:cs typeface="+mn-cs"/>
            </a:endParaRPr>
          </a:p>
          <a:p>
            <a:pPr>
              <a:defRPr sz="1000">
                <a:latin typeface="KoPub돋움체 Light"/>
                <a:ea typeface="KoPub돋움체 Light"/>
                <a:cs typeface="+mn-cs"/>
              </a:defRPr>
            </a:pPr>
            <a:r>
              <a:rPr lang="ko-KR" altLang="en-US">
                <a:latin typeface="KoPub돋움체 Light"/>
                <a:ea typeface="KoPub돋움체 Light"/>
                <a:cs typeface="+mn-cs"/>
              </a:rPr>
              <a:t>검증 데이터에 대해서는 약 87.1%의 정확도를 보임.</a:t>
            </a:r>
            <a:endParaRPr lang="ko-KR" altLang="en-US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318" name="TextBox 14"/>
          <p:cNvSpPr txBox="1"/>
          <p:nvPr/>
        </p:nvSpPr>
        <p:spPr>
          <a:xfrm>
            <a:off x="4405834" y="3390898"/>
            <a:ext cx="4396796" cy="694532"/>
          </a:xfrm>
          <a:prstGeom prst="rect">
            <a:avLst/>
          </a:prstGeom>
          <a:ln w="12700">
            <a:miter/>
          </a:ln>
        </p:spPr>
        <p:txBody>
          <a:bodyPr wrap="square" lIns="45719" rIns="45719">
            <a:spAutoFit/>
          </a:bodyPr>
          <a:lstStyle/>
          <a:p>
            <a:pPr>
              <a:defRPr sz="1000">
                <a:latin typeface="KoPub돋움체 Light"/>
                <a:ea typeface="KoPub돋움체 Light"/>
                <a:cs typeface="+mn-cs"/>
              </a:defRPr>
            </a:pPr>
            <a:r>
              <a:rPr lang="ko-KR" altLang="en-US">
                <a:latin typeface="KoPub돋움체 Light"/>
                <a:ea typeface="KoPub돋움체 Light"/>
                <a:cs typeface="+mn-cs"/>
              </a:rPr>
              <a:t> - 훈련 손실은 계속 감소하는데, 검증 손실은 감소하지 않거나 오히려 증가하는 경향을 보임.</a:t>
            </a:r>
            <a:endParaRPr lang="ko-KR" altLang="en-US">
              <a:latin typeface="KoPub돋움체 Light"/>
              <a:ea typeface="KoPub돋움체 Light"/>
              <a:cs typeface="+mn-cs"/>
            </a:endParaRPr>
          </a:p>
          <a:p>
            <a:pPr>
              <a:defRPr sz="1000">
                <a:latin typeface="KoPub돋움체 Light"/>
                <a:ea typeface="KoPub돋움체 Light"/>
                <a:cs typeface="+mn-cs"/>
              </a:defRPr>
            </a:pPr>
            <a:endParaRPr lang="ko-KR" altLang="en-US">
              <a:latin typeface="KoPub돋움체 Light"/>
              <a:ea typeface="KoPub돋움체 Light"/>
              <a:cs typeface="+mn-cs"/>
            </a:endParaRPr>
          </a:p>
          <a:p>
            <a:pPr>
              <a:defRPr sz="1000">
                <a:latin typeface="KoPub돋움체 Light"/>
                <a:ea typeface="KoPub돋움체 Light"/>
                <a:cs typeface="+mn-cs"/>
              </a:defRPr>
            </a:pPr>
            <a:r>
              <a:rPr lang="ko-KR" altLang="en-US">
                <a:latin typeface="KoPub돋움체 Light"/>
                <a:ea typeface="KoPub돋움체 Light"/>
                <a:cs typeface="+mn-cs"/>
              </a:rPr>
              <a:t>◆ 결론: 정확도 높지만, 클래스 양의 수가 적음.</a:t>
            </a:r>
            <a:endParaRPr lang="ko-KR" altLang="en-US">
              <a:latin typeface="KoPub돋움체 Light"/>
              <a:ea typeface="KoPub돋움체 Light"/>
              <a:cs typeface="+mn-cs"/>
            </a:endParaRPr>
          </a:p>
        </p:txBody>
      </p:sp>
      <p:pic>
        <p:nvPicPr>
          <p:cNvPr id="322" name="그림 24" descr="그림 2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90908" y="1115119"/>
            <a:ext cx="3454295" cy="2165595"/>
          </a:xfrm>
          <a:prstGeom prst="rect">
            <a:avLst/>
          </a:prstGeom>
          <a:ln w="12700">
            <a:miter/>
          </a:ln>
        </p:spPr>
      </p:pic>
      <p:pic>
        <p:nvPicPr>
          <p:cNvPr id="323" name="그림 25" descr="그림 2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50864" y="3733381"/>
            <a:ext cx="3220837" cy="474973"/>
          </a:xfrm>
          <a:prstGeom prst="rect">
            <a:avLst/>
          </a:prstGeom>
          <a:ln w="12700">
            <a:miter/>
          </a:ln>
        </p:spPr>
      </p:pic>
      <p:pic>
        <p:nvPicPr>
          <p:cNvPr id="324" name="그림 26" descr="그림 2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165060" y="1337560"/>
            <a:ext cx="2355378" cy="1890118"/>
          </a:xfrm>
          <a:prstGeom prst="rect">
            <a:avLst/>
          </a:prstGeom>
          <a:ln w="12700">
            <a:miter/>
          </a:ln>
        </p:spPr>
      </p:pic>
      <p:pic>
        <p:nvPicPr>
          <p:cNvPr id="325" name="그림 27" descr="그림 2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490894" y="1322038"/>
            <a:ext cx="2351778" cy="1894733"/>
          </a:xfrm>
          <a:prstGeom prst="rect">
            <a:avLst/>
          </a:prstGeom>
          <a:ln w="12700">
            <a:miter/>
          </a:ln>
        </p:spPr>
      </p:pic>
      <p:sp>
        <p:nvSpPr>
          <p:cNvPr id="332" name="Google Shape;17;p4"/>
          <p:cNvSpPr>
            <a:spLocks noGrp="1"/>
          </p:cNvSpPr>
          <p:nvPr/>
        </p:nvSpPr>
        <p:spPr>
          <a:xfrm>
            <a:off x="173182" y="555346"/>
            <a:ext cx="8780318" cy="3230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kumimoji="0" lang="en-US" altLang="ko-KR" sz="1400" b="1" i="0" u="none" strike="noStrike" kern="0" cap="none" spc="-5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MobileNetV2</a:t>
            </a:r>
            <a:r>
              <a:rPr kumimoji="0" lang="en-US" altLang="ko-KR" sz="1400" b="1" i="0" u="none" strike="noStrike" kern="0" cap="none" spc="-100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 </a:t>
            </a:r>
            <a:r>
              <a:rPr kumimoji="0" lang="ko-KR" altLang="en-US" sz="1400" b="1" i="0" u="none" strike="noStrike" kern="0" cap="none" spc="-104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모델 </a:t>
            </a:r>
            <a:r>
              <a:rPr kumimoji="0" lang="en-US" altLang="ko-KR" sz="1400" b="1" i="0" u="none" strike="noStrike" kern="0" cap="none" spc="-104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(2)</a:t>
            </a:r>
            <a:endParaRPr kumimoji="0" lang="en-US" altLang="ko-KR" sz="1400" b="1" i="0" u="none" strike="noStrike" kern="0" cap="none" spc="-104" normalizeH="0" baseline="0">
              <a:solidFill>
                <a:schemeClr val="dk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333" name="TextBox 2"/>
          <p:cNvSpPr txBox="1"/>
          <p:nvPr/>
        </p:nvSpPr>
        <p:spPr>
          <a:xfrm>
            <a:off x="444729" y="3326319"/>
            <a:ext cx="3664892" cy="396051"/>
          </a:xfrm>
          <a:prstGeom prst="rect">
            <a:avLst/>
          </a:prstGeom>
          <a:ln w="12700">
            <a:miter/>
          </a:ln>
        </p:spPr>
        <p:txBody>
          <a:bodyPr wrap="square" lIns="45719" rIns="45719">
            <a:spAutoFit/>
          </a:bodyPr>
          <a:lstStyle/>
          <a:p>
            <a:pPr>
              <a:defRPr sz="1000">
                <a:latin typeface="KoPub돋움체 Light"/>
                <a:ea typeface="KoPub돋움체 Light"/>
                <a:cs typeface="+mn-cs"/>
              </a:defRPr>
            </a:pPr>
            <a:r>
              <a:rPr lang="ko-KR" altLang="en-US">
                <a:latin typeface="KoPub돋움체 Light"/>
                <a:ea typeface="KoPub돋움체 Light"/>
                <a:cs typeface="+mn-cs"/>
              </a:rPr>
              <a:t>- 16개 에포크에 걸친 모델의 학습 과정을 보여주며, EarlyStopping으로 예정된 에포크보다 일찍 학습 과정을 종료함</a:t>
            </a:r>
            <a:endParaRPr lang="ko-KR" altLang="en-US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336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>
              <a:alpha val="100000"/>
            </a:srgbClr>
          </a:solidFill>
        </p:spPr>
        <p:txBody>
          <a:bodyPr vert="horz" wrap="square" lIns="91424" tIns="91424" rIns="91424" bIns="91424" anchor="t" anchorCtr="0">
            <a:noAutofit/>
          </a:bodyPr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5.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인공지능 학습 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상세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)</a:t>
            </a:r>
            <a:endPara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<a:solidFill>
                <a:srgbClr val="ffffff"/>
              </a:solidFill>
              <a:latin typeface="KoPub돋움체 Light"/>
              <a:ea typeface="KoPub돋움체 Light"/>
              <a:cs typeface="Corbe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5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/>
        </p:nvSpPr>
        <p:spPr>
          <a:xfrm>
            <a:off x="5333050" y="1186578"/>
            <a:ext cx="340890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20" indent="-57120">
              <a:buFont typeface="Arial"/>
              <a:buChar char="•"/>
              <a:defRPr/>
            </a:pP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 학습 진행 및 결과</a:t>
            </a:r>
            <a:endParaRPr lang="ko-KR" altLang="en-US" sz="1050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69596" y="1214736"/>
            <a:ext cx="437543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20" indent="-57120">
              <a:buFont typeface="Arial"/>
              <a:buChar char="•"/>
              <a:defRPr/>
            </a:pPr>
            <a:r>
              <a:rPr lang="en-US" altLang="ko-KR" sz="1050">
                <a:latin typeface="KoPub돋움체 Light"/>
                <a:ea typeface="KoPub돋움체 Light"/>
                <a:cs typeface="+mn-cs"/>
              </a:rPr>
              <a:t> Dataset: Food Images (</a:t>
            </a:r>
            <a:r>
              <a:rPr lang="en-US" altLang="ko-KR" sz="1050" b="1">
                <a:latin typeface="KoPub돋움체 Light"/>
                <a:ea typeface="KoPub돋움체 Light"/>
                <a:cs typeface="+mn-cs"/>
              </a:rPr>
              <a:t>Food-101</a:t>
            </a:r>
            <a:r>
              <a:rPr lang="en-US" altLang="ko-KR" sz="1050">
                <a:latin typeface="KoPub돋움체 Light"/>
                <a:ea typeface="KoPub돋움체 Light"/>
                <a:cs typeface="+mn-cs"/>
              </a:rPr>
              <a:t>)</a:t>
            </a: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                                    </a:t>
            </a:r>
            <a:endParaRPr lang="ko-KR" altLang="en-US" sz="105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  </a:t>
            </a:r>
            <a:r>
              <a:rPr lang="en-US" altLang="ko-KR" sz="1050">
                <a:latin typeface="KoPub돋움체 Light"/>
                <a:ea typeface="KoPub돋움체 Light"/>
                <a:cs typeface="+mn-cs"/>
              </a:rPr>
              <a:t>-</a:t>
            </a: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050" b="1">
                <a:latin typeface="KoPub돋움체 Light"/>
                <a:ea typeface="KoPub돋움체 Light"/>
                <a:cs typeface="+mn-cs"/>
              </a:rPr>
              <a:t>MobileNetV2</a:t>
            </a: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와 동일한 데이터셋으로 진행</a:t>
            </a:r>
            <a:endParaRPr lang="ko-KR" altLang="en-US" sz="1050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Google Shape;19;p4"/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>
                <a:latin typeface="KoPub돋움체 Light"/>
                <a:ea typeface="KoPub돋움체 Light"/>
                <a:cs typeface="+mn-cs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19</a:t>
            </a:fld>
            <a:endParaRPr lang="en-US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4" name="Google Shape;68;p15"/>
          <p:cNvSpPr txBox="1">
            <a:spLocks noGrp="1"/>
          </p:cNvSpPr>
          <p:nvPr/>
        </p:nvSpPr>
        <p:spPr>
          <a:xfrm>
            <a:off x="173182" y="878361"/>
            <a:ext cx="7731751" cy="130332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>
              <a:defRPr/>
            </a:pPr>
            <a:r>
              <a:rPr lang="en-US" altLang="ko-KR" sz="1200" b="1">
                <a:latin typeface="KoPub돋움체 Light"/>
                <a:ea typeface="KoPub돋움체 Light"/>
                <a:cs typeface="+mn-cs"/>
              </a:rPr>
              <a:t>■ EfficientNetB0: 경량 컨볼루션 신경망(CNN) 모델</a:t>
            </a:r>
            <a:r>
              <a:rPr lang="ko-KR" altLang="en-US" sz="1200" b="1">
                <a:latin typeface="KoPub돋움체 Light"/>
                <a:ea typeface="KoPub돋움체 Light"/>
                <a:cs typeface="+mn-cs"/>
              </a:rPr>
              <a:t>로 </a:t>
            </a:r>
            <a:r>
              <a:rPr lang="en-US" altLang="ko-KR" sz="1200" b="1">
                <a:latin typeface="KoPub돋움체 Light"/>
                <a:ea typeface="KoPub돋움체 Light"/>
                <a:cs typeface="+mn-cs"/>
              </a:rPr>
              <a:t>B0~B7</a:t>
            </a:r>
            <a:r>
              <a:rPr lang="ko-KR" altLang="en-US" sz="1200" b="1">
                <a:latin typeface="KoPub돋움체 Light"/>
                <a:ea typeface="KoPub돋움체 Light"/>
                <a:cs typeface="+mn-cs"/>
              </a:rPr>
              <a:t>중 가장 작고 기본적인 모델</a:t>
            </a:r>
            <a:r>
              <a:rPr lang="en-US" altLang="ko-KR" sz="1200" b="1">
                <a:latin typeface="KoPub돋움체 Light"/>
                <a:ea typeface="KoPub돋움체 Light"/>
                <a:cs typeface="+mn-cs"/>
              </a:rPr>
              <a:t> </a:t>
            </a:r>
            <a:endParaRPr lang="en-US" altLang="ko-KR" sz="1200" b="1">
              <a:latin typeface="KoPub돋움체 Light"/>
              <a:ea typeface="KoPub돋움체 Light"/>
              <a:cs typeface="+mn-cs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2647" y="1719674"/>
            <a:ext cx="1793504" cy="709057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310803" y="1719675"/>
            <a:ext cx="2656775" cy="474424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06655" y="3135013"/>
            <a:ext cx="2474466" cy="543174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060950" y="3135564"/>
            <a:ext cx="1855087" cy="837579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5269490" y="1422485"/>
            <a:ext cx="3532800" cy="2157065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5269490" y="3814428"/>
            <a:ext cx="2672033" cy="384213"/>
          </a:xfrm>
          <a:prstGeom prst="rect">
            <a:avLst/>
          </a:prstGeom>
        </p:spPr>
      </p:pic>
      <p:sp>
        <p:nvSpPr>
          <p:cNvPr id="36" name="TextBox 29"/>
          <p:cNvSpPr txBox="1"/>
          <p:nvPr/>
        </p:nvSpPr>
        <p:spPr>
          <a:xfrm>
            <a:off x="5263508" y="4270458"/>
            <a:ext cx="3029646" cy="566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Font typeface="Arial"/>
              <a:buNone/>
              <a:defRPr/>
            </a:pP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 - 11번째 에포크 이후부터 과적합이 시작됨에 따라 Early Stopping으로 학습이 중단됨</a:t>
            </a:r>
            <a:endParaRPr lang="ko-KR" altLang="en-US" sz="1050">
              <a:latin typeface="KoPub돋움체 Light"/>
              <a:ea typeface="KoPub돋움체 Light"/>
              <a:cs typeface="+mn-cs"/>
            </a:endParaRPr>
          </a:p>
          <a:p>
            <a:pPr marL="0" indent="0">
              <a:buFont typeface="Arial"/>
              <a:buNone/>
              <a:defRPr/>
            </a:pP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 - 검증 정확도는 0.6914</a:t>
            </a:r>
            <a:endParaRPr lang="ko-KR" altLang="en-US" sz="1050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9" name="Google Shape;17;p4"/>
          <p:cNvSpPr>
            <a:spLocks noGrp="1"/>
          </p:cNvSpPr>
          <p:nvPr/>
        </p:nvSpPr>
        <p:spPr>
          <a:xfrm>
            <a:off x="173182" y="555346"/>
            <a:ext cx="8780318" cy="3230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>
              <a:defRPr/>
            </a:pPr>
            <a:r>
              <a:rPr lang="en-US" altLang="ko-KR" sz="1400" b="1">
                <a:latin typeface="KoPub돋움체 Light"/>
                <a:ea typeface="KoPub돋움체 Light"/>
                <a:cs typeface="+mn-cs"/>
              </a:rPr>
              <a:t>EfficientNetB0</a:t>
            </a:r>
            <a:r>
              <a:rPr kumimoji="0" lang="en-US" altLang="ko-KR" sz="1400" b="1" i="0" u="none" strike="noStrike" kern="0" cap="none" spc="-100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 </a:t>
            </a:r>
            <a:r>
              <a:rPr kumimoji="0" lang="ko-KR" altLang="en-US" sz="1400" b="1" i="0" u="none" strike="noStrike" kern="0" cap="none" spc="-104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모델</a:t>
            </a:r>
            <a:endParaRPr kumimoji="0" lang="ko-KR" altLang="en-US" sz="1400" b="1" i="0" u="none" strike="noStrike" kern="0" cap="none" spc="-104" normalizeH="0" baseline="0">
              <a:solidFill>
                <a:schemeClr val="dk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9596" y="2428731"/>
            <a:ext cx="3512794" cy="541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모델 구성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: 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전이 학습 적용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+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드롭아웃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(Dropout) 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레이어 추가 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  <a:p>
            <a:pPr lvl="0"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 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- 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전과 같이 전이 학습을 적용해서 학습 시간 단축 및 효율성 증가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  <a:p>
            <a:pPr lvl="0"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 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- 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과적합 완화를 위해서 드롭아웃 비율을 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0.4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로 변경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9596" y="3713685"/>
            <a:ext cx="3484219" cy="846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학습 환경 설정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:</a:t>
            </a:r>
            <a:endParaRPr lang="en-US" altLang="ko-KR" sz="1000">
              <a:latin typeface="KoPub돋움체 Light"/>
              <a:ea typeface="KoPub돋움체 Light"/>
              <a:cs typeface="+mn-cs"/>
            </a:endParaRPr>
          </a:p>
          <a:p>
            <a:pPr lvl="0">
              <a:defRPr/>
            </a:pP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  - 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옵티마이저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: Adam 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옵티마이저 사용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  <a:p>
            <a:pPr lvl="0"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 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- 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학습률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: 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기본 학습률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(0.001)                     </a:t>
            </a:r>
            <a:endParaRPr lang="en-US" altLang="ko-KR" sz="1000">
              <a:latin typeface="KoPub돋움체 Light"/>
              <a:ea typeface="KoPub돋움체 Light"/>
              <a:cs typeface="+mn-cs"/>
            </a:endParaRPr>
          </a:p>
          <a:p>
            <a:pPr lvl="0">
              <a:defRPr/>
            </a:pP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  - 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에포크 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20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회로 설정                                                          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  <a:p>
            <a:pPr lvl="0"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 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- EarlyStopping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을 적용하여 과적합 방지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39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>
              <a:alpha val="100000"/>
            </a:srgbClr>
          </a:solidFill>
        </p:spPr>
        <p:txBody>
          <a:bodyPr vert="horz" wrap="square" lIns="91424" tIns="91424" rIns="91424" bIns="91424" anchor="t" anchorCtr="0">
            <a:noAutofit/>
          </a:bodyPr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5.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인공지능 학습 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상세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)</a:t>
            </a:r>
            <a:endPara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<a:solidFill>
                <a:srgbClr val="ffffff"/>
              </a:solidFill>
              <a:latin typeface="KoPub돋움체 Light"/>
              <a:ea typeface="KoPub돋움체 Light"/>
              <a:cs typeface="Corbe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;p4"/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>
                <a:latin typeface="KoPub돋움체 Light"/>
                <a:ea typeface="KoPub돋움체 Light"/>
                <a:cs typeface="+mn-cs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20</a:t>
            </a:fld>
            <a:endParaRPr lang="en-US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45858" y="878361"/>
            <a:ext cx="424376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20" indent="-57120">
              <a:buFont typeface="Arial"/>
              <a:buChar char="•"/>
              <a:defRPr/>
            </a:pP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 미세 조정</a:t>
            </a:r>
            <a:endParaRPr lang="ko-KR" altLang="en-US" sz="1050">
              <a:latin typeface="KoPub돋움체 Light"/>
              <a:ea typeface="KoPub돋움체 Light"/>
              <a:cs typeface="+mn-cs"/>
            </a:endParaRP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8866" y="1181098"/>
            <a:ext cx="1612987" cy="1498204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149257" y="1693270"/>
            <a:ext cx="2508971" cy="103911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092881" y="977657"/>
            <a:ext cx="371224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20" indent="-57120">
              <a:buFont typeface="Arial"/>
              <a:buChar char="•"/>
              <a:defRPr/>
            </a:pP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 학습 진행 및 결과</a:t>
            </a:r>
            <a:endParaRPr lang="ko-KR" altLang="en-US" sz="1050">
              <a:latin typeface="KoPub돋움체 Light"/>
              <a:ea typeface="KoPub돋움체 Light"/>
              <a:cs typeface="+mn-cs"/>
            </a:endParaRPr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005768" y="1296969"/>
            <a:ext cx="3798880" cy="1886386"/>
          </a:xfrm>
          <a:prstGeom prst="rect">
            <a:avLst/>
          </a:prstGeom>
        </p:spPr>
      </p:pic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006264" y="3434770"/>
            <a:ext cx="3532094" cy="355579"/>
          </a:xfrm>
          <a:prstGeom prst="rect">
            <a:avLst/>
          </a:prstGeom>
        </p:spPr>
      </p:pic>
      <p:sp>
        <p:nvSpPr>
          <p:cNvPr id="44" name="TextBox 37"/>
          <p:cNvSpPr txBox="1"/>
          <p:nvPr/>
        </p:nvSpPr>
        <p:spPr>
          <a:xfrm>
            <a:off x="5009653" y="3890642"/>
            <a:ext cx="3462805" cy="8890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Font typeface="Arial"/>
              <a:buNone/>
              <a:defRPr/>
            </a:pP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 - 학습/검증 데이터에 대한 정확도가 꾸준히 증가함(손실값 또한 꾸준히 감소)</a:t>
            </a:r>
            <a:endParaRPr lang="ko-KR" altLang="en-US" sz="1050">
              <a:latin typeface="KoPub돋움체 Light"/>
              <a:ea typeface="KoPub돋움체 Light"/>
              <a:cs typeface="+mn-cs"/>
            </a:endParaRPr>
          </a:p>
          <a:p>
            <a:pPr marL="0" indent="0">
              <a:buFont typeface="Arial"/>
              <a:buNone/>
              <a:defRPr/>
            </a:pP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 - 검증 데이터에 대한 정확도: 0.7653</a:t>
            </a:r>
            <a:endParaRPr lang="ko-KR" altLang="en-US" sz="1050">
              <a:latin typeface="KoPub돋움체 Light"/>
              <a:ea typeface="KoPub돋움체 Light"/>
              <a:cs typeface="+mn-cs"/>
            </a:endParaRPr>
          </a:p>
          <a:p>
            <a:pPr marL="0" indent="0">
              <a:buFont typeface="Arial"/>
              <a:buNone/>
              <a:defRPr/>
            </a:pP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  검증 데이터에 대한 손실: 0.9239</a:t>
            </a:r>
            <a:endParaRPr lang="ko-KR" altLang="en-US" sz="1050">
              <a:latin typeface="KoPub돋움체 Light"/>
              <a:ea typeface="KoPub돋움체 Light"/>
              <a:cs typeface="+mn-cs"/>
            </a:endParaRPr>
          </a:p>
          <a:p>
            <a:pPr marL="0" indent="0">
              <a:buFont typeface="Arial"/>
              <a:buNone/>
              <a:defRPr/>
            </a:pP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   → 초기 학습 결과보다 향상된 결과를 얻어냄</a:t>
            </a:r>
            <a:endParaRPr lang="ko-KR" altLang="en-US" sz="1050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08866" y="2783361"/>
            <a:ext cx="4243763" cy="12234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050">
                <a:latin typeface="KoPub돋움체 Light"/>
                <a:ea typeface="KoPub돋움체 Light"/>
                <a:cs typeface="+mn-cs"/>
              </a:rPr>
              <a:t>- </a:t>
            </a: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모델의 마지막 </a:t>
            </a:r>
            <a:r>
              <a:rPr lang="en-US" altLang="ko-KR" sz="1050">
                <a:latin typeface="KoPub돋움체 Light"/>
                <a:ea typeface="KoPub돋움체 Light"/>
                <a:cs typeface="+mn-cs"/>
              </a:rPr>
              <a:t>20</a:t>
            </a: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개 레이어만 가중치 동결 해제</a:t>
            </a:r>
            <a:r>
              <a:rPr lang="en-US" altLang="ko-KR" sz="1050">
                <a:latin typeface="KoPub돋움체 Light"/>
                <a:ea typeface="KoPub돋움체 Light"/>
                <a:cs typeface="+mn-cs"/>
              </a:rPr>
              <a:t>(</a:t>
            </a: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나머지 레이어는 </a:t>
            </a:r>
            <a:endParaRPr lang="ko-KR" altLang="en-US" sz="105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  반복문으로 가중치 동결 및 학습 제외</a:t>
            </a:r>
            <a:r>
              <a:rPr lang="en-US" altLang="ko-KR" sz="1050">
                <a:latin typeface="KoPub돋움체 Light"/>
                <a:ea typeface="KoPub돋움체 Light"/>
                <a:cs typeface="+mn-cs"/>
              </a:rPr>
              <a:t>)</a:t>
            </a:r>
            <a:endParaRPr lang="en-US" altLang="ko-KR" sz="105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en-US" altLang="ko-KR" sz="1050">
                <a:latin typeface="KoPub돋움체 Light"/>
                <a:ea typeface="KoPub돋움체 Light"/>
                <a:cs typeface="+mn-cs"/>
              </a:rPr>
              <a:t>   → </a:t>
            </a: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초기 레이어는 고정함으로서 모델의 안정성 유지</a:t>
            </a:r>
            <a:endParaRPr lang="ko-KR" altLang="en-US" sz="105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      마지막 레이어는 새로운 데이터에 맞춰서 미세하게 조정</a:t>
            </a:r>
            <a:endParaRPr lang="ko-KR" altLang="en-US" sz="105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050">
                <a:latin typeface="KoPub돋움체 Light"/>
                <a:ea typeface="KoPub돋움체 Light"/>
                <a:cs typeface="+mn-cs"/>
              </a:rPr>
              <a:t>- </a:t>
            </a: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콜백 함수에 </a:t>
            </a:r>
            <a:r>
              <a:rPr lang="en-US" altLang="ko-KR" sz="1050">
                <a:latin typeface="KoPub돋움체 Light"/>
                <a:ea typeface="KoPub돋움체 Light"/>
                <a:cs typeface="+mn-cs"/>
              </a:rPr>
              <a:t>EarlyStopping, ReduceLROnPlateau</a:t>
            </a: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를 추가</a:t>
            </a:r>
            <a:endParaRPr lang="ko-KR" altLang="en-US" sz="105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   → 검증 손실이 특정 기간</a:t>
            </a:r>
            <a:r>
              <a:rPr lang="en-US" altLang="ko-KR" sz="1050">
                <a:latin typeface="KoPub돋움체 Light"/>
                <a:ea typeface="KoPub돋움체 Light"/>
                <a:cs typeface="+mn-cs"/>
              </a:rPr>
              <a:t>(patience=3) </a:t>
            </a: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동안 개선되지 않으면 </a:t>
            </a:r>
            <a:endParaRPr lang="ko-KR" altLang="en-US" sz="105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      학습률을 동적으로 감소</a:t>
            </a:r>
            <a:endParaRPr lang="ko-KR" altLang="en-US" sz="1050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6" name="Google Shape;17;p4"/>
          <p:cNvSpPr>
            <a:spLocks noGrp="1"/>
          </p:cNvSpPr>
          <p:nvPr/>
        </p:nvSpPr>
        <p:spPr>
          <a:xfrm>
            <a:off x="173182" y="555346"/>
            <a:ext cx="8780318" cy="3230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>
              <a:defRPr/>
            </a:pPr>
            <a:r>
              <a:rPr lang="en-US" altLang="ko-KR" sz="1400" b="1">
                <a:latin typeface="KoPub돋움체 Light"/>
                <a:ea typeface="KoPub돋움체 Light"/>
                <a:cs typeface="+mn-cs"/>
              </a:rPr>
              <a:t>EfficientNetB0</a:t>
            </a:r>
            <a:r>
              <a:rPr kumimoji="0" lang="en-US" altLang="ko-KR" sz="1400" b="1" i="0" u="none" strike="noStrike" kern="0" cap="none" spc="-100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 </a:t>
            </a:r>
            <a:r>
              <a:rPr kumimoji="0" lang="ko-KR" altLang="en-US" sz="1400" b="1" i="0" u="none" strike="noStrike" kern="0" cap="none" spc="-104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모델</a:t>
            </a:r>
            <a:endParaRPr kumimoji="0" lang="ko-KR" altLang="en-US" sz="1400" b="1" i="0" u="none" strike="noStrike" kern="0" cap="none" spc="-104" normalizeH="0" baseline="0">
              <a:solidFill>
                <a:schemeClr val="dk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9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>
              <a:alpha val="100000"/>
            </a:srgbClr>
          </a:solidFill>
        </p:spPr>
        <p:txBody>
          <a:bodyPr vert="horz" wrap="square" lIns="91424" tIns="91424" rIns="91424" bIns="91424" anchor="t" anchorCtr="0">
            <a:noAutofit/>
          </a:bodyPr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5.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인공지능 학습 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상세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)</a:t>
            </a:r>
            <a:endPara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<a:solidFill>
                <a:srgbClr val="ffffff"/>
              </a:solidFill>
              <a:latin typeface="KoPub돋움체 Light"/>
              <a:ea typeface="KoPub돋움체 Light"/>
              <a:cs typeface="Corbe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;p4"/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>
                <a:latin typeface="KoPub돋움체 Light"/>
                <a:ea typeface="KoPub돋움체 Light"/>
                <a:cs typeface="+mn-cs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21</a:t>
            </a:fld>
            <a:endParaRPr lang="en-US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74007" y="992112"/>
            <a:ext cx="4533902" cy="2347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20" lvl="8" indent="-57120">
              <a:buFont typeface="Arial"/>
              <a:buChar char="•"/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학습 결과에 대한 그래프 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</p:txBody>
      </p:sp>
      <p:pic>
        <p:nvPicPr>
          <p:cNvPr id="43" name="그림 4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0" y="1890108"/>
            <a:ext cx="4122150" cy="22264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07909" y="1540934"/>
            <a:ext cx="1112831" cy="238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▶ 미세 조정 결과</a:t>
            </a:r>
            <a:endParaRPr lang="ko-KR" altLang="en-US" sz="1000"/>
          </a:p>
        </p:txBody>
      </p:sp>
      <p:sp>
        <p:nvSpPr>
          <p:cNvPr id="5" name="TextBox 4"/>
          <p:cNvSpPr txBox="1"/>
          <p:nvPr/>
        </p:nvSpPr>
        <p:spPr>
          <a:xfrm>
            <a:off x="308182" y="1540935"/>
            <a:ext cx="1031033" cy="2383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▶ 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1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차 학습 결과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7" name="Google Shape;17;p4"/>
          <p:cNvSpPr>
            <a:spLocks noGrp="1"/>
          </p:cNvSpPr>
          <p:nvPr/>
        </p:nvSpPr>
        <p:spPr>
          <a:xfrm>
            <a:off x="173182" y="555346"/>
            <a:ext cx="8780318" cy="3230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>
              <a:defRPr/>
            </a:pPr>
            <a:r>
              <a:rPr lang="en-US" altLang="ko-KR" sz="1400" b="1">
                <a:latin typeface="KoPub돋움체 Light"/>
                <a:ea typeface="KoPub돋움체 Light"/>
                <a:cs typeface="+mn-cs"/>
              </a:rPr>
              <a:t>EfficientNetB0</a:t>
            </a:r>
            <a:r>
              <a:rPr kumimoji="0" lang="en-US" altLang="ko-KR" sz="1400" b="1" i="0" u="none" strike="noStrike" kern="0" cap="none" spc="-100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 </a:t>
            </a:r>
            <a:r>
              <a:rPr kumimoji="0" lang="ko-KR" altLang="en-US" sz="1400" b="1" i="0" u="none" strike="noStrike" kern="0" cap="none" spc="-104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모델</a:t>
            </a:r>
            <a:endParaRPr kumimoji="0" lang="ko-KR" altLang="en-US" sz="1400" b="1" i="0" u="none" strike="noStrike" kern="0" cap="none" spc="-104" normalizeH="0" baseline="0">
              <a:solidFill>
                <a:schemeClr val="dk1"/>
              </a:solidFill>
              <a:latin typeface="KoPub돋움체 Light"/>
              <a:ea typeface="KoPub돋움체 Light"/>
              <a:cs typeface="+mn-cs"/>
            </a:endParaRPr>
          </a:p>
        </p:txBody>
      </p:sp>
      <p:pic>
        <p:nvPicPr>
          <p:cNvPr id="49" name="그림 4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40366" y="1896910"/>
            <a:ext cx="4039157" cy="2181628"/>
          </a:xfrm>
          <a:prstGeom prst="rect">
            <a:avLst/>
          </a:prstGeom>
        </p:spPr>
      </p:pic>
      <p:sp>
        <p:nvSpPr>
          <p:cNvPr id="51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>
              <a:alpha val="100000"/>
            </a:srgbClr>
          </a:solidFill>
        </p:spPr>
        <p:txBody>
          <a:bodyPr vert="horz" wrap="square" lIns="91424" tIns="91424" rIns="91424" bIns="91424" anchor="t" anchorCtr="0">
            <a:noAutofit/>
          </a:bodyPr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5.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인공지능 학습 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상세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)</a:t>
            </a:r>
            <a:endPara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<a:solidFill>
                <a:srgbClr val="ffffff"/>
              </a:solidFill>
              <a:latin typeface="KoPub돋움체 Light"/>
              <a:ea typeface="KoPub돋움체 Light"/>
              <a:cs typeface="Corbe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/>
          <p:cNvSpPr txBox="1"/>
          <p:nvPr/>
        </p:nvSpPr>
        <p:spPr>
          <a:xfrm>
            <a:off x="273728" y="1922906"/>
            <a:ext cx="4985923" cy="3897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20" indent="-57120">
              <a:buFont typeface="Arial"/>
              <a:buChar char="•"/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Detection Computer Vision Dataset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  <a:p>
            <a:pPr marL="0" indent="0">
              <a:buFont typeface="Arial"/>
              <a:buNone/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 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-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바운딩 박스 라벨링이 완료된 데이터셋을 YOLOv8 형식으로 다운로드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Google Shape;19;p4"/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>
                <a:latin typeface="KoPub돋움체 Light"/>
                <a:ea typeface="KoPub돋움체 Light"/>
                <a:cs typeface="+mn-cs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22</a:t>
            </a:fld>
            <a:endParaRPr lang="en-US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4" name="Google Shape;68;p15"/>
          <p:cNvSpPr txBox="1">
            <a:spLocks noGrp="1"/>
          </p:cNvSpPr>
          <p:nvPr/>
        </p:nvSpPr>
        <p:spPr>
          <a:xfrm>
            <a:off x="190500" y="878361"/>
            <a:ext cx="4294459" cy="295272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>
              <a:defRPr/>
            </a:pPr>
            <a:r>
              <a:rPr lang="en-US" altLang="ko-KR" sz="1200" b="1">
                <a:latin typeface="KoPub돋움체 Light"/>
                <a:ea typeface="KoPub돋움체 Light"/>
                <a:cs typeface="+mn-cs"/>
              </a:rPr>
              <a:t>■ YOLOv8n: YOLOv8의 경량 모델(</a:t>
            </a:r>
            <a:r>
              <a:rPr lang="ko-KR" altLang="en-US" sz="1200" b="1">
                <a:latin typeface="KoPub돋움체 Light"/>
                <a:ea typeface="KoPub돋움체 Light"/>
                <a:cs typeface="+mn-cs"/>
              </a:rPr>
              <a:t>객체 탐지 특화 모델</a:t>
            </a:r>
            <a:r>
              <a:rPr lang="en-US" altLang="ko-KR" sz="1200" b="1">
                <a:latin typeface="KoPub돋움체 Light"/>
                <a:ea typeface="KoPub돋움체 Light"/>
                <a:cs typeface="+mn-cs"/>
              </a:rPr>
              <a:t>)</a:t>
            </a:r>
            <a:endParaRPr lang="en-US" altLang="ko-KR" sz="1200" b="1">
              <a:latin typeface="KoPub돋움체 Light"/>
              <a:ea typeface="KoPub돋움체 Light"/>
              <a:cs typeface="+mn-cs"/>
            </a:endParaRPr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30664" y="1265683"/>
            <a:ext cx="4275421" cy="643695"/>
          </a:xfrm>
          <a:prstGeom prst="rect">
            <a:avLst/>
          </a:prstGeom>
        </p:spPr>
      </p:pic>
      <p:pic>
        <p:nvPicPr>
          <p:cNvPr id="47" name="그림 4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21945" y="2489542"/>
            <a:ext cx="1690048" cy="318875"/>
          </a:xfrm>
          <a:prstGeom prst="rect">
            <a:avLst/>
          </a:prstGeom>
        </p:spPr>
      </p:pic>
      <p:pic>
        <p:nvPicPr>
          <p:cNvPr id="48" name="그림 4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30664" y="2921030"/>
            <a:ext cx="2496302" cy="919297"/>
          </a:xfrm>
          <a:prstGeom prst="rect">
            <a:avLst/>
          </a:prstGeom>
        </p:spPr>
      </p:pic>
      <p:pic>
        <p:nvPicPr>
          <p:cNvPr id="49" name="그림 48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993254" y="2399741"/>
            <a:ext cx="4879885" cy="18324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3728" y="4109413"/>
            <a:ext cx="5256487" cy="85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71400" indent="-71400">
              <a:buFont typeface="Arial"/>
              <a:buChar char="•"/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모델 생성 및 학습 결과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  <a:p>
            <a:pPr marL="0" indent="0">
              <a:buFont typeface="Arial"/>
              <a:buNone/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- YOLOv8 모델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은 이미 컴파일된 상태의 가중치를 로드하여 사용 → 사용자 컴파일 명령이 불필요함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  <a:p>
            <a:pPr marL="0" indent="0">
              <a:buFont typeface="Arial"/>
              <a:buNone/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- 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에포크 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100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회 설정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  <a:p>
            <a:pPr marL="0" indent="0">
              <a:buFont typeface="Arial"/>
              <a:buNone/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- patience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50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으로 설정</a:t>
            </a:r>
            <a:endParaRPr lang="ko-KR" altLang="en-US" sz="1000">
              <a:latin typeface="KoPub돋움체 Light"/>
              <a:ea typeface="KoPub돋움체 Light"/>
              <a:cs typeface="+mn-cs"/>
            </a:endParaRPr>
          </a:p>
          <a:p>
            <a:pPr marL="0" indent="0">
              <a:buFont typeface="Arial"/>
              <a:buNone/>
              <a:defRPr/>
            </a:pP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000">
                <a:latin typeface="KoPub돋움체 Light"/>
                <a:ea typeface="KoPub돋움체 Light"/>
                <a:cs typeface="+mn-cs"/>
              </a:rPr>
              <a:t>- </a:t>
            </a:r>
            <a:r>
              <a:rPr lang="ko-KR" altLang="en-US" sz="1000">
                <a:latin typeface="KoPub돋움체 Light"/>
                <a:ea typeface="KoPub돋움체 Light"/>
                <a:cs typeface="+mn-cs"/>
              </a:rPr>
              <a:t>학습 결과의 주요 성능 지표를 그래프로 표현</a:t>
            </a:r>
            <a:endParaRPr lang="ko-KR" altLang="en-US" sz="1000"/>
          </a:p>
        </p:txBody>
      </p:sp>
      <p:sp>
        <p:nvSpPr>
          <p:cNvPr id="22" name="Google Shape;17;p4"/>
          <p:cNvSpPr>
            <a:spLocks noGrp="1"/>
          </p:cNvSpPr>
          <p:nvPr/>
        </p:nvSpPr>
        <p:spPr>
          <a:xfrm>
            <a:off x="173182" y="555346"/>
            <a:ext cx="8780318" cy="3230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>
              <a:defRPr/>
            </a:pPr>
            <a:r>
              <a:rPr lang="en-US" altLang="ko-KR" sz="1400" b="1">
                <a:latin typeface="KoPub돋움체 Light"/>
                <a:ea typeface="KoPub돋움체 Light"/>
                <a:cs typeface="+mn-cs"/>
              </a:rPr>
              <a:t>YOLOv8n</a:t>
            </a:r>
            <a:r>
              <a:rPr kumimoji="0" lang="en-US" altLang="ko-KR" sz="1400" b="1" i="0" u="none" strike="noStrike" kern="0" cap="none" spc="-100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 </a:t>
            </a:r>
            <a:r>
              <a:rPr kumimoji="0" lang="ko-KR" altLang="en-US" sz="1400" b="1" i="0" u="none" strike="noStrike" kern="0" cap="none" spc="-104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모델</a:t>
            </a:r>
            <a:endParaRPr kumimoji="0" lang="ko-KR" altLang="en-US" sz="1400" b="1" i="0" u="none" strike="noStrike" kern="0" cap="none" spc="-104" normalizeH="0" baseline="0">
              <a:solidFill>
                <a:schemeClr val="dk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56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>
              <a:alpha val="100000"/>
            </a:srgbClr>
          </a:solidFill>
        </p:spPr>
        <p:txBody>
          <a:bodyPr vert="horz" wrap="square" lIns="91424" tIns="91424" rIns="91424" bIns="91424" anchor="t" anchorCtr="0">
            <a:noAutofit/>
          </a:bodyPr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5.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인공지능 학습 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상세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)</a:t>
            </a:r>
            <a:endPara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<a:solidFill>
                <a:srgbClr val="ffffff"/>
              </a:solidFill>
              <a:latin typeface="KoPub돋움체 Light"/>
              <a:ea typeface="KoPub돋움체 Light"/>
              <a:cs typeface="Corbe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;p4"/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>
                <a:latin typeface="KoPub돋움체 Light"/>
                <a:ea typeface="KoPub돋움체 Light"/>
                <a:cs typeface="+mn-cs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23</a:t>
            </a:fld>
            <a:endParaRPr lang="en-US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67069" y="976222"/>
            <a:ext cx="1486304" cy="5744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1400" indent="-71400">
              <a:buFont typeface="Arial"/>
              <a:buChar char="•"/>
              <a:defRPr/>
            </a:pPr>
            <a:r>
              <a:rPr lang="ko-KR" altLang="en-US" sz="1100">
                <a:latin typeface="KoPub돋움체 Light"/>
                <a:ea typeface="KoPub돋움체 Light"/>
                <a:cs typeface="+mn-cs"/>
              </a:rPr>
              <a:t> 학습 결과 시각화</a:t>
            </a:r>
            <a:endParaRPr lang="ko-KR" altLang="en-US" sz="1100">
              <a:latin typeface="KoPub돋움체 Light"/>
              <a:ea typeface="KoPub돋움체 Light"/>
              <a:cs typeface="+mn-cs"/>
            </a:endParaRPr>
          </a:p>
          <a:p>
            <a:pPr marL="0" indent="0">
              <a:buFont typeface="Arial"/>
              <a:buNone/>
              <a:defRPr/>
            </a:pP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 </a:t>
            </a:r>
            <a:endParaRPr lang="ko-KR" altLang="en-US" sz="1050">
              <a:latin typeface="KoPub돋움체 Light"/>
              <a:ea typeface="KoPub돋움체 Light"/>
              <a:cs typeface="+mn-cs"/>
            </a:endParaRPr>
          </a:p>
          <a:p>
            <a:pPr marL="0" indent="0">
              <a:buFont typeface="Arial"/>
              <a:buNone/>
              <a:defRPr/>
            </a:pP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 ▶ 성능 평가 지표</a:t>
            </a:r>
            <a:endParaRPr lang="ko-KR" altLang="en-US" sz="1050">
              <a:latin typeface="KoPub돋움체 Light"/>
              <a:ea typeface="KoPub돋움체 Light"/>
              <a:cs typeface="+mn-cs"/>
            </a:endParaRPr>
          </a:p>
        </p:txBody>
      </p:sp>
      <p:pic>
        <p:nvPicPr>
          <p:cNvPr id="51" name="그림 5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79062" y="1658858"/>
            <a:ext cx="4184279" cy="2092139"/>
          </a:xfrm>
          <a:prstGeom prst="rect">
            <a:avLst/>
          </a:prstGeom>
        </p:spPr>
      </p:pic>
      <p:pic>
        <p:nvPicPr>
          <p:cNvPr id="52" name="그림 5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863091" y="1631415"/>
            <a:ext cx="3264173" cy="217558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63091" y="1220843"/>
            <a:ext cx="125066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100">
                <a:latin typeface="KoPub돋움체 Light"/>
                <a:ea typeface="KoPub돋움체 Light"/>
                <a:cs typeface="+mn-cs"/>
              </a:rPr>
              <a:t>▶ F1-스코어 곡선</a:t>
            </a:r>
            <a:endParaRPr lang="ko-KR" altLang="en-US" sz="1400"/>
          </a:p>
        </p:txBody>
      </p:sp>
      <p:sp>
        <p:nvSpPr>
          <p:cNvPr id="5" name="TextBox 4"/>
          <p:cNvSpPr txBox="1"/>
          <p:nvPr/>
        </p:nvSpPr>
        <p:spPr>
          <a:xfrm>
            <a:off x="267069" y="3846152"/>
            <a:ext cx="3434346" cy="5620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050">
                <a:latin typeface="KoPub돋움체 Light"/>
                <a:ea typeface="KoPub돋움체 Light"/>
                <a:cs typeface="+mn-cs"/>
              </a:rPr>
              <a:t> - Precision (</a:t>
            </a: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정밀도</a:t>
            </a:r>
            <a:r>
              <a:rPr lang="en-US" altLang="ko-KR" sz="1050">
                <a:latin typeface="KoPub돋움체 Light"/>
                <a:ea typeface="KoPub돋움체 Light"/>
                <a:cs typeface="+mn-cs"/>
              </a:rPr>
              <a:t>): 0.810</a:t>
            </a:r>
            <a:endParaRPr lang="en-US" altLang="ko-KR" sz="1050">
              <a:latin typeface="KoPub돋움체 Light"/>
              <a:ea typeface="KoPub돋움체 Light"/>
              <a:cs typeface="+mn-cs"/>
            </a:endParaRPr>
          </a:p>
          <a:p>
            <a:pPr lvl="0">
              <a:defRPr/>
            </a:pPr>
            <a:r>
              <a:rPr lang="en-US" altLang="ko-KR" sz="1050">
                <a:latin typeface="KoPub돋움체 Light"/>
                <a:ea typeface="KoPub돋움체 Light"/>
                <a:cs typeface="+mn-cs"/>
              </a:rPr>
              <a:t> - Recall (</a:t>
            </a: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재현율</a:t>
            </a:r>
            <a:r>
              <a:rPr lang="en-US" altLang="ko-KR" sz="1050">
                <a:latin typeface="KoPub돋움체 Light"/>
                <a:ea typeface="KoPub돋움체 Light"/>
                <a:cs typeface="+mn-cs"/>
              </a:rPr>
              <a:t>): 0.778</a:t>
            </a:r>
            <a:endParaRPr lang="en-US" altLang="ko-KR" sz="1050">
              <a:latin typeface="KoPub돋움체 Light"/>
              <a:ea typeface="KoPub돋움체 Light"/>
              <a:cs typeface="+mn-cs"/>
            </a:endParaRPr>
          </a:p>
          <a:p>
            <a:pPr lvl="0">
              <a:defRPr/>
            </a:pPr>
            <a:r>
              <a:rPr lang="en-US" altLang="ko-KR" sz="1050">
                <a:latin typeface="KoPub돋움체 Light"/>
                <a:ea typeface="KoPub돋움체 Light"/>
                <a:cs typeface="+mn-cs"/>
              </a:rPr>
              <a:t> - mAP50 (mean Average Precision @ IoU=0.5): 0.814</a:t>
            </a:r>
            <a:endParaRPr lang="ko-KR" altLang="en-US" sz="1050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63091" y="3849490"/>
            <a:ext cx="3868474" cy="720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050">
                <a:latin typeface="KoPub돋움체 Light"/>
                <a:ea typeface="KoPub돋움체 Light"/>
                <a:cs typeface="+mn-cs"/>
              </a:rPr>
              <a:t>- </a:t>
            </a: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최대 </a:t>
            </a:r>
            <a:r>
              <a:rPr lang="en-US" altLang="ko-KR" sz="1050">
                <a:latin typeface="KoPub돋움체 Light"/>
                <a:ea typeface="KoPub돋움체 Light"/>
                <a:cs typeface="+mn-cs"/>
              </a:rPr>
              <a:t>F1-</a:t>
            </a: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스코어</a:t>
            </a:r>
            <a:r>
              <a:rPr lang="en-US" altLang="ko-KR" sz="1050">
                <a:latin typeface="KoPub돋움체 Light"/>
                <a:ea typeface="KoPub돋움체 Light"/>
                <a:cs typeface="+mn-cs"/>
              </a:rPr>
              <a:t>: </a:t>
            </a: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그래프의 가장 높은 지점은 약 </a:t>
            </a:r>
            <a:r>
              <a:rPr lang="en-US" altLang="ko-KR" sz="1050">
                <a:latin typeface="KoPub돋움체 Light"/>
                <a:ea typeface="KoPub돋움체 Light"/>
                <a:cs typeface="+mn-cs"/>
              </a:rPr>
              <a:t>0.80</a:t>
            </a: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으로</a:t>
            </a:r>
            <a:r>
              <a:rPr lang="en-US" altLang="ko-KR" sz="1050">
                <a:latin typeface="KoPub돋움체 Light"/>
                <a:ea typeface="KoPub돋움체 Light"/>
                <a:cs typeface="+mn-cs"/>
              </a:rPr>
              <a:t>, </a:t>
            </a: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모델이 정밀도와 재현율 사이에서 높은 균형점을 찾음</a:t>
            </a:r>
            <a:r>
              <a:rPr lang="en-US" altLang="ko-KR" sz="1050">
                <a:latin typeface="KoPub돋움체 Light"/>
                <a:ea typeface="KoPub돋움체 Light"/>
                <a:cs typeface="+mn-cs"/>
              </a:rPr>
              <a:t>.</a:t>
            </a:r>
            <a:endParaRPr lang="en-US" altLang="ko-KR" sz="1050">
              <a:latin typeface="KoPub돋움체 Light"/>
              <a:ea typeface="KoPub돋움체 Light"/>
              <a:cs typeface="+mn-cs"/>
            </a:endParaRPr>
          </a:p>
          <a:p>
            <a:pPr lvl="0">
              <a:defRPr/>
            </a:pP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050">
                <a:latin typeface="KoPub돋움체 Light"/>
                <a:ea typeface="KoPub돋움체 Light"/>
                <a:cs typeface="+mn-cs"/>
              </a:rPr>
              <a:t>- </a:t>
            </a: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임계값</a:t>
            </a:r>
            <a:r>
              <a:rPr lang="en-US" altLang="ko-KR" sz="1050">
                <a:latin typeface="KoPub돋움체 Light"/>
                <a:ea typeface="KoPub돋움체 Light"/>
                <a:cs typeface="+mn-cs"/>
              </a:rPr>
              <a:t>(Confidence Threshold): 0.4 </a:t>
            </a: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근처로</a:t>
            </a:r>
            <a:r>
              <a:rPr lang="en-US" altLang="ko-KR" sz="1050">
                <a:latin typeface="KoPub돋움체 Light"/>
                <a:ea typeface="KoPub돋움체 Light"/>
                <a:cs typeface="+mn-cs"/>
              </a:rPr>
              <a:t>, 0.4 </a:t>
            </a:r>
            <a:r>
              <a:rPr lang="ko-KR" altLang="en-US" sz="1050">
                <a:latin typeface="KoPub돋움체 Light"/>
                <a:ea typeface="KoPub돋움체 Light"/>
                <a:cs typeface="+mn-cs"/>
              </a:rPr>
              <a:t>이상의 신뢰도를 가진 예측만을 최종 결과로 채택했을 때 가장 좋은 성능을 냄</a:t>
            </a:r>
            <a:r>
              <a:rPr lang="en-US" altLang="ko-KR" sz="1050">
                <a:latin typeface="KoPub돋움체 Light"/>
                <a:ea typeface="KoPub돋움체 Light"/>
                <a:cs typeface="+mn-cs"/>
              </a:rPr>
              <a:t>.</a:t>
            </a:r>
            <a:endParaRPr lang="ko-KR" altLang="en-US" sz="1050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56" name="Google Shape;17;p4"/>
          <p:cNvSpPr>
            <a:spLocks noGrp="1"/>
          </p:cNvSpPr>
          <p:nvPr/>
        </p:nvSpPr>
        <p:spPr>
          <a:xfrm>
            <a:off x="173182" y="555346"/>
            <a:ext cx="8780318" cy="3230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>
              <a:defRPr/>
            </a:pPr>
            <a:r>
              <a:rPr lang="en-US" altLang="ko-KR" sz="1400" b="1">
                <a:latin typeface="KoPub돋움체 Light"/>
                <a:ea typeface="KoPub돋움체 Light"/>
                <a:cs typeface="+mn-cs"/>
              </a:rPr>
              <a:t>YOLOv8n</a:t>
            </a:r>
            <a:r>
              <a:rPr kumimoji="0" lang="en-US" altLang="ko-KR" sz="1400" b="1" i="0" u="none" strike="noStrike" kern="0" cap="none" spc="-100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 </a:t>
            </a:r>
            <a:r>
              <a:rPr kumimoji="0" lang="ko-KR" altLang="en-US" sz="1400" b="1" i="0" u="none" strike="noStrike" kern="0" cap="none" spc="-104" normalizeH="0" baseline="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모델</a:t>
            </a:r>
            <a:endParaRPr kumimoji="0" lang="ko-KR" altLang="en-US" sz="1400" b="1" i="0" u="none" strike="noStrike" kern="0" cap="none" spc="-104" normalizeH="0" baseline="0">
              <a:solidFill>
                <a:schemeClr val="dk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59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>
              <a:alpha val="100000"/>
            </a:srgbClr>
          </a:solidFill>
        </p:spPr>
        <p:txBody>
          <a:bodyPr vert="horz" wrap="square" lIns="91424" tIns="91424" rIns="91424" bIns="91424" anchor="t" anchorCtr="0">
            <a:noAutofit/>
          </a:bodyPr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5.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인공지능 학습 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상세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)</a:t>
            </a:r>
            <a:endPara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<a:solidFill>
                <a:srgbClr val="ffffff"/>
              </a:solidFill>
              <a:latin typeface="KoPub돋움체 Light"/>
              <a:ea typeface="KoPub돋움체 Light"/>
              <a:cs typeface="Corbe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>
                <a:latin typeface="KoPub돋움체 Light"/>
                <a:ea typeface="KoPub돋움체 Light"/>
                <a:cs typeface="+mn-cs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24</a:t>
            </a:fld>
            <a:endParaRPr lang="en-US" altLang="ko">
              <a:latin typeface="KoPub돋움체 Light"/>
              <a:ea typeface="KoPub돋움체 Light"/>
              <a:cs typeface="+mn-cs"/>
            </a:endParaRPr>
          </a:p>
        </p:txBody>
      </p:sp>
      <p:graphicFrame>
        <p:nvGraphicFramePr>
          <p:cNvPr id="179" name="Group 369"/>
          <p:cNvGraphicFramePr>
            <a:graphicFrameLocks noGrp="1"/>
          </p:cNvGraphicFramePr>
          <p:nvPr/>
        </p:nvGraphicFramePr>
        <p:xfrm>
          <a:off x="6182338" y="2452407"/>
          <a:ext cx="2744027" cy="2482665"/>
        </p:xfrm>
        <a:graphic>
          <a:graphicData uri="http://schemas.openxmlformats.org/drawingml/2006/table">
            <a:tbl>
              <a:tblPr firstRow="1" bandRow="1"/>
              <a:tblGrid>
                <a:gridCol w="322205"/>
                <a:gridCol w="616611"/>
                <a:gridCol w="1805211"/>
              </a:tblGrid>
              <a:tr h="215265">
                <a:tc gridSpan="3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Validation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2c7f1"/>
                    </a:solidFill>
                  </a:tcPr>
                </a:tc>
                <a:tc hMerge="1">
                  <a:txBody>
                    <a:bodyPr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24135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번호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버튼명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설명</a:t>
                      </a:r>
                      <a:endParaRPr kumimoji="1" lang="ko-KR" altLang="en-US" sz="800" b="1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4135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V1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54000" rIns="3600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 아이디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36000" marR="36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회원 정보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135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V2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54000" rIns="3600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 이름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36000" marR="36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회원의 이름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,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 또는 별명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135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V3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비밀번호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계정에 접속하기 위한 암호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7470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V4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비밀번호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확인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앞의 비밀번호와 일치해야만 수정 가능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1825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V5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신장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회원의 키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1825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V6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체중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회원의 몸무게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1825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V7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이메일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회원의 이메일 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(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선택사항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)</a:t>
                      </a:r>
                      <a:endParaRPr lang="en-US" altLang="ko-KR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1825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V8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전화번호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회원의 전화번호 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(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선택사항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)</a:t>
                      </a:r>
                      <a:endParaRPr lang="en-US" altLang="ko-KR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80" name="그림 17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96183" y="737065"/>
            <a:ext cx="5894342" cy="4006049"/>
          </a:xfrm>
          <a:prstGeom prst="rect">
            <a:avLst/>
          </a:prstGeom>
        </p:spPr>
      </p:pic>
      <p:sp>
        <p:nvSpPr>
          <p:cNvPr id="181" name="직사각형 167"/>
          <p:cNvSpPr/>
          <p:nvPr/>
        </p:nvSpPr>
        <p:spPr>
          <a:xfrm>
            <a:off x="1255470" y="1621699"/>
            <a:ext cx="313307" cy="156099"/>
          </a:xfrm>
          <a:prstGeom prst="rect">
            <a:avLst/>
          </a:prstGeom>
          <a:solidFill>
            <a:srgbClr val="42c7f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V1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82" name="직사각형 168"/>
          <p:cNvSpPr/>
          <p:nvPr/>
        </p:nvSpPr>
        <p:spPr>
          <a:xfrm>
            <a:off x="4729384" y="1621698"/>
            <a:ext cx="313307" cy="156099"/>
          </a:xfrm>
          <a:prstGeom prst="rect">
            <a:avLst/>
          </a:prstGeom>
          <a:solidFill>
            <a:srgbClr val="42c7f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V2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83" name="직사각형 169"/>
          <p:cNvSpPr/>
          <p:nvPr/>
        </p:nvSpPr>
        <p:spPr>
          <a:xfrm>
            <a:off x="1247998" y="3027851"/>
            <a:ext cx="313307" cy="156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A1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84" name="직사각형 170"/>
          <p:cNvSpPr/>
          <p:nvPr/>
        </p:nvSpPr>
        <p:spPr>
          <a:xfrm>
            <a:off x="3306721" y="3524531"/>
            <a:ext cx="313307" cy="156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A2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85" name="직사각형 171"/>
          <p:cNvSpPr/>
          <p:nvPr/>
        </p:nvSpPr>
        <p:spPr>
          <a:xfrm>
            <a:off x="1255470" y="1828378"/>
            <a:ext cx="313307" cy="156099"/>
          </a:xfrm>
          <a:prstGeom prst="rect">
            <a:avLst/>
          </a:prstGeom>
          <a:solidFill>
            <a:srgbClr val="42c7f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V3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86" name="직사각형 172"/>
          <p:cNvSpPr/>
          <p:nvPr/>
        </p:nvSpPr>
        <p:spPr>
          <a:xfrm>
            <a:off x="4729384" y="1828377"/>
            <a:ext cx="313307" cy="156099"/>
          </a:xfrm>
          <a:prstGeom prst="rect">
            <a:avLst/>
          </a:prstGeom>
          <a:solidFill>
            <a:srgbClr val="42c7f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V4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87" name="직사각형 173"/>
          <p:cNvSpPr/>
          <p:nvPr/>
        </p:nvSpPr>
        <p:spPr>
          <a:xfrm>
            <a:off x="1250326" y="2415651"/>
            <a:ext cx="313307" cy="156099"/>
          </a:xfrm>
          <a:prstGeom prst="rect">
            <a:avLst/>
          </a:prstGeom>
          <a:solidFill>
            <a:srgbClr val="42c7f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V5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88" name="직사각형 174"/>
          <p:cNvSpPr/>
          <p:nvPr/>
        </p:nvSpPr>
        <p:spPr>
          <a:xfrm>
            <a:off x="4727227" y="2416858"/>
            <a:ext cx="313307" cy="156099"/>
          </a:xfrm>
          <a:prstGeom prst="rect">
            <a:avLst/>
          </a:prstGeom>
          <a:solidFill>
            <a:srgbClr val="42c7f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V6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89" name="직사각형 175"/>
          <p:cNvSpPr/>
          <p:nvPr/>
        </p:nvSpPr>
        <p:spPr>
          <a:xfrm>
            <a:off x="1250325" y="2782224"/>
            <a:ext cx="313307" cy="156099"/>
          </a:xfrm>
          <a:prstGeom prst="rect">
            <a:avLst/>
          </a:prstGeom>
          <a:solidFill>
            <a:srgbClr val="42c7f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V7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90" name="직사각형 176"/>
          <p:cNvSpPr/>
          <p:nvPr/>
        </p:nvSpPr>
        <p:spPr>
          <a:xfrm>
            <a:off x="4722241" y="2782224"/>
            <a:ext cx="313307" cy="156099"/>
          </a:xfrm>
          <a:prstGeom prst="rect">
            <a:avLst/>
          </a:prstGeom>
          <a:solidFill>
            <a:srgbClr val="42c7f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V8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91" name="직사각형 178"/>
          <p:cNvSpPr/>
          <p:nvPr/>
        </p:nvSpPr>
        <p:spPr>
          <a:xfrm>
            <a:off x="1255470" y="2037047"/>
            <a:ext cx="313307" cy="156099"/>
          </a:xfrm>
          <a:prstGeom prst="rect">
            <a:avLst/>
          </a:prstGeom>
          <a:solidFill>
            <a:srgbClr val="baff1a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C1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92" name="직사각형 180"/>
          <p:cNvSpPr/>
          <p:nvPr/>
        </p:nvSpPr>
        <p:spPr>
          <a:xfrm>
            <a:off x="4729385" y="2037047"/>
            <a:ext cx="313307" cy="156099"/>
          </a:xfrm>
          <a:prstGeom prst="rect">
            <a:avLst/>
          </a:prstGeom>
          <a:solidFill>
            <a:srgbClr val="baff1a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C2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93" name="직사각형 163"/>
          <p:cNvSpPr/>
          <p:nvPr/>
        </p:nvSpPr>
        <p:spPr>
          <a:xfrm>
            <a:off x="2408668" y="3229833"/>
            <a:ext cx="313307" cy="156099"/>
          </a:xfrm>
          <a:prstGeom prst="rect">
            <a:avLst/>
          </a:prstGeom>
          <a:solidFill>
            <a:srgbClr val="80808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D1</a:t>
            </a:r>
            <a:endParaRPr lang="en-US" altLang="ko-KR" sz="80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  <p:graphicFrame>
        <p:nvGraphicFramePr>
          <p:cNvPr id="196" name="Group 369"/>
          <p:cNvGraphicFramePr>
            <a:graphicFrameLocks noGrp="1"/>
          </p:cNvGraphicFramePr>
          <p:nvPr/>
        </p:nvGraphicFramePr>
        <p:xfrm>
          <a:off x="6187558" y="326042"/>
          <a:ext cx="2744626" cy="964665"/>
        </p:xfrm>
        <a:graphic>
          <a:graphicData uri="http://schemas.openxmlformats.org/drawingml/2006/table">
            <a:tbl>
              <a:tblPr firstRow="1" bandRow="1"/>
              <a:tblGrid>
                <a:gridCol w="316692"/>
                <a:gridCol w="2427934"/>
              </a:tblGrid>
              <a:tr h="0">
                <a:tc gridSpan="2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lt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Description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lt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6727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1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새로운 계정을 만들어 서비스를 이용 가능하게 만드는 기능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6727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D1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이메일과 전화번호를 제외한 입력정보는 모두 필수 입력 사항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.</a:t>
                      </a: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7" name="Group 369"/>
          <p:cNvGraphicFramePr>
            <a:graphicFrameLocks noGrp="1"/>
          </p:cNvGraphicFramePr>
          <p:nvPr/>
        </p:nvGraphicFramePr>
        <p:xfrm>
          <a:off x="6187003" y="1347673"/>
          <a:ext cx="2744627" cy="1044090"/>
        </p:xfrm>
        <a:graphic>
          <a:graphicData uri="http://schemas.openxmlformats.org/drawingml/2006/table">
            <a:tbl>
              <a:tblPr firstRow="1" bandRow="1"/>
              <a:tblGrid>
                <a:gridCol w="323184"/>
                <a:gridCol w="646369"/>
                <a:gridCol w="1775074"/>
              </a:tblGrid>
              <a:tr h="0">
                <a:tc gridSpan="3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Action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번호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버튼명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기능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A1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회원가입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상기한 회원정보를 바탕으로 새로운 계정 생성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A2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로그인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계정이 있을 경우 로그인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8" name="Group 253"/>
          <p:cNvGraphicFramePr>
            <a:graphicFrameLocks noGrp="1"/>
          </p:cNvGraphicFramePr>
          <p:nvPr/>
        </p:nvGraphicFramePr>
        <p:xfrm>
          <a:off x="206775" y="322763"/>
          <a:ext cx="5885382" cy="391650"/>
        </p:xfrm>
        <a:graphic>
          <a:graphicData uri="http://schemas.openxmlformats.org/drawingml/2006/table">
            <a:tbl>
              <a:tblPr firstRow="1" bandRow="1"/>
              <a:tblGrid>
                <a:gridCol w="530880"/>
                <a:gridCol w="1974237"/>
                <a:gridCol w="378632"/>
                <a:gridCol w="1419001"/>
                <a:gridCol w="489796"/>
                <a:gridCol w="1092836"/>
              </a:tblGrid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프로젝트명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스마트 음식 영양 분석 &amp; 식단 추천 프로젝트</a:t>
                      </a:r>
                      <a:endParaRPr kumimoji="1" lang="ko-KR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회원가입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ID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DP-1020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위   치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홈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로그아웃 상태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)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&gt;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 회원가입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파일명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member/signup.html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버전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날짜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2025-09-02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0" name="표 166"/>
          <p:cNvGraphicFramePr/>
          <p:nvPr/>
        </p:nvGraphicFramePr>
        <p:xfrm>
          <a:off x="3883393" y="4222711"/>
          <a:ext cx="2206478" cy="697965"/>
        </p:xfrm>
        <a:graphic>
          <a:graphicData uri="http://schemas.openxmlformats.org/drawingml/2006/table">
            <a:tbl>
              <a:tblPr firstRow="1" bandRow="1"/>
              <a:tblGrid>
                <a:gridCol w="365670"/>
                <a:gridCol w="1840808"/>
              </a:tblGrid>
              <a:tr h="202959">
                <a:tc gridSpan="2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Code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aff1a"/>
                    </a:solidFill>
                  </a:tcPr>
                </a:tc>
                <a:tc hMerge="1">
                  <a:txBody>
                    <a:bodyPr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135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C1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 vert="horz" lIns="36000" tIns="54000" rIns="3600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 성별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(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남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/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여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)</a:t>
                      </a: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36000" marR="36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lt1"/>
                    </a:solidFill>
                  </a:tcPr>
                </a:tc>
              </a:tr>
              <a:tr h="24135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C2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 vert="horz" lIns="36000" tIns="54000" rIns="3600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 생년월일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(YYYY-MM-DD)</a:t>
                      </a: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36000" marR="36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03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/>
          </a:solidFill>
        </p:spPr>
        <p:txBody>
          <a:bodyPr vert="horz" wrap="square" lIns="91424" tIns="91424" rIns="91424" bIns="91424" anchor="t" anchorCtr="0">
            <a:noAutofit/>
          </a:bodyPr>
          <a:lstStyle/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kumimoji="0" lang="en-US" altLang="ko-KR" sz="1600" b="1" i="0" u="none" strike="noStrike" kern="1200" cap="none" spc="0" normalizeH="0" baseline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6.</a:t>
            </a:r>
            <a:r>
              <a:rPr kumimoji="0" lang="ko-KR" altLang="en-US" sz="1600" b="1" i="0" u="none" strike="noStrike" kern="1200" cap="none" spc="0" normalizeH="0" baseline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 서비스 화면</a:t>
            </a:r>
            <a:endParaRPr kumimoji="0" lang="ko-KR" altLang="en-US" sz="1600" b="1" i="0" u="none" strike="noStrike" kern="1200" cap="none" spc="0" normalizeH="0" baseline="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>
                <a:latin typeface="KoPub돋움체 Light"/>
                <a:ea typeface="KoPub돋움체 Light"/>
                <a:cs typeface="+mn-cs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25</a:t>
            </a:fld>
            <a:endParaRPr lang="en-US" altLang="ko">
              <a:latin typeface="KoPub돋움체 Light"/>
              <a:ea typeface="KoPub돋움체 Light"/>
              <a:cs typeface="+mn-cs"/>
            </a:endParaRPr>
          </a:p>
        </p:txBody>
      </p:sp>
      <p:pic>
        <p:nvPicPr>
          <p:cNvPr id="173" name="그림 17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5067" y="761744"/>
            <a:ext cx="5889670" cy="3953603"/>
          </a:xfrm>
          <a:prstGeom prst="rect">
            <a:avLst/>
          </a:prstGeom>
        </p:spPr>
      </p:pic>
      <p:sp>
        <p:nvSpPr>
          <p:cNvPr id="174" name="직사각형 166"/>
          <p:cNvSpPr/>
          <p:nvPr/>
        </p:nvSpPr>
        <p:spPr>
          <a:xfrm>
            <a:off x="4183253" y="1855061"/>
            <a:ext cx="313307" cy="156099"/>
          </a:xfrm>
          <a:prstGeom prst="rect">
            <a:avLst/>
          </a:prstGeom>
          <a:solidFill>
            <a:srgbClr val="42c7f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V1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75" name="직사각형 167"/>
          <p:cNvSpPr/>
          <p:nvPr/>
        </p:nvSpPr>
        <p:spPr>
          <a:xfrm>
            <a:off x="4183252" y="2110449"/>
            <a:ext cx="313307" cy="156099"/>
          </a:xfrm>
          <a:prstGeom prst="rect">
            <a:avLst/>
          </a:prstGeom>
          <a:solidFill>
            <a:srgbClr val="42c7f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V2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76" name="직사각형 168"/>
          <p:cNvSpPr/>
          <p:nvPr/>
        </p:nvSpPr>
        <p:spPr>
          <a:xfrm>
            <a:off x="4183254" y="2465125"/>
            <a:ext cx="313307" cy="156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A1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77" name="직사각형 169"/>
          <p:cNvSpPr/>
          <p:nvPr/>
        </p:nvSpPr>
        <p:spPr>
          <a:xfrm>
            <a:off x="3284506" y="2851327"/>
            <a:ext cx="313307" cy="156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A2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78" name="직사각형 163"/>
          <p:cNvSpPr/>
          <p:nvPr/>
        </p:nvSpPr>
        <p:spPr>
          <a:xfrm>
            <a:off x="2223197" y="1673174"/>
            <a:ext cx="313307" cy="156099"/>
          </a:xfrm>
          <a:prstGeom prst="rect">
            <a:avLst/>
          </a:prstGeom>
          <a:solidFill>
            <a:srgbClr val="80808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D1</a:t>
            </a:r>
            <a:endParaRPr lang="en-US" altLang="ko-KR" sz="80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  <p:pic>
        <p:nvPicPr>
          <p:cNvPr id="180" name="그림 17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31743" y="2819159"/>
            <a:ext cx="2148108" cy="514335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181" name="직사각형 163"/>
          <p:cNvSpPr/>
          <p:nvPr/>
        </p:nvSpPr>
        <p:spPr>
          <a:xfrm>
            <a:off x="309978" y="2695228"/>
            <a:ext cx="313307" cy="156099"/>
          </a:xfrm>
          <a:prstGeom prst="rect">
            <a:avLst/>
          </a:prstGeom>
          <a:solidFill>
            <a:srgbClr val="80808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D2</a:t>
            </a:r>
            <a:endParaRPr lang="en-US" altLang="ko-KR" sz="80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82" name="직사각형 163"/>
          <p:cNvSpPr/>
          <p:nvPr/>
        </p:nvSpPr>
        <p:spPr>
          <a:xfrm>
            <a:off x="309977" y="3301326"/>
            <a:ext cx="313307" cy="156099"/>
          </a:xfrm>
          <a:prstGeom prst="rect">
            <a:avLst/>
          </a:prstGeom>
          <a:solidFill>
            <a:srgbClr val="80808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D3</a:t>
            </a:r>
            <a:endParaRPr lang="en-US" altLang="ko-KR" sz="80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  <p:cxnSp>
        <p:nvCxnSpPr>
          <p:cNvPr id="185" name="직선 연결선 184"/>
          <p:cNvCxnSpPr/>
          <p:nvPr/>
        </p:nvCxnSpPr>
        <p:spPr>
          <a:xfrm flipV="1">
            <a:off x="2390659" y="2716751"/>
            <a:ext cx="376237" cy="92868"/>
          </a:xfrm>
          <a:prstGeom prst="line">
            <a:avLst/>
          </a:prstGeom>
          <a:ln w="28575">
            <a:solidFill>
              <a:schemeClr val="accent1">
                <a:shade val="95000"/>
                <a:satMod val="10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0" name="Group 253"/>
          <p:cNvGraphicFramePr>
            <a:graphicFrameLocks noGrp="1"/>
          </p:cNvGraphicFramePr>
          <p:nvPr/>
        </p:nvGraphicFramePr>
        <p:xfrm>
          <a:off x="206775" y="322763"/>
          <a:ext cx="5885382" cy="391650"/>
        </p:xfrm>
        <a:graphic>
          <a:graphicData uri="http://schemas.openxmlformats.org/drawingml/2006/table">
            <a:tbl>
              <a:tblPr firstRow="1" bandRow="1"/>
              <a:tblGrid>
                <a:gridCol w="530880"/>
                <a:gridCol w="1974237"/>
                <a:gridCol w="378632"/>
                <a:gridCol w="1419001"/>
                <a:gridCol w="489796"/>
                <a:gridCol w="1092836"/>
              </a:tblGrid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프로젝트명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스마트 음식 영양 분석 &amp; 식단 추천 프로젝트</a:t>
                      </a:r>
                      <a:endParaRPr kumimoji="1" lang="ko-KR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로그인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ID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DP-1030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위   치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홈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로그아웃 상태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)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&gt;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 로그인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파일명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member/login.html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버전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날짜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2025-09-02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91" name="Group 369"/>
          <p:cNvGraphicFramePr>
            <a:graphicFrameLocks noGrp="1"/>
          </p:cNvGraphicFramePr>
          <p:nvPr/>
        </p:nvGraphicFramePr>
        <p:xfrm>
          <a:off x="6182338" y="3062747"/>
          <a:ext cx="2744027" cy="939315"/>
        </p:xfrm>
        <a:graphic>
          <a:graphicData uri="http://schemas.openxmlformats.org/drawingml/2006/table">
            <a:tbl>
              <a:tblPr firstRow="1" bandRow="1"/>
              <a:tblGrid>
                <a:gridCol w="322205"/>
                <a:gridCol w="616611"/>
                <a:gridCol w="1805211"/>
              </a:tblGrid>
              <a:tr h="162344">
                <a:tc gridSpan="3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Validation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2c7f1"/>
                    </a:solidFill>
                  </a:tcPr>
                </a:tc>
                <a:tc hMerge="1">
                  <a:txBody>
                    <a:bodyPr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182016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번호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버튼명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설명</a:t>
                      </a:r>
                      <a:endParaRPr kumimoji="1" lang="ko-KR" altLang="en-US" sz="800" b="1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82016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V1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54000" rIns="3600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 아이디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36000" marR="36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계정 이름 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(ID)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82016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V2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비밀번호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비밀번호</a:t>
                      </a: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3" name="Group 369"/>
          <p:cNvGraphicFramePr>
            <a:graphicFrameLocks noGrp="1"/>
          </p:cNvGraphicFramePr>
          <p:nvPr/>
        </p:nvGraphicFramePr>
        <p:xfrm>
          <a:off x="6187003" y="1708328"/>
          <a:ext cx="2744428" cy="1167915"/>
        </p:xfrm>
        <a:graphic>
          <a:graphicData uri="http://schemas.openxmlformats.org/drawingml/2006/table">
            <a:tbl>
              <a:tblPr firstRow="1" bandRow="1"/>
              <a:tblGrid>
                <a:gridCol w="323184"/>
                <a:gridCol w="646369"/>
                <a:gridCol w="1774875"/>
              </a:tblGrid>
              <a:tr h="0">
                <a:tc gridSpan="3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Action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번호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버튼명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기능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A1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로그인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로그인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 등록괸 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ID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와 비밀번호가 일치해야 로그인 가능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A2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회원가입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사용자의 계정이 존재할 경우 회원가입 페이지로 이동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4" name="Group 369"/>
          <p:cNvGraphicFramePr>
            <a:graphicFrameLocks noGrp="1"/>
          </p:cNvGraphicFramePr>
          <p:nvPr/>
        </p:nvGraphicFramePr>
        <p:xfrm>
          <a:off x="6187558" y="326042"/>
          <a:ext cx="2744626" cy="1339365"/>
        </p:xfrm>
        <a:graphic>
          <a:graphicData uri="http://schemas.openxmlformats.org/drawingml/2006/table">
            <a:tbl>
              <a:tblPr firstRow="1" bandRow="1"/>
              <a:tblGrid>
                <a:gridCol w="316692"/>
                <a:gridCol w="2427934"/>
              </a:tblGrid>
              <a:tr h="0">
                <a:tc gridSpan="2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lt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Description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lt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D1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회원만 이용할 수 있는 기능을 누르면 로그인을 해야만 이용할 수 있다는 메시지를 표시한다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.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 로그인 버튼으로 들어올 경우 해당 메시지는 보이지 않음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.</a:t>
                      </a: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D2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계정이 존재하지 않거나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,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 비밀번호가 틀리면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 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나타나는 메시지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D3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탈퇴한 회원이 로그인할 경우 나타나는 메시지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97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>
              <a:alpha val="100000"/>
            </a:srgbClr>
          </a:solidFill>
        </p:spPr>
        <p:txBody>
          <a:bodyPr vert="horz" wrap="square" lIns="91424" tIns="91424" rIns="91424" bIns="91424" anchor="t" anchorCtr="0">
            <a:noAutofit/>
          </a:bodyPr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6.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 서비스 화면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ffffff"/>
              </a:solidFill>
              <a:latin typeface="KoPub돋움체 Light"/>
              <a:ea typeface="KoPub돋움체 Light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>
                <a:latin typeface="KoPub돋움체 Light"/>
                <a:ea typeface="KoPub돋움체 Light"/>
                <a:cs typeface="+mn-cs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26</a:t>
            </a:fld>
            <a:endParaRPr lang="en-US" altLang="ko">
              <a:latin typeface="KoPub돋움체 Light"/>
              <a:ea typeface="KoPub돋움체 Light"/>
              <a:cs typeface="+mn-cs"/>
            </a:endParaRPr>
          </a:p>
        </p:txBody>
      </p:sp>
      <p:pic>
        <p:nvPicPr>
          <p:cNvPr id="237" name="그림 23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4705" y="761676"/>
            <a:ext cx="5883865" cy="3959461"/>
          </a:xfrm>
          <a:prstGeom prst="rect">
            <a:avLst/>
          </a:prstGeom>
        </p:spPr>
      </p:pic>
      <p:sp>
        <p:nvSpPr>
          <p:cNvPr id="238" name="직사각형 169"/>
          <p:cNvSpPr/>
          <p:nvPr/>
        </p:nvSpPr>
        <p:spPr>
          <a:xfrm>
            <a:off x="1576541" y="2629889"/>
            <a:ext cx="313307" cy="156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A1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39" name="직사각형 167"/>
          <p:cNvSpPr/>
          <p:nvPr/>
        </p:nvSpPr>
        <p:spPr>
          <a:xfrm>
            <a:off x="1573796" y="1674300"/>
            <a:ext cx="313307" cy="156099"/>
          </a:xfrm>
          <a:prstGeom prst="rect">
            <a:avLst/>
          </a:prstGeom>
          <a:solidFill>
            <a:srgbClr val="42c7f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V1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graphicFrame>
        <p:nvGraphicFramePr>
          <p:cNvPr id="242" name="Group 253"/>
          <p:cNvGraphicFramePr>
            <a:graphicFrameLocks noGrp="1"/>
          </p:cNvGraphicFramePr>
          <p:nvPr/>
        </p:nvGraphicFramePr>
        <p:xfrm>
          <a:off x="206775" y="322763"/>
          <a:ext cx="5885382" cy="391650"/>
        </p:xfrm>
        <a:graphic>
          <a:graphicData uri="http://schemas.openxmlformats.org/drawingml/2006/table">
            <a:tbl>
              <a:tblPr firstRow="1" bandRow="1"/>
              <a:tblGrid>
                <a:gridCol w="530880"/>
                <a:gridCol w="1974237"/>
                <a:gridCol w="378632"/>
                <a:gridCol w="1419001"/>
                <a:gridCol w="489796"/>
                <a:gridCol w="1092836"/>
              </a:tblGrid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프로젝트명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스마트 음식 영양 분석 &amp; 식단 추천 프로젝트</a:t>
                      </a:r>
                      <a:endParaRPr kumimoji="1" lang="ko-KR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음식 분석기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ID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DP-2010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위   치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홈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&gt;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 사진 분석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파일명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photo/analyse.html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버전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날짜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2025-09-04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43" name="Group 369"/>
          <p:cNvGraphicFramePr>
            <a:graphicFrameLocks noGrp="1"/>
          </p:cNvGraphicFramePr>
          <p:nvPr/>
        </p:nvGraphicFramePr>
        <p:xfrm>
          <a:off x="6182338" y="3062747"/>
          <a:ext cx="2742266" cy="926565"/>
        </p:xfrm>
        <a:graphic>
          <a:graphicData uri="http://schemas.openxmlformats.org/drawingml/2006/table">
            <a:tbl>
              <a:tblPr firstRow="1" bandRow="1"/>
              <a:tblGrid>
                <a:gridCol w="322205"/>
                <a:gridCol w="616611"/>
                <a:gridCol w="1803450"/>
              </a:tblGrid>
              <a:tr h="162344">
                <a:tc gridSpan="3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Validation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2c7f1"/>
                    </a:solidFill>
                  </a:tcPr>
                </a:tc>
                <a:tc hMerge="1">
                  <a:txBody>
                    <a:bodyPr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182016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번호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버튼명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설명</a:t>
                      </a:r>
                      <a:endParaRPr kumimoji="1" lang="ko-KR" altLang="en-US" sz="800" b="1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82016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V1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54000" rIns="3600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 파일 업로드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36000" marR="36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음식 이미지 파일을 업로드. 클릭하여 탐색기에서 이미지 파일을 찾거나, 이미지를 드래그하여 업로드할 수 있다.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4" name="Group 369"/>
          <p:cNvGraphicFramePr>
            <a:graphicFrameLocks noGrp="1"/>
          </p:cNvGraphicFramePr>
          <p:nvPr/>
        </p:nvGraphicFramePr>
        <p:xfrm>
          <a:off x="6187003" y="1708328"/>
          <a:ext cx="2744428" cy="697965"/>
        </p:xfrm>
        <a:graphic>
          <a:graphicData uri="http://schemas.openxmlformats.org/drawingml/2006/table">
            <a:tbl>
              <a:tblPr firstRow="1" bandRow="1"/>
              <a:tblGrid>
                <a:gridCol w="323184"/>
                <a:gridCol w="646369"/>
                <a:gridCol w="1774875"/>
              </a:tblGrid>
              <a:tr h="0">
                <a:tc gridSpan="3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Action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번호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버튼명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기능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A1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분석하기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사진을 보고 가장 일치하는 음식을 찾는다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246" name="그림 24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055939" y="2869799"/>
            <a:ext cx="1930939" cy="654219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cxnSp>
        <p:nvCxnSpPr>
          <p:cNvPr id="247" name="직선 화살표 연결선 223"/>
          <p:cNvCxnSpPr/>
          <p:nvPr/>
        </p:nvCxnSpPr>
        <p:spPr>
          <a:xfrm>
            <a:off x="4317206" y="2545556"/>
            <a:ext cx="431006" cy="309562"/>
          </a:xfrm>
          <a:prstGeom prst="straightConnector1">
            <a:avLst/>
          </a:prstGeom>
          <a:ln w="28575">
            <a:solidFill>
              <a:schemeClr val="accent1">
                <a:shade val="95000"/>
                <a:satMod val="105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직사각형 163"/>
          <p:cNvSpPr/>
          <p:nvPr/>
        </p:nvSpPr>
        <p:spPr>
          <a:xfrm>
            <a:off x="4951750" y="2665731"/>
            <a:ext cx="313307" cy="156099"/>
          </a:xfrm>
          <a:prstGeom prst="rect">
            <a:avLst/>
          </a:prstGeom>
          <a:solidFill>
            <a:srgbClr val="80808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D1</a:t>
            </a:r>
            <a:endParaRPr lang="en-US" altLang="ko-KR" sz="80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  <p:graphicFrame>
        <p:nvGraphicFramePr>
          <p:cNvPr id="249" name="Group 369"/>
          <p:cNvGraphicFramePr>
            <a:graphicFrameLocks noGrp="1"/>
          </p:cNvGraphicFramePr>
          <p:nvPr/>
        </p:nvGraphicFramePr>
        <p:xfrm>
          <a:off x="6187558" y="326042"/>
          <a:ext cx="2748792" cy="589965"/>
        </p:xfrm>
        <a:graphic>
          <a:graphicData uri="http://schemas.openxmlformats.org/drawingml/2006/table">
            <a:tbl>
              <a:tblPr firstRow="1" bandRow="1"/>
              <a:tblGrid>
                <a:gridCol w="316692"/>
                <a:gridCol w="2432100"/>
              </a:tblGrid>
              <a:tr h="0">
                <a:tc gridSpan="2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lt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Description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lt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6727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D1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사진을 업로드하면 업로드한 사진이 나타난다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.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 여러 개의 사진 파일을 등록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,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 판별할 수 있다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.</a:t>
                      </a: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1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>
              <a:alpha val="100000"/>
            </a:srgbClr>
          </a:solidFill>
        </p:spPr>
        <p:txBody>
          <a:bodyPr vert="horz" wrap="square" lIns="91424" tIns="91424" rIns="91424" bIns="91424" anchor="t" anchorCtr="0">
            <a:noAutofit/>
          </a:bodyPr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6.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 서비스 화면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ffffff"/>
              </a:solidFill>
              <a:latin typeface="KoPub돋움체 Light"/>
              <a:ea typeface="KoPub돋움체 Light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>
                <a:latin typeface="KoPub돋움체 Light"/>
                <a:ea typeface="KoPub돋움체 Light"/>
                <a:cs typeface="+mn-cs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27</a:t>
            </a:fld>
            <a:endParaRPr lang="en-US" altLang="ko">
              <a:latin typeface="KoPub돋움체 Light"/>
              <a:ea typeface="KoPub돋움체 Light"/>
              <a:cs typeface="+mn-cs"/>
            </a:endParaRPr>
          </a:p>
        </p:txBody>
      </p:sp>
      <p:graphicFrame>
        <p:nvGraphicFramePr>
          <p:cNvPr id="208" name="Group 369"/>
          <p:cNvGraphicFramePr>
            <a:graphicFrameLocks noGrp="1"/>
          </p:cNvGraphicFramePr>
          <p:nvPr/>
        </p:nvGraphicFramePr>
        <p:xfrm>
          <a:off x="6187558" y="326042"/>
          <a:ext cx="2748792" cy="1180665"/>
        </p:xfrm>
        <a:graphic>
          <a:graphicData uri="http://schemas.openxmlformats.org/drawingml/2006/table">
            <a:tbl>
              <a:tblPr firstRow="1" bandRow="1"/>
              <a:tblGrid>
                <a:gridCol w="316692"/>
                <a:gridCol w="2432100"/>
              </a:tblGrid>
              <a:tr h="0">
                <a:tc gridSpan="2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lt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Description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lt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135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D1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당일 날짜와 회원의 닉네임을 불러온다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.</a:t>
                      </a: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135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D2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해당 식사 시간에 섭취한 음식</a:t>
                      </a: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135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D3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해당 식사 시간에 섭취한 영양소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135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D4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해당 일자에 섭취한 총 칼로리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9" name="Group 369"/>
          <p:cNvGraphicFramePr>
            <a:graphicFrameLocks noGrp="1"/>
          </p:cNvGraphicFramePr>
          <p:nvPr/>
        </p:nvGraphicFramePr>
        <p:xfrm>
          <a:off x="6187003" y="2013497"/>
          <a:ext cx="2744428" cy="812265"/>
        </p:xfrm>
        <a:graphic>
          <a:graphicData uri="http://schemas.openxmlformats.org/drawingml/2006/table">
            <a:tbl>
              <a:tblPr firstRow="1" bandRow="1"/>
              <a:tblGrid>
                <a:gridCol w="323184"/>
                <a:gridCol w="646369"/>
                <a:gridCol w="1774875"/>
              </a:tblGrid>
              <a:tr h="0">
                <a:tc gridSpan="3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Action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번호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버튼명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기능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A1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추천 받기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회원의 정보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(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성별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 키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 몸무게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)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에 기반하여 식단을 추천받는다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0" name="Group 253"/>
          <p:cNvGraphicFramePr>
            <a:graphicFrameLocks noGrp="1"/>
          </p:cNvGraphicFramePr>
          <p:nvPr/>
        </p:nvGraphicFramePr>
        <p:xfrm>
          <a:off x="206775" y="322763"/>
          <a:ext cx="5885382" cy="391650"/>
        </p:xfrm>
        <a:graphic>
          <a:graphicData uri="http://schemas.openxmlformats.org/drawingml/2006/table">
            <a:tbl>
              <a:tblPr firstRow="1" bandRow="1"/>
              <a:tblGrid>
                <a:gridCol w="530880"/>
                <a:gridCol w="1974237"/>
                <a:gridCol w="378632"/>
                <a:gridCol w="1419001"/>
                <a:gridCol w="489796"/>
                <a:gridCol w="1092836"/>
              </a:tblGrid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프로젝트명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스마트 음식 영양 분석 &amp; 식단 추천 프로젝트</a:t>
                      </a:r>
                      <a:endParaRPr kumimoji="1" lang="ko-KR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식단추천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ID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DP-3010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위   치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홈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&gt;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 식단추천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파일명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meal/diet.html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버전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날짜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2025-09-12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15" name="그림 21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6923" y="758304"/>
            <a:ext cx="5383555" cy="4181749"/>
          </a:xfrm>
          <a:prstGeom prst="rect">
            <a:avLst/>
          </a:prstGeom>
        </p:spPr>
      </p:pic>
      <p:sp>
        <p:nvSpPr>
          <p:cNvPr id="216" name="직사각형 163"/>
          <p:cNvSpPr/>
          <p:nvPr/>
        </p:nvSpPr>
        <p:spPr>
          <a:xfrm>
            <a:off x="2135633" y="1398518"/>
            <a:ext cx="313307" cy="156099"/>
          </a:xfrm>
          <a:prstGeom prst="rect">
            <a:avLst/>
          </a:prstGeom>
          <a:solidFill>
            <a:srgbClr val="808080">
              <a:alpha val="100000"/>
            </a:srgbClr>
          </a:solidFill>
          <a:ln w="19050" cap="flat" cmpd="sng" algn="ctr">
            <a:solidFill>
              <a:srgbClr val="4f5812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800" b="0" i="0" u="none" strike="noStrike" kern="1200" cap="none" spc="0" normalizeH="0" baseline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D1</a:t>
            </a:r>
            <a:endParaRPr kumimoji="0" lang="en-US" altLang="ko-KR" sz="800" b="0" i="0" u="none" strike="noStrike" kern="1200" cap="none" spc="0" normalizeH="0" baseline="0">
              <a:solidFill>
                <a:srgbClr val="ffffff"/>
              </a:solidFill>
              <a:latin typeface="KoPub돋움체 Light"/>
              <a:ea typeface="KoPub돋움체 Light"/>
              <a:cs typeface="Corbel"/>
            </a:endParaRPr>
          </a:p>
        </p:txBody>
      </p:sp>
      <p:sp>
        <p:nvSpPr>
          <p:cNvPr id="217" name="직사각형 169"/>
          <p:cNvSpPr/>
          <p:nvPr/>
        </p:nvSpPr>
        <p:spPr>
          <a:xfrm>
            <a:off x="2757039" y="2264837"/>
            <a:ext cx="313307" cy="156099"/>
          </a:xfrm>
          <a:prstGeom prst="rect">
            <a:avLst/>
          </a:prstGeom>
          <a:solidFill>
            <a:srgbClr val="ffff00">
              <a:alpha val="100000"/>
            </a:srgbClr>
          </a:solidFill>
          <a:ln w="19050" cap="flat" cmpd="sng" algn="ctr">
            <a:solidFill>
              <a:srgbClr val="4f5812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800" b="0" i="0" u="none" strike="noStrike" kern="1200" cap="none" spc="0" normalizeH="0" baseline="0">
                <a:solidFill>
                  <a:srgbClr val="000000"/>
                </a:solidFill>
                <a:latin typeface="KoPub돋움체 Light"/>
                <a:ea typeface="KoPub돋움체 Light"/>
                <a:cs typeface="Corbel"/>
              </a:rPr>
              <a:t>A1</a:t>
            </a:r>
            <a:endParaRPr kumimoji="0" lang="en-US" altLang="ko-KR" sz="800" b="0" i="0" u="none" strike="noStrike" kern="1200" cap="none" spc="0" normalizeH="0" baseline="0">
              <a:solidFill>
                <a:srgbClr val="000000"/>
              </a:solidFill>
              <a:latin typeface="KoPub돋움체 Light"/>
              <a:ea typeface="KoPub돋움체 Light"/>
              <a:cs typeface="Corbel"/>
            </a:endParaRPr>
          </a:p>
        </p:txBody>
      </p:sp>
      <p:graphicFrame>
        <p:nvGraphicFramePr>
          <p:cNvPr id="218" name="표 166"/>
          <p:cNvGraphicFramePr/>
          <p:nvPr/>
        </p:nvGraphicFramePr>
        <p:xfrm>
          <a:off x="6186037" y="3279458"/>
          <a:ext cx="2742836" cy="1180665"/>
        </p:xfrm>
        <a:graphic>
          <a:graphicData uri="http://schemas.openxmlformats.org/drawingml/2006/table">
            <a:tbl>
              <a:tblPr firstRow="1" bandRow="1"/>
              <a:tblGrid>
                <a:gridCol w="325092"/>
                <a:gridCol w="2417744"/>
              </a:tblGrid>
              <a:tr h="215265">
                <a:tc gridSpan="2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Code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aff1a"/>
                    </a:solidFill>
                  </a:tcPr>
                </a:tc>
                <a:tc hMerge="1">
                  <a:txBody>
                    <a:bodyPr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135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C1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 vert="horz" lIns="36000" tIns="54000" rIns="3600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 남성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/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여성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36000" marR="36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lt1"/>
                    </a:solidFill>
                  </a:tcPr>
                </a:tc>
              </a:tr>
              <a:tr h="24135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C2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 vert="horz" lIns="36000" tIns="54000" rIns="3600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 연령 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(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정수 숫자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)</a:t>
                      </a: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36000" marR="36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lt1"/>
                    </a:solidFill>
                  </a:tcPr>
                </a:tc>
              </a:tr>
              <a:tr h="24135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C3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 vert="horz" lIns="36000" tIns="54000" rIns="3600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 키 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(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정수 숫자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)</a:t>
                      </a: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36000" marR="36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lt1"/>
                    </a:solidFill>
                  </a:tcPr>
                </a:tc>
              </a:tr>
              <a:tr h="24135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C4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 vert="horz" lIns="36000" tIns="54000" rIns="3600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 몸무게 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(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정수 숫자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)</a:t>
                      </a: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36000" marR="36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19" name="직사각형 178"/>
          <p:cNvSpPr/>
          <p:nvPr/>
        </p:nvSpPr>
        <p:spPr>
          <a:xfrm>
            <a:off x="1791828" y="1879837"/>
            <a:ext cx="313307" cy="156099"/>
          </a:xfrm>
          <a:prstGeom prst="rect">
            <a:avLst/>
          </a:prstGeom>
          <a:solidFill>
            <a:srgbClr val="baff1a">
              <a:alpha val="100000"/>
            </a:srgbClr>
          </a:solidFill>
          <a:ln w="19050" cap="flat" cmpd="sng" algn="ctr">
            <a:solidFill>
              <a:srgbClr val="4f5812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800" b="0" i="0" u="none" strike="noStrike" kern="1200" cap="none" spc="0" normalizeH="0" baseline="0">
                <a:solidFill>
                  <a:srgbClr val="000000"/>
                </a:solidFill>
                <a:latin typeface="KoPub돋움체 Light"/>
                <a:ea typeface="KoPub돋움체 Light"/>
                <a:cs typeface="Corbel"/>
              </a:rPr>
              <a:t>C1</a:t>
            </a:r>
            <a:endParaRPr kumimoji="0" lang="en-US" altLang="ko-KR" sz="800" b="0" i="0" u="none" strike="noStrike" kern="1200" cap="none" spc="0" normalizeH="0" baseline="0">
              <a:solidFill>
                <a:srgbClr val="000000"/>
              </a:solidFill>
              <a:latin typeface="KoPub돋움체 Light"/>
              <a:ea typeface="KoPub돋움체 Light"/>
              <a:cs typeface="Corbel"/>
            </a:endParaRPr>
          </a:p>
        </p:txBody>
      </p:sp>
      <p:sp>
        <p:nvSpPr>
          <p:cNvPr id="220" name="직사각형 180"/>
          <p:cNvSpPr/>
          <p:nvPr/>
        </p:nvSpPr>
        <p:spPr>
          <a:xfrm>
            <a:off x="2371253" y="1877733"/>
            <a:ext cx="313307" cy="156099"/>
          </a:xfrm>
          <a:prstGeom prst="rect">
            <a:avLst/>
          </a:prstGeom>
          <a:solidFill>
            <a:srgbClr val="baff1a">
              <a:alpha val="100000"/>
            </a:srgbClr>
          </a:solidFill>
          <a:ln w="19050" cap="flat" cmpd="sng" algn="ctr">
            <a:solidFill>
              <a:srgbClr val="4f5812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800" b="0" i="0" u="none" strike="noStrike" kern="1200" cap="none" spc="0" normalizeH="0" baseline="0">
                <a:solidFill>
                  <a:srgbClr val="000000"/>
                </a:solidFill>
                <a:latin typeface="KoPub돋움체 Light"/>
                <a:ea typeface="KoPub돋움체 Light"/>
                <a:cs typeface="Corbel"/>
              </a:rPr>
              <a:t>C2</a:t>
            </a:r>
            <a:endParaRPr kumimoji="0" lang="en-US" altLang="ko-KR" sz="800" b="0" i="0" u="none" strike="noStrike" kern="1200" cap="none" spc="0" normalizeH="0" baseline="0">
              <a:solidFill>
                <a:srgbClr val="000000"/>
              </a:solidFill>
              <a:latin typeface="KoPub돋움체 Light"/>
              <a:ea typeface="KoPub돋움체 Light"/>
              <a:cs typeface="Corbel"/>
            </a:endParaRPr>
          </a:p>
        </p:txBody>
      </p:sp>
      <p:sp>
        <p:nvSpPr>
          <p:cNvPr id="221" name="직사각형 178"/>
          <p:cNvSpPr/>
          <p:nvPr/>
        </p:nvSpPr>
        <p:spPr>
          <a:xfrm>
            <a:off x="2989597" y="1882219"/>
            <a:ext cx="313307" cy="156099"/>
          </a:xfrm>
          <a:prstGeom prst="rect">
            <a:avLst/>
          </a:prstGeom>
          <a:solidFill>
            <a:srgbClr val="baff1a">
              <a:alpha val="100000"/>
            </a:srgbClr>
          </a:solidFill>
          <a:ln w="19050" cap="flat" cmpd="sng" algn="ctr">
            <a:solidFill>
              <a:srgbClr val="4f5812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800" b="0" i="0" u="none" strike="noStrike" kern="1200" cap="none" spc="0" normalizeH="0" baseline="0">
                <a:solidFill>
                  <a:srgbClr val="000000"/>
                </a:solidFill>
                <a:latin typeface="KoPub돋움체 Light"/>
                <a:ea typeface="KoPub돋움체 Light"/>
                <a:cs typeface="Corbel"/>
              </a:rPr>
              <a:t>C3</a:t>
            </a:r>
            <a:endParaRPr kumimoji="0" lang="en-US" altLang="ko-KR" sz="800" b="0" i="0" u="none" strike="noStrike" kern="1200" cap="none" spc="0" normalizeH="0" baseline="0">
              <a:solidFill>
                <a:srgbClr val="000000"/>
              </a:solidFill>
              <a:latin typeface="KoPub돋움체 Light"/>
              <a:ea typeface="KoPub돋움체 Light"/>
              <a:cs typeface="Corbel"/>
            </a:endParaRPr>
          </a:p>
        </p:txBody>
      </p:sp>
      <p:sp>
        <p:nvSpPr>
          <p:cNvPr id="222" name="직사각형 180"/>
          <p:cNvSpPr/>
          <p:nvPr/>
        </p:nvSpPr>
        <p:spPr>
          <a:xfrm>
            <a:off x="3569021" y="1880115"/>
            <a:ext cx="313307" cy="156099"/>
          </a:xfrm>
          <a:prstGeom prst="rect">
            <a:avLst/>
          </a:prstGeom>
          <a:solidFill>
            <a:srgbClr val="baff1a">
              <a:alpha val="100000"/>
            </a:srgbClr>
          </a:solidFill>
          <a:ln w="19050" cap="flat" cmpd="sng" algn="ctr">
            <a:solidFill>
              <a:srgbClr val="4f5812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800" b="0" i="0" u="none" strike="noStrike" kern="1200" cap="none" spc="0" normalizeH="0" baseline="0">
                <a:solidFill>
                  <a:srgbClr val="000000"/>
                </a:solidFill>
                <a:latin typeface="KoPub돋움체 Light"/>
                <a:ea typeface="KoPub돋움체 Light"/>
                <a:cs typeface="Corbel"/>
              </a:rPr>
              <a:t>C4</a:t>
            </a:r>
            <a:endParaRPr kumimoji="0" lang="en-US" altLang="ko-KR" sz="800" b="0" i="0" u="none" strike="noStrike" kern="1200" cap="none" spc="0" normalizeH="0" baseline="0">
              <a:solidFill>
                <a:srgbClr val="000000"/>
              </a:solidFill>
              <a:latin typeface="KoPub돋움체 Light"/>
              <a:ea typeface="KoPub돋움체 Light"/>
              <a:cs typeface="Corbel"/>
            </a:endParaRPr>
          </a:p>
        </p:txBody>
      </p:sp>
      <p:sp>
        <p:nvSpPr>
          <p:cNvPr id="223" name="직사각형 163"/>
          <p:cNvSpPr/>
          <p:nvPr/>
        </p:nvSpPr>
        <p:spPr>
          <a:xfrm>
            <a:off x="2177062" y="3086015"/>
            <a:ext cx="313307" cy="156099"/>
          </a:xfrm>
          <a:prstGeom prst="rect">
            <a:avLst/>
          </a:prstGeom>
          <a:solidFill>
            <a:srgbClr val="808080">
              <a:alpha val="100000"/>
            </a:srgbClr>
          </a:solidFill>
          <a:ln w="19050" cap="flat" cmpd="sng" algn="ctr">
            <a:solidFill>
              <a:srgbClr val="4f5812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800" b="0" i="0" u="none" strike="noStrike" kern="1200" cap="none" spc="0" normalizeH="0" baseline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D2</a:t>
            </a:r>
            <a:endParaRPr kumimoji="0" lang="en-US" altLang="ko-KR" sz="800" b="0" i="0" u="none" strike="noStrike" kern="1200" cap="none" spc="0" normalizeH="0" baseline="0">
              <a:solidFill>
                <a:srgbClr val="ffffff"/>
              </a:solidFill>
              <a:latin typeface="KoPub돋움체 Light"/>
              <a:ea typeface="KoPub돋움체 Light"/>
              <a:cs typeface="Corbel"/>
            </a:endParaRPr>
          </a:p>
        </p:txBody>
      </p:sp>
      <p:sp>
        <p:nvSpPr>
          <p:cNvPr id="224" name="직사각형 163"/>
          <p:cNvSpPr/>
          <p:nvPr/>
        </p:nvSpPr>
        <p:spPr>
          <a:xfrm>
            <a:off x="2019854" y="4029267"/>
            <a:ext cx="313307" cy="156099"/>
          </a:xfrm>
          <a:prstGeom prst="rect">
            <a:avLst/>
          </a:prstGeom>
          <a:solidFill>
            <a:srgbClr val="808080">
              <a:alpha val="100000"/>
            </a:srgbClr>
          </a:solidFill>
          <a:ln w="19050" cap="flat" cmpd="sng" algn="ctr">
            <a:solidFill>
              <a:srgbClr val="4f5812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800" b="0" i="0" u="none" strike="noStrike" kern="1200" cap="none" spc="0" normalizeH="0" baseline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D3</a:t>
            </a:r>
            <a:endParaRPr kumimoji="0" lang="en-US" altLang="ko-KR" sz="800" b="0" i="0" u="none" strike="noStrike" kern="1200" cap="none" spc="0" normalizeH="0" baseline="0">
              <a:solidFill>
                <a:srgbClr val="ffffff"/>
              </a:solidFill>
              <a:latin typeface="KoPub돋움체 Light"/>
              <a:ea typeface="KoPub돋움체 Light"/>
              <a:cs typeface="Corbel"/>
            </a:endParaRPr>
          </a:p>
        </p:txBody>
      </p:sp>
      <p:sp>
        <p:nvSpPr>
          <p:cNvPr id="225" name="직사각형 163"/>
          <p:cNvSpPr/>
          <p:nvPr/>
        </p:nvSpPr>
        <p:spPr>
          <a:xfrm>
            <a:off x="2066090" y="4491647"/>
            <a:ext cx="313307" cy="156099"/>
          </a:xfrm>
          <a:prstGeom prst="rect">
            <a:avLst/>
          </a:prstGeom>
          <a:solidFill>
            <a:srgbClr val="808080">
              <a:alpha val="100000"/>
            </a:srgbClr>
          </a:solidFill>
          <a:ln w="19050" cap="flat" cmpd="sng" algn="ctr">
            <a:solidFill>
              <a:srgbClr val="4f5812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800" b="0" i="0" u="none" strike="noStrike" kern="1200" cap="none" spc="0" normalizeH="0" baseline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D4</a:t>
            </a:r>
            <a:endParaRPr kumimoji="0" lang="en-US" altLang="ko-KR" sz="800" b="0" i="0" u="none" strike="noStrike" kern="1200" cap="none" spc="0" normalizeH="0" baseline="0">
              <a:solidFill>
                <a:srgbClr val="ffffff"/>
              </a:solidFill>
              <a:latin typeface="KoPub돋움체 Light"/>
              <a:ea typeface="KoPub돋움체 Light"/>
              <a:cs typeface="Corbel"/>
            </a:endParaRPr>
          </a:p>
        </p:txBody>
      </p:sp>
      <p:sp>
        <p:nvSpPr>
          <p:cNvPr id="226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>
              <a:alpha val="100000"/>
            </a:srgbClr>
          </a:solidFill>
        </p:spPr>
        <p:txBody>
          <a:bodyPr vert="horz" wrap="square" lIns="91424" tIns="91424" rIns="91424" bIns="91424" anchor="t" anchorCtr="0">
            <a:noAutofit/>
          </a:bodyPr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6.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 서비스 화면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ffffff"/>
              </a:solidFill>
              <a:latin typeface="KoPub돋움체 Light"/>
              <a:ea typeface="KoPub돋움체 Light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>
                <a:latin typeface="KoPub돋움체 Light"/>
                <a:ea typeface="KoPub돋움체 Light"/>
                <a:cs typeface="+mn-cs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28</a:t>
            </a:fld>
            <a:endParaRPr lang="en-US" altLang="ko">
              <a:latin typeface="KoPub돋움체 Light"/>
              <a:ea typeface="KoPub돋움체 Light"/>
              <a:cs typeface="+mn-cs"/>
            </a:endParaRPr>
          </a:p>
        </p:txBody>
      </p:sp>
      <p:graphicFrame>
        <p:nvGraphicFramePr>
          <p:cNvPr id="221" name="Group 253"/>
          <p:cNvGraphicFramePr>
            <a:graphicFrameLocks noGrp="1"/>
          </p:cNvGraphicFramePr>
          <p:nvPr/>
        </p:nvGraphicFramePr>
        <p:xfrm>
          <a:off x="206775" y="322763"/>
          <a:ext cx="5885382" cy="391650"/>
        </p:xfrm>
        <a:graphic>
          <a:graphicData uri="http://schemas.openxmlformats.org/drawingml/2006/table">
            <a:tbl>
              <a:tblPr firstRow="1" bandRow="1"/>
              <a:tblGrid>
                <a:gridCol w="530880"/>
                <a:gridCol w="1974237"/>
                <a:gridCol w="378632"/>
                <a:gridCol w="1419001"/>
                <a:gridCol w="489796"/>
                <a:gridCol w="1092836"/>
              </a:tblGrid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프로젝트명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스마트 음식 영양 분석 &amp; 식단 추천 프로젝트</a:t>
                      </a:r>
                      <a:endParaRPr kumimoji="1" lang="ko-KR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식단 기록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날짜별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)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ID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DP-3101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위   치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홈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&gt;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 기록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날짜별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)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파일명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meal/calendar.html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버전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날짜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2025-09-12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26" name="Group 369"/>
          <p:cNvGraphicFramePr>
            <a:graphicFrameLocks noGrp="1"/>
          </p:cNvGraphicFramePr>
          <p:nvPr/>
        </p:nvGraphicFramePr>
        <p:xfrm>
          <a:off x="6187558" y="326042"/>
          <a:ext cx="2748792" cy="589965"/>
        </p:xfrm>
        <a:graphic>
          <a:graphicData uri="http://schemas.openxmlformats.org/drawingml/2006/table">
            <a:tbl>
              <a:tblPr firstRow="1" bandRow="1"/>
              <a:tblGrid>
                <a:gridCol w="316692"/>
                <a:gridCol w="2432100"/>
              </a:tblGrid>
              <a:tr h="0">
                <a:tc gridSpan="2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lt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Description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lt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회원의 식단 기록을 날짜별로 정리하여 게시판 형태로 보여준다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.</a:t>
                      </a: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0" name="Group 369"/>
          <p:cNvGraphicFramePr>
            <a:graphicFrameLocks noGrp="1"/>
          </p:cNvGraphicFramePr>
          <p:nvPr/>
        </p:nvGraphicFramePr>
        <p:xfrm>
          <a:off x="6187003" y="1587326"/>
          <a:ext cx="2744428" cy="1637865"/>
        </p:xfrm>
        <a:graphic>
          <a:graphicData uri="http://schemas.openxmlformats.org/drawingml/2006/table">
            <a:tbl>
              <a:tblPr firstRow="1" bandRow="1"/>
              <a:tblGrid>
                <a:gridCol w="323184"/>
                <a:gridCol w="646369"/>
                <a:gridCol w="1774875"/>
              </a:tblGrid>
              <a:tr h="155059">
                <a:tc gridSpan="3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Action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173848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번호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버튼명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기능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66988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A1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(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연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월 이동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)</a:t>
                      </a:r>
                      <a:endParaRPr lang="en-US" altLang="ko-KR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선택한 년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 월로 이동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0595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A2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상세 기록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해당 날짜의 총 열량을 클릭하면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 개별 날짜의 추천 식단 기록 페이지로 이동한다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35076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A3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페이지 번호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현재 페이지는 검은색으로 표시. 다른 페이지 번호를 누르면 해당 페이지로 이동한다. 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(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페이지가 많아지면 이전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/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다음 버튼도 나온다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.)</a:t>
                      </a:r>
                      <a:endParaRPr lang="en-US" altLang="ko-KR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3" name="표 166"/>
          <p:cNvGraphicFramePr/>
          <p:nvPr/>
        </p:nvGraphicFramePr>
        <p:xfrm>
          <a:off x="6186037" y="3279458"/>
          <a:ext cx="2742836" cy="697965"/>
        </p:xfrm>
        <a:graphic>
          <a:graphicData uri="http://schemas.openxmlformats.org/drawingml/2006/table">
            <a:tbl>
              <a:tblPr firstRow="1" bandRow="1"/>
              <a:tblGrid>
                <a:gridCol w="325092"/>
                <a:gridCol w="2417744"/>
              </a:tblGrid>
              <a:tr h="215265">
                <a:tc gridSpan="2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Code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aff1a"/>
                    </a:solidFill>
                  </a:tcPr>
                </a:tc>
                <a:tc hMerge="1">
                  <a:txBody>
                    <a:bodyPr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135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C1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 vert="horz" lIns="36000" tIns="54000" rIns="3600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 캘린더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/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날짜별 화면 전환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36000" marR="36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lt1"/>
                    </a:solidFill>
                  </a:tcPr>
                </a:tc>
              </a:tr>
              <a:tr h="24135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C2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 vert="horz" lIns="36000" tIns="54000" rIns="3600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 연도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,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 월 이동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36000" marR="36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53" name="그림 25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94754" y="749054"/>
            <a:ext cx="5892643" cy="4103632"/>
          </a:xfrm>
          <a:prstGeom prst="rect">
            <a:avLst/>
          </a:prstGeom>
        </p:spPr>
      </p:pic>
      <p:sp>
        <p:nvSpPr>
          <p:cNvPr id="254" name="직사각형 169"/>
          <p:cNvSpPr/>
          <p:nvPr/>
        </p:nvSpPr>
        <p:spPr>
          <a:xfrm>
            <a:off x="5571492" y="1812727"/>
            <a:ext cx="313307" cy="156099"/>
          </a:xfrm>
          <a:prstGeom prst="rect">
            <a:avLst/>
          </a:prstGeom>
          <a:solidFill>
            <a:srgbClr val="ffff00">
              <a:alpha val="100000"/>
            </a:srgbClr>
          </a:solidFill>
          <a:ln w="19050" cap="flat" cmpd="sng" algn="ctr">
            <a:solidFill>
              <a:srgbClr val="4f5812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800" b="0" i="0" u="none" strike="noStrike" kern="1200" cap="none" spc="0" normalizeH="0" baseline="0">
                <a:solidFill>
                  <a:srgbClr val="000000"/>
                </a:solidFill>
                <a:latin typeface="KoPub돋움체 Light"/>
                <a:ea typeface="KoPub돋움체 Light"/>
                <a:cs typeface="Corbel"/>
              </a:rPr>
              <a:t>A2</a:t>
            </a:r>
            <a:endParaRPr kumimoji="0" lang="en-US" altLang="ko-KR" sz="800" b="0" i="0" u="none" strike="noStrike" kern="1200" cap="none" spc="0" normalizeH="0" baseline="0">
              <a:solidFill>
                <a:srgbClr val="000000"/>
              </a:solidFill>
              <a:latin typeface="KoPub돋움체 Light"/>
              <a:ea typeface="KoPub돋움체 Light"/>
              <a:cs typeface="Corbel"/>
            </a:endParaRPr>
          </a:p>
        </p:txBody>
      </p:sp>
      <p:sp>
        <p:nvSpPr>
          <p:cNvPr id="255" name="직사각형 178"/>
          <p:cNvSpPr/>
          <p:nvPr/>
        </p:nvSpPr>
        <p:spPr>
          <a:xfrm>
            <a:off x="2439159" y="1334231"/>
            <a:ext cx="313307" cy="156099"/>
          </a:xfrm>
          <a:prstGeom prst="rect">
            <a:avLst/>
          </a:prstGeom>
          <a:solidFill>
            <a:srgbClr val="baff1a">
              <a:alpha val="100000"/>
            </a:srgbClr>
          </a:solidFill>
          <a:ln w="19050" cap="flat" cmpd="sng" algn="ctr">
            <a:solidFill>
              <a:srgbClr val="4f5812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800" b="0" i="0" u="none" strike="noStrike" kern="1200" cap="none" spc="0" normalizeH="0" baseline="0">
                <a:solidFill>
                  <a:srgbClr val="000000"/>
                </a:solidFill>
                <a:latin typeface="KoPub돋움체 Light"/>
                <a:ea typeface="KoPub돋움체 Light"/>
                <a:cs typeface="Corbel"/>
              </a:rPr>
              <a:t>C1</a:t>
            </a:r>
            <a:endParaRPr kumimoji="0" lang="en-US" altLang="ko-KR" sz="800" b="0" i="0" u="none" strike="noStrike" kern="1200" cap="none" spc="0" normalizeH="0" baseline="0">
              <a:solidFill>
                <a:srgbClr val="000000"/>
              </a:solidFill>
              <a:latin typeface="KoPub돋움체 Light"/>
              <a:ea typeface="KoPub돋움체 Light"/>
              <a:cs typeface="Corbel"/>
            </a:endParaRPr>
          </a:p>
        </p:txBody>
      </p:sp>
      <p:sp>
        <p:nvSpPr>
          <p:cNvPr id="256" name="직사각형 180"/>
          <p:cNvSpPr/>
          <p:nvPr/>
        </p:nvSpPr>
        <p:spPr>
          <a:xfrm>
            <a:off x="2435986" y="1565420"/>
            <a:ext cx="313307" cy="156099"/>
          </a:xfrm>
          <a:prstGeom prst="rect">
            <a:avLst/>
          </a:prstGeom>
          <a:solidFill>
            <a:srgbClr val="baff1a">
              <a:alpha val="100000"/>
            </a:srgbClr>
          </a:solidFill>
          <a:ln w="19050" cap="flat" cmpd="sng" algn="ctr">
            <a:solidFill>
              <a:srgbClr val="4f5812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800" b="0" i="0" u="none" strike="noStrike" kern="1200" cap="none" spc="0" normalizeH="0" baseline="0">
                <a:solidFill>
                  <a:srgbClr val="000000"/>
                </a:solidFill>
                <a:latin typeface="KoPub돋움체 Light"/>
                <a:ea typeface="KoPub돋움체 Light"/>
                <a:cs typeface="Corbel"/>
              </a:rPr>
              <a:t>C2</a:t>
            </a:r>
            <a:endParaRPr kumimoji="0" lang="en-US" altLang="ko-KR" sz="800" b="0" i="0" u="none" strike="noStrike" kern="1200" cap="none" spc="0" normalizeH="0" baseline="0">
              <a:solidFill>
                <a:srgbClr val="000000"/>
              </a:solidFill>
              <a:latin typeface="KoPub돋움체 Light"/>
              <a:ea typeface="KoPub돋움체 Light"/>
              <a:cs typeface="Corbel"/>
            </a:endParaRPr>
          </a:p>
        </p:txBody>
      </p:sp>
      <p:sp>
        <p:nvSpPr>
          <p:cNvPr id="257" name="직사각형 169"/>
          <p:cNvSpPr/>
          <p:nvPr/>
        </p:nvSpPr>
        <p:spPr>
          <a:xfrm>
            <a:off x="3596950" y="1530491"/>
            <a:ext cx="313307" cy="156099"/>
          </a:xfrm>
          <a:prstGeom prst="rect">
            <a:avLst/>
          </a:prstGeom>
          <a:solidFill>
            <a:srgbClr val="ffff00">
              <a:alpha val="100000"/>
            </a:srgbClr>
          </a:solidFill>
          <a:ln w="19050" cap="flat" cmpd="sng" algn="ctr">
            <a:solidFill>
              <a:srgbClr val="4f5812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800" b="0" i="0" u="none" strike="noStrike" kern="1200" cap="none" spc="0" normalizeH="0" baseline="0">
                <a:solidFill>
                  <a:srgbClr val="000000"/>
                </a:solidFill>
                <a:latin typeface="KoPub돋움체 Light"/>
                <a:ea typeface="KoPub돋움체 Light"/>
                <a:cs typeface="Corbel"/>
              </a:rPr>
              <a:t>A1</a:t>
            </a:r>
            <a:endParaRPr kumimoji="0" lang="en-US" altLang="ko-KR" sz="800" b="0" i="0" u="none" strike="noStrike" kern="1200" cap="none" spc="0" normalizeH="0" baseline="0">
              <a:solidFill>
                <a:srgbClr val="000000"/>
              </a:solidFill>
              <a:latin typeface="KoPub돋움체 Light"/>
              <a:ea typeface="KoPub돋움체 Light"/>
              <a:cs typeface="Corbel"/>
            </a:endParaRPr>
          </a:p>
        </p:txBody>
      </p:sp>
      <p:sp>
        <p:nvSpPr>
          <p:cNvPr id="258" name="직사각형 169"/>
          <p:cNvSpPr/>
          <p:nvPr/>
        </p:nvSpPr>
        <p:spPr>
          <a:xfrm>
            <a:off x="3028039" y="2838838"/>
            <a:ext cx="313307" cy="156099"/>
          </a:xfrm>
          <a:prstGeom prst="rect">
            <a:avLst/>
          </a:prstGeom>
          <a:solidFill>
            <a:srgbClr val="ffff00">
              <a:alpha val="100000"/>
            </a:srgbClr>
          </a:solidFill>
          <a:ln w="19050" cap="flat" cmpd="sng" algn="ctr">
            <a:solidFill>
              <a:srgbClr val="4f5812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800" b="0" i="0" u="none" strike="noStrike" kern="1200" cap="none" spc="0" normalizeH="0" baseline="0">
                <a:solidFill>
                  <a:srgbClr val="000000"/>
                </a:solidFill>
                <a:latin typeface="KoPub돋움체 Light"/>
                <a:ea typeface="KoPub돋움체 Light"/>
                <a:cs typeface="Corbel"/>
              </a:rPr>
              <a:t>A3</a:t>
            </a:r>
            <a:endParaRPr kumimoji="0" lang="en-US" altLang="ko-KR" sz="800" b="0" i="0" u="none" strike="noStrike" kern="1200" cap="none" spc="0" normalizeH="0" baseline="0">
              <a:solidFill>
                <a:srgbClr val="000000"/>
              </a:solidFill>
              <a:latin typeface="KoPub돋움체 Light"/>
              <a:ea typeface="KoPub돋움체 Light"/>
              <a:cs typeface="Corbel"/>
            </a:endParaRPr>
          </a:p>
        </p:txBody>
      </p:sp>
      <p:sp>
        <p:nvSpPr>
          <p:cNvPr id="259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>
              <a:alpha val="100000"/>
            </a:srgbClr>
          </a:solidFill>
        </p:spPr>
        <p:txBody>
          <a:bodyPr vert="horz" wrap="square" lIns="91424" tIns="91424" rIns="91424" bIns="91424" anchor="t" anchorCtr="0">
            <a:noAutofit/>
          </a:bodyPr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6.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 서비스 화면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ffffff"/>
              </a:solidFill>
              <a:latin typeface="KoPub돋움체 Light"/>
              <a:ea typeface="KoPub돋움체 Light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>
                <a:latin typeface="KoPub돋움체 Light"/>
                <a:ea typeface="KoPub돋움체 Light"/>
                <a:cs typeface="+mn-cs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29</a:t>
            </a:fld>
            <a:endParaRPr lang="en-US" altLang="ko">
              <a:latin typeface="KoPub돋움체 Light"/>
              <a:ea typeface="KoPub돋움체 Light"/>
              <a:cs typeface="+mn-cs"/>
            </a:endParaRPr>
          </a:p>
        </p:txBody>
      </p:sp>
      <p:graphicFrame>
        <p:nvGraphicFramePr>
          <p:cNvPr id="211" name="Group 253"/>
          <p:cNvGraphicFramePr>
            <a:graphicFrameLocks noGrp="1"/>
          </p:cNvGraphicFramePr>
          <p:nvPr/>
        </p:nvGraphicFramePr>
        <p:xfrm>
          <a:off x="206775" y="322763"/>
          <a:ext cx="5885382" cy="391650"/>
        </p:xfrm>
        <a:graphic>
          <a:graphicData uri="http://schemas.openxmlformats.org/drawingml/2006/table">
            <a:tbl>
              <a:tblPr firstRow="1" bandRow="1"/>
              <a:tblGrid>
                <a:gridCol w="530880"/>
                <a:gridCol w="1974237"/>
                <a:gridCol w="378632"/>
                <a:gridCol w="1419001"/>
                <a:gridCol w="489796"/>
                <a:gridCol w="1092836"/>
              </a:tblGrid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프로젝트명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스마트 음식 영양 분석 &amp; 식단 추천 프로젝트</a:t>
                      </a:r>
                      <a:endParaRPr kumimoji="1" lang="ko-KR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식단 기록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개별 일자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)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ID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DP-3110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위   치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홈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&gt;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 기록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&gt;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개별 일자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)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파일명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meal/record.html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버전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날짜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2025-09-12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12" name="Group 369"/>
          <p:cNvGraphicFramePr>
            <a:graphicFrameLocks noGrp="1"/>
          </p:cNvGraphicFramePr>
          <p:nvPr/>
        </p:nvGraphicFramePr>
        <p:xfrm>
          <a:off x="6187558" y="326042"/>
          <a:ext cx="2748792" cy="589965"/>
        </p:xfrm>
        <a:graphic>
          <a:graphicData uri="http://schemas.openxmlformats.org/drawingml/2006/table">
            <a:tbl>
              <a:tblPr firstRow="1" bandRow="1"/>
              <a:tblGrid>
                <a:gridCol w="316692"/>
                <a:gridCol w="2432100"/>
              </a:tblGrid>
              <a:tr h="0">
                <a:tc gridSpan="2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lt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Description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lt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1</a:t>
                      </a:r>
                      <a:endParaRPr kumimoji="1" lang="en-US" altLang="ko-KR" sz="80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회원이 저장한 식단 기록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(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메뉴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,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 총칼로리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)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을 확인 할 수 있다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.</a:t>
                      </a: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214" name="그림 21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97240" y="758300"/>
            <a:ext cx="5204337" cy="4194284"/>
          </a:xfrm>
          <a:prstGeom prst="rect">
            <a:avLst/>
          </a:prstGeom>
        </p:spPr>
      </p:pic>
      <p:graphicFrame>
        <p:nvGraphicFramePr>
          <p:cNvPr id="215" name="Group 369"/>
          <p:cNvGraphicFramePr>
            <a:graphicFrameLocks noGrp="1"/>
          </p:cNvGraphicFramePr>
          <p:nvPr/>
        </p:nvGraphicFramePr>
        <p:xfrm>
          <a:off x="6187003" y="2049704"/>
          <a:ext cx="2744428" cy="688440"/>
        </p:xfrm>
        <a:graphic>
          <a:graphicData uri="http://schemas.openxmlformats.org/drawingml/2006/table">
            <a:tbl>
              <a:tblPr firstRow="1" bandRow="1"/>
              <a:tblGrid>
                <a:gridCol w="323184"/>
                <a:gridCol w="646369"/>
                <a:gridCol w="1774875"/>
              </a:tblGrid>
              <a:tr h="0">
                <a:tc gridSpan="3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Action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번호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버튼명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기능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A1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돌아가기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기록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(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캘린더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)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 화면으로 돌아가기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16" name="직사각형 169"/>
          <p:cNvSpPr/>
          <p:nvPr/>
        </p:nvSpPr>
        <p:spPr>
          <a:xfrm>
            <a:off x="249328" y="3577857"/>
            <a:ext cx="313307" cy="156099"/>
          </a:xfrm>
          <a:prstGeom prst="rect">
            <a:avLst/>
          </a:prstGeom>
          <a:solidFill>
            <a:srgbClr val="ffff00">
              <a:alpha val="100000"/>
            </a:srgbClr>
          </a:solidFill>
          <a:ln w="19050" cap="flat" cmpd="sng" algn="ctr">
            <a:solidFill>
              <a:srgbClr val="4f5812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800" b="0" i="0" u="none" strike="noStrike" kern="1200" cap="none" spc="0" normalizeH="0" baseline="0">
                <a:solidFill>
                  <a:srgbClr val="000000"/>
                </a:solidFill>
                <a:latin typeface="KoPub돋움체 Light"/>
                <a:ea typeface="KoPub돋움체 Light"/>
                <a:cs typeface="Corbel"/>
              </a:rPr>
              <a:t>A1</a:t>
            </a:r>
            <a:endParaRPr kumimoji="0" lang="en-US" altLang="ko-KR" sz="800" b="0" i="0" u="none" strike="noStrike" kern="1200" cap="none" spc="0" normalizeH="0" baseline="0">
              <a:solidFill>
                <a:srgbClr val="000000"/>
              </a:solidFill>
              <a:latin typeface="KoPub돋움체 Light"/>
              <a:ea typeface="KoPub돋움체 Light"/>
              <a:cs typeface="Corbel"/>
            </a:endParaRPr>
          </a:p>
        </p:txBody>
      </p:sp>
      <p:sp>
        <p:nvSpPr>
          <p:cNvPr id="217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>
              <a:alpha val="100000"/>
            </a:srgbClr>
          </a:solidFill>
        </p:spPr>
        <p:txBody>
          <a:bodyPr vert="horz" wrap="square" lIns="91424" tIns="91424" rIns="91424" bIns="91424" anchor="t" anchorCtr="0">
            <a:noAutofit/>
          </a:bodyPr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6.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 서비스 화면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ffffff"/>
              </a:solidFill>
              <a:latin typeface="KoPub돋움체 Light"/>
              <a:ea typeface="KoPub돋움체 Light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그림 16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6452" y="753205"/>
            <a:ext cx="5907321" cy="3532916"/>
          </a:xfrm>
          <a:prstGeom prst="rect">
            <a:avLst/>
          </a:prstGeom>
        </p:spPr>
      </p:pic>
      <p:sp>
        <p:nvSpPr>
          <p:cNvPr id="135" name="Google Shape;135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>
                <a:latin typeface="KoPub돋움체 Light"/>
                <a:ea typeface="KoPub돋움체 Light"/>
                <a:cs typeface="+mn-cs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30</a:t>
            </a:fld>
            <a:endParaRPr lang="en-US" altLang="ko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4191791" y="1694291"/>
            <a:ext cx="313307" cy="156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A1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1793132" y="1694799"/>
            <a:ext cx="313307" cy="156099"/>
          </a:xfrm>
          <a:prstGeom prst="rect">
            <a:avLst/>
          </a:prstGeom>
          <a:solidFill>
            <a:srgbClr val="42c7f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V1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pic>
        <p:nvPicPr>
          <p:cNvPr id="165" name="그림 16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116629" y="2540793"/>
            <a:ext cx="1952595" cy="2362203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169" name="직사각형 163"/>
          <p:cNvSpPr/>
          <p:nvPr/>
        </p:nvSpPr>
        <p:spPr>
          <a:xfrm>
            <a:off x="3759276" y="2899772"/>
            <a:ext cx="313307" cy="156099"/>
          </a:xfrm>
          <a:prstGeom prst="rect">
            <a:avLst/>
          </a:prstGeom>
          <a:solidFill>
            <a:srgbClr val="80808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D1</a:t>
            </a:r>
            <a:endParaRPr lang="en-US" altLang="ko-KR" sz="80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  <p:graphicFrame>
        <p:nvGraphicFramePr>
          <p:cNvPr id="175" name="Group 253"/>
          <p:cNvGraphicFramePr>
            <a:graphicFrameLocks noGrp="1"/>
          </p:cNvGraphicFramePr>
          <p:nvPr/>
        </p:nvGraphicFramePr>
        <p:xfrm>
          <a:off x="206775" y="322763"/>
          <a:ext cx="5885382" cy="391650"/>
        </p:xfrm>
        <a:graphic>
          <a:graphicData uri="http://schemas.openxmlformats.org/drawingml/2006/table">
            <a:tbl>
              <a:tblPr firstRow="1" bandRow="1"/>
              <a:tblGrid>
                <a:gridCol w="530880"/>
                <a:gridCol w="1974237"/>
                <a:gridCol w="378632"/>
                <a:gridCol w="1419001"/>
                <a:gridCol w="489796"/>
                <a:gridCol w="1092836"/>
              </a:tblGrid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프로젝트명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스마트 음식 영양 분석 &amp; 식단 추천 프로젝트</a:t>
                      </a:r>
                      <a:endParaRPr kumimoji="1" lang="ko-KR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감정분석 식단추천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ID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DP-4010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위   치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홈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&gt;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 기분 추천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파일명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emotion/emotion.html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버전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날짜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2025-09-03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6" name="Group 369"/>
          <p:cNvGraphicFramePr>
            <a:graphicFrameLocks noGrp="1"/>
          </p:cNvGraphicFramePr>
          <p:nvPr/>
        </p:nvGraphicFramePr>
        <p:xfrm>
          <a:off x="6182338" y="3062747"/>
          <a:ext cx="2744027" cy="697965"/>
        </p:xfrm>
        <a:graphic>
          <a:graphicData uri="http://schemas.openxmlformats.org/drawingml/2006/table">
            <a:tbl>
              <a:tblPr firstRow="1" bandRow="1"/>
              <a:tblGrid>
                <a:gridCol w="322205"/>
                <a:gridCol w="616611"/>
                <a:gridCol w="1805211"/>
              </a:tblGrid>
              <a:tr h="162344">
                <a:tc gridSpan="3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Validation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2c7f1"/>
                    </a:solidFill>
                  </a:tcPr>
                </a:tc>
                <a:tc hMerge="1">
                  <a:txBody>
                    <a:bodyPr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182016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번호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버튼명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설명</a:t>
                      </a:r>
                      <a:endParaRPr kumimoji="1" lang="ko-KR" altLang="en-US" sz="800" b="1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82016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V1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텍스트 입력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사용자의 기분을 자연어로 입력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7" name="Group 369"/>
          <p:cNvGraphicFramePr>
            <a:graphicFrameLocks noGrp="1"/>
          </p:cNvGraphicFramePr>
          <p:nvPr/>
        </p:nvGraphicFramePr>
        <p:xfrm>
          <a:off x="6187003" y="1708328"/>
          <a:ext cx="2744428" cy="812265"/>
        </p:xfrm>
        <a:graphic>
          <a:graphicData uri="http://schemas.openxmlformats.org/drawingml/2006/table">
            <a:tbl>
              <a:tblPr firstRow="1" bandRow="1"/>
              <a:tblGrid>
                <a:gridCol w="323184"/>
                <a:gridCol w="646369"/>
                <a:gridCol w="1774875"/>
              </a:tblGrid>
              <a:tr h="0">
                <a:tc gridSpan="3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Action,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번호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버튼명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기능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A1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확인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사용자가 입력한 텍스트를 서버로 전송하여 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AI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 모델이 분석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 답변은 아래에 출력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8" name="Group 369"/>
          <p:cNvGraphicFramePr>
            <a:graphicFrameLocks noGrp="1"/>
          </p:cNvGraphicFramePr>
          <p:nvPr/>
        </p:nvGraphicFramePr>
        <p:xfrm>
          <a:off x="6187558" y="326042"/>
          <a:ext cx="2744626" cy="456615"/>
        </p:xfrm>
        <a:graphic>
          <a:graphicData uri="http://schemas.openxmlformats.org/drawingml/2006/table">
            <a:tbl>
              <a:tblPr firstRow="1" bandRow="1"/>
              <a:tblGrid>
                <a:gridCol w="316692"/>
                <a:gridCol w="2427934"/>
              </a:tblGrid>
              <a:tr h="0">
                <a:tc gridSpan="2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lt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Description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lt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D1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사용자의 취향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,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 기분에 따른 추천 식단 텍스트 출력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79" name="직선 화살표 연결선 223"/>
          <p:cNvCxnSpPr/>
          <p:nvPr/>
        </p:nvCxnSpPr>
        <p:spPr>
          <a:xfrm rot="16200000" flipH="1">
            <a:off x="3585384" y="2004070"/>
            <a:ext cx="682306" cy="379363"/>
          </a:xfrm>
          <a:prstGeom prst="straightConnector1">
            <a:avLst/>
          </a:prstGeom>
          <a:ln w="28575">
            <a:solidFill>
              <a:schemeClr val="accent1">
                <a:shade val="95000"/>
                <a:satMod val="105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>
              <a:alpha val="100000"/>
            </a:srgbClr>
          </a:solidFill>
        </p:spPr>
        <p:txBody>
          <a:bodyPr vert="horz" wrap="square" lIns="91424" tIns="91424" rIns="91424" bIns="91424" anchor="t" anchorCtr="0">
            <a:noAutofit/>
          </a:bodyPr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6.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 서비스 화면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ffffff"/>
              </a:solidFill>
              <a:latin typeface="KoPub돋움체 Light"/>
              <a:ea typeface="KoPub돋움체 Light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31</a:t>
            </a:fld>
            <a:endParaRPr lang="en-US" altLang="ko"/>
          </a:p>
        </p:txBody>
      </p:sp>
      <p:pic>
        <p:nvPicPr>
          <p:cNvPr id="186" name="그림 18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6775" y="767120"/>
            <a:ext cx="5889284" cy="4084503"/>
          </a:xfrm>
          <a:prstGeom prst="rect">
            <a:avLst/>
          </a:prstGeom>
        </p:spPr>
      </p:pic>
      <p:sp>
        <p:nvSpPr>
          <p:cNvPr id="189" name="직사각형 168"/>
          <p:cNvSpPr/>
          <p:nvPr/>
        </p:nvSpPr>
        <p:spPr>
          <a:xfrm>
            <a:off x="4909711" y="3253762"/>
            <a:ext cx="313307" cy="156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A1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90" name="직사각형 169"/>
          <p:cNvSpPr/>
          <p:nvPr/>
        </p:nvSpPr>
        <p:spPr>
          <a:xfrm>
            <a:off x="4909711" y="3519568"/>
            <a:ext cx="313307" cy="156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A2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91" name="직사각형 163"/>
          <p:cNvSpPr/>
          <p:nvPr/>
        </p:nvSpPr>
        <p:spPr>
          <a:xfrm>
            <a:off x="1659629" y="1325699"/>
            <a:ext cx="313307" cy="156099"/>
          </a:xfrm>
          <a:prstGeom prst="rect">
            <a:avLst/>
          </a:prstGeom>
          <a:solidFill>
            <a:srgbClr val="80808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D1</a:t>
            </a:r>
            <a:endParaRPr lang="en-US" altLang="ko-KR" sz="80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92" name="직사각형 163"/>
          <p:cNvSpPr/>
          <p:nvPr/>
        </p:nvSpPr>
        <p:spPr>
          <a:xfrm>
            <a:off x="231966" y="945360"/>
            <a:ext cx="313307" cy="156099"/>
          </a:xfrm>
          <a:prstGeom prst="rect">
            <a:avLst/>
          </a:prstGeom>
          <a:solidFill>
            <a:srgbClr val="80808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D2</a:t>
            </a:r>
            <a:endParaRPr lang="en-US" altLang="ko-KR" sz="80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95" name="직사각형 163"/>
          <p:cNvSpPr/>
          <p:nvPr/>
        </p:nvSpPr>
        <p:spPr>
          <a:xfrm>
            <a:off x="5527842" y="939718"/>
            <a:ext cx="313307" cy="156099"/>
          </a:xfrm>
          <a:prstGeom prst="rect">
            <a:avLst/>
          </a:prstGeom>
          <a:solidFill>
            <a:srgbClr val="80808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D3</a:t>
            </a:r>
            <a:endParaRPr lang="en-US" altLang="ko-KR" sz="80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  <p:pic>
        <p:nvPicPr>
          <p:cNvPr id="196" name="그림 19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501256" y="3650526"/>
            <a:ext cx="562905" cy="273706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cxnSp>
        <p:nvCxnSpPr>
          <p:cNvPr id="197" name="직선 연결선 184"/>
          <p:cNvCxnSpPr/>
          <p:nvPr/>
        </p:nvCxnSpPr>
        <p:spPr>
          <a:xfrm flipV="1">
            <a:off x="4064712" y="3566609"/>
            <a:ext cx="177149" cy="77021"/>
          </a:xfrm>
          <a:prstGeom prst="line">
            <a:avLst/>
          </a:prstGeom>
          <a:ln w="28575">
            <a:solidFill>
              <a:schemeClr val="accent1">
                <a:shade val="95000"/>
                <a:satMod val="10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직사각형 169"/>
          <p:cNvSpPr/>
          <p:nvPr/>
        </p:nvSpPr>
        <p:spPr>
          <a:xfrm>
            <a:off x="3121167" y="3713045"/>
            <a:ext cx="313307" cy="156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A3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graphicFrame>
        <p:nvGraphicFramePr>
          <p:cNvPr id="18" name="Group 253"/>
          <p:cNvGraphicFramePr>
            <a:graphicFrameLocks noGrp="1"/>
          </p:cNvGraphicFramePr>
          <p:nvPr/>
        </p:nvGraphicFramePr>
        <p:xfrm>
          <a:off x="206775" y="322763"/>
          <a:ext cx="5885382" cy="391650"/>
        </p:xfrm>
        <a:graphic>
          <a:graphicData uri="http://schemas.openxmlformats.org/drawingml/2006/table">
            <a:tbl>
              <a:tblPr firstRow="1" bandRow="1"/>
              <a:tblGrid>
                <a:gridCol w="530880"/>
                <a:gridCol w="1974237"/>
                <a:gridCol w="378632"/>
                <a:gridCol w="1419001"/>
                <a:gridCol w="489796"/>
                <a:gridCol w="1092836"/>
              </a:tblGrid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프로젝트명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스마트 음식 영양 분석 &amp; 식단 추천 프로젝트</a:t>
                      </a:r>
                      <a:endParaRPr kumimoji="1" lang="ko-KR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내 정보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ID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DP-1040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위   치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홈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&gt;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 회원정보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파일명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member/mypage.html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버전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날짜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2025-09-02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1" name="Group 369"/>
          <p:cNvGraphicFramePr>
            <a:graphicFrameLocks noGrp="1"/>
          </p:cNvGraphicFramePr>
          <p:nvPr/>
        </p:nvGraphicFramePr>
        <p:xfrm>
          <a:off x="6187558" y="326042"/>
          <a:ext cx="2744626" cy="939315"/>
        </p:xfrm>
        <a:graphic>
          <a:graphicData uri="http://schemas.openxmlformats.org/drawingml/2006/table">
            <a:tbl>
              <a:tblPr firstRow="1" bandRow="1"/>
              <a:tblGrid>
                <a:gridCol w="316692"/>
                <a:gridCol w="2427934"/>
              </a:tblGrid>
              <a:tr h="0">
                <a:tc gridSpan="2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lt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Description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lt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D1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로그인한 회원의 정보 표시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D2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로그인한 회원의 이름 표시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D3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"/>
                        </a:rPr>
                        <a:t>로그인하면 로그인 버튼에서 로그아웃 버튼으로 변경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Group 369"/>
          <p:cNvGraphicFramePr>
            <a:graphicFrameLocks noGrp="1"/>
          </p:cNvGraphicFramePr>
          <p:nvPr/>
        </p:nvGraphicFramePr>
        <p:xfrm>
          <a:off x="6187003" y="1282940"/>
          <a:ext cx="2744428" cy="1171140"/>
        </p:xfrm>
        <a:graphic>
          <a:graphicData uri="http://schemas.openxmlformats.org/drawingml/2006/table">
            <a:tbl>
              <a:tblPr firstRow="1" bandRow="1"/>
              <a:tblGrid>
                <a:gridCol w="323184"/>
                <a:gridCol w="646369"/>
                <a:gridCol w="1774875"/>
              </a:tblGrid>
              <a:tr h="136213">
                <a:tc gridSpan="3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Action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15084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번호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버튼명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기능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65519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A1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회원정보 수정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회원정보 수정 페이지로 이동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18714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A2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"/>
                        </a:rPr>
                        <a:t>회원탈퇴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"/>
                        </a:rPr>
                        <a:t>회원탈퇴 페이지로 이동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65519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A3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회원목록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회원목록 페이지로 이동 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(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관리자만 보임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)</a:t>
                      </a:r>
                      <a:endParaRPr lang="en-US" altLang="ko-KR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01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>
              <a:alpha val="100000"/>
            </a:srgbClr>
          </a:solidFill>
        </p:spPr>
        <p:txBody>
          <a:bodyPr vert="horz" wrap="square" lIns="91424" tIns="91424" rIns="91424" bIns="91424" anchor="t" anchorCtr="0">
            <a:noAutofit/>
          </a:bodyPr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6.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 서비스 화면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ffffff"/>
              </a:solidFill>
              <a:latin typeface="KoPub돋움체 Light"/>
              <a:ea typeface="KoPub돋움체 Light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32</a:t>
            </a:fld>
            <a:endParaRPr lang="en-US" altLang="ko"/>
          </a:p>
        </p:txBody>
      </p:sp>
      <p:pic>
        <p:nvPicPr>
          <p:cNvPr id="197" name="그림 19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6776" y="772698"/>
            <a:ext cx="5885382" cy="4089193"/>
          </a:xfrm>
          <a:prstGeom prst="rect">
            <a:avLst/>
          </a:prstGeom>
        </p:spPr>
      </p:pic>
      <p:sp>
        <p:nvSpPr>
          <p:cNvPr id="198" name="직사각형 167"/>
          <p:cNvSpPr/>
          <p:nvPr/>
        </p:nvSpPr>
        <p:spPr>
          <a:xfrm>
            <a:off x="4763860" y="1748390"/>
            <a:ext cx="313307" cy="156099"/>
          </a:xfrm>
          <a:prstGeom prst="rect">
            <a:avLst/>
          </a:prstGeom>
          <a:solidFill>
            <a:srgbClr val="42c7f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V1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99" name="직사각형 168"/>
          <p:cNvSpPr/>
          <p:nvPr/>
        </p:nvSpPr>
        <p:spPr>
          <a:xfrm>
            <a:off x="1295977" y="1962958"/>
            <a:ext cx="313307" cy="156099"/>
          </a:xfrm>
          <a:prstGeom prst="rect">
            <a:avLst/>
          </a:prstGeom>
          <a:solidFill>
            <a:srgbClr val="42c7f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V2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00" name="직사각형 169"/>
          <p:cNvSpPr/>
          <p:nvPr/>
        </p:nvSpPr>
        <p:spPr>
          <a:xfrm>
            <a:off x="1291054" y="3317355"/>
            <a:ext cx="313307" cy="156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A1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01" name="직사각형 171"/>
          <p:cNvSpPr/>
          <p:nvPr/>
        </p:nvSpPr>
        <p:spPr>
          <a:xfrm>
            <a:off x="4763860" y="1959522"/>
            <a:ext cx="313307" cy="156099"/>
          </a:xfrm>
          <a:prstGeom prst="rect">
            <a:avLst/>
          </a:prstGeom>
          <a:solidFill>
            <a:srgbClr val="42c7f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V3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02" name="직사각형 172"/>
          <p:cNvSpPr/>
          <p:nvPr/>
        </p:nvSpPr>
        <p:spPr>
          <a:xfrm>
            <a:off x="1291057" y="2600132"/>
            <a:ext cx="313307" cy="156099"/>
          </a:xfrm>
          <a:prstGeom prst="rect">
            <a:avLst/>
          </a:prstGeom>
          <a:solidFill>
            <a:srgbClr val="42c7f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V4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03" name="직사각형 173"/>
          <p:cNvSpPr/>
          <p:nvPr/>
        </p:nvSpPr>
        <p:spPr>
          <a:xfrm>
            <a:off x="4763660" y="2600132"/>
            <a:ext cx="313307" cy="156099"/>
          </a:xfrm>
          <a:prstGeom prst="rect">
            <a:avLst/>
          </a:prstGeom>
          <a:solidFill>
            <a:srgbClr val="42c7f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V5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04" name="직사각형 174"/>
          <p:cNvSpPr/>
          <p:nvPr/>
        </p:nvSpPr>
        <p:spPr>
          <a:xfrm>
            <a:off x="1291055" y="3017716"/>
            <a:ext cx="313307" cy="156099"/>
          </a:xfrm>
          <a:prstGeom prst="rect">
            <a:avLst/>
          </a:prstGeom>
          <a:solidFill>
            <a:srgbClr val="42c7f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V6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05" name="직사각형 175"/>
          <p:cNvSpPr/>
          <p:nvPr/>
        </p:nvSpPr>
        <p:spPr>
          <a:xfrm>
            <a:off x="4763660" y="3022392"/>
            <a:ext cx="313307" cy="156099"/>
          </a:xfrm>
          <a:prstGeom prst="rect">
            <a:avLst/>
          </a:prstGeom>
          <a:solidFill>
            <a:srgbClr val="42c7f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V7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06" name="직사각형 178"/>
          <p:cNvSpPr/>
          <p:nvPr/>
        </p:nvSpPr>
        <p:spPr>
          <a:xfrm>
            <a:off x="1291056" y="2383053"/>
            <a:ext cx="313307" cy="156099"/>
          </a:xfrm>
          <a:prstGeom prst="rect">
            <a:avLst/>
          </a:prstGeom>
          <a:solidFill>
            <a:srgbClr val="baff1a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C1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07" name="직사각형 180"/>
          <p:cNvSpPr/>
          <p:nvPr/>
        </p:nvSpPr>
        <p:spPr>
          <a:xfrm>
            <a:off x="4763861" y="2385391"/>
            <a:ext cx="313307" cy="156099"/>
          </a:xfrm>
          <a:prstGeom prst="rect">
            <a:avLst/>
          </a:prstGeom>
          <a:solidFill>
            <a:srgbClr val="baff1a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C2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08" name="직사각형 163"/>
          <p:cNvSpPr/>
          <p:nvPr/>
        </p:nvSpPr>
        <p:spPr>
          <a:xfrm>
            <a:off x="1299129" y="1748390"/>
            <a:ext cx="313307" cy="156099"/>
          </a:xfrm>
          <a:prstGeom prst="rect">
            <a:avLst/>
          </a:prstGeom>
          <a:solidFill>
            <a:srgbClr val="80808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D1</a:t>
            </a:r>
            <a:endParaRPr lang="en-US" altLang="ko-KR" sz="80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09" name="직사각형 163"/>
          <p:cNvSpPr/>
          <p:nvPr/>
        </p:nvSpPr>
        <p:spPr>
          <a:xfrm>
            <a:off x="2427058" y="3531369"/>
            <a:ext cx="313307" cy="156099"/>
          </a:xfrm>
          <a:prstGeom prst="rect">
            <a:avLst/>
          </a:prstGeom>
          <a:solidFill>
            <a:srgbClr val="80808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D2</a:t>
            </a:r>
            <a:endParaRPr lang="en-US" altLang="ko-KR" sz="80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  <p:graphicFrame>
        <p:nvGraphicFramePr>
          <p:cNvPr id="23" name="Group 253"/>
          <p:cNvGraphicFramePr>
            <a:graphicFrameLocks noGrp="1"/>
          </p:cNvGraphicFramePr>
          <p:nvPr/>
        </p:nvGraphicFramePr>
        <p:xfrm>
          <a:off x="206775" y="322763"/>
          <a:ext cx="5885382" cy="391650"/>
        </p:xfrm>
        <a:graphic>
          <a:graphicData uri="http://schemas.openxmlformats.org/drawingml/2006/table">
            <a:tbl>
              <a:tblPr firstRow="1" bandRow="1"/>
              <a:tblGrid>
                <a:gridCol w="530880"/>
                <a:gridCol w="1974237"/>
                <a:gridCol w="378632"/>
                <a:gridCol w="1419001"/>
                <a:gridCol w="489796"/>
                <a:gridCol w="1092836"/>
              </a:tblGrid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프로젝트명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스마트 음식 영양 분석 &amp; 식단 추천 프로젝트</a:t>
                      </a:r>
                      <a:endParaRPr kumimoji="1" lang="ko-KR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회원정보 수정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ID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DP-1050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위   치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홈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&gt;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 회원정보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&gt;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 회원정보 수정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파일명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member/modify.html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버전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날짜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2025-09-02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4" name="Group 369"/>
          <p:cNvGraphicFramePr>
            <a:graphicFrameLocks noGrp="1"/>
          </p:cNvGraphicFramePr>
          <p:nvPr/>
        </p:nvGraphicFramePr>
        <p:xfrm>
          <a:off x="6182739" y="1934412"/>
          <a:ext cx="2744027" cy="2222265"/>
        </p:xfrm>
        <a:graphic>
          <a:graphicData uri="http://schemas.openxmlformats.org/drawingml/2006/table">
            <a:tbl>
              <a:tblPr firstRow="1" bandRow="1"/>
              <a:tblGrid>
                <a:gridCol w="322205"/>
                <a:gridCol w="616611"/>
                <a:gridCol w="1805211"/>
              </a:tblGrid>
              <a:tr h="162344">
                <a:tc gridSpan="3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Validation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2c7f1"/>
                    </a:solidFill>
                  </a:tcPr>
                </a:tc>
                <a:tc hMerge="1">
                  <a:txBody>
                    <a:bodyPr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182016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번호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버튼명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설명</a:t>
                      </a:r>
                      <a:endParaRPr kumimoji="1" lang="ko-KR" altLang="en-US" sz="800" b="1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82016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V1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이름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회원의 이름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,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 또는 별명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82016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V2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비밀번호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변경할 비밀번호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82016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V3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비밀번호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확인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앞의 비밀번호와 일치해야만 수정 가능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82016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V4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신장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회원의 키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82016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V5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체중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회원의 몸무게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82016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V6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이메일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회원의 이메일 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(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선택사항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)</a:t>
                      </a:r>
                      <a:endParaRPr lang="en-US" altLang="ko-KR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82016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V7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전화번호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회원의 전화번호 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(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선택사항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)</a:t>
                      </a:r>
                      <a:endParaRPr lang="en-US" altLang="ko-KR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Group 369"/>
          <p:cNvGraphicFramePr>
            <a:graphicFrameLocks noGrp="1"/>
          </p:cNvGraphicFramePr>
          <p:nvPr/>
        </p:nvGraphicFramePr>
        <p:xfrm>
          <a:off x="6182338" y="1200458"/>
          <a:ext cx="2744428" cy="688440"/>
        </p:xfrm>
        <a:graphic>
          <a:graphicData uri="http://schemas.openxmlformats.org/drawingml/2006/table">
            <a:tbl>
              <a:tblPr firstRow="1" bandRow="1"/>
              <a:tblGrid>
                <a:gridCol w="323184"/>
                <a:gridCol w="646369"/>
                <a:gridCol w="1774875"/>
              </a:tblGrid>
              <a:tr h="123580">
                <a:tc gridSpan="3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Action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136849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번호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버튼명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기능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A1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수정하기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회원정보 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DB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에 입력한 정보로 수정한다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Group 369"/>
          <p:cNvGraphicFramePr>
            <a:graphicFrameLocks noGrp="1"/>
          </p:cNvGraphicFramePr>
          <p:nvPr/>
        </p:nvGraphicFramePr>
        <p:xfrm>
          <a:off x="6187558" y="326042"/>
          <a:ext cx="2744626" cy="831315"/>
        </p:xfrm>
        <a:graphic>
          <a:graphicData uri="http://schemas.openxmlformats.org/drawingml/2006/table">
            <a:tbl>
              <a:tblPr firstRow="1" bandRow="1"/>
              <a:tblGrid>
                <a:gridCol w="316692"/>
                <a:gridCol w="2427934"/>
              </a:tblGrid>
              <a:tr h="0">
                <a:tc gridSpan="2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lt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Description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lt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D1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회원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ID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 표시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.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 변경할 수 없다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.</a:t>
                      </a: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D2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이메일과 전화번호를 제외한 입력정보는 모두 필수 입력 사항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.</a:t>
                      </a: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표 166"/>
          <p:cNvGraphicFramePr/>
          <p:nvPr/>
        </p:nvGraphicFramePr>
        <p:xfrm>
          <a:off x="6182338" y="4182506"/>
          <a:ext cx="2744027" cy="697965"/>
        </p:xfrm>
        <a:graphic>
          <a:graphicData uri="http://schemas.openxmlformats.org/drawingml/2006/table">
            <a:tbl>
              <a:tblPr firstRow="1" bandRow="1"/>
              <a:tblGrid>
                <a:gridCol w="330848"/>
                <a:gridCol w="2413179"/>
              </a:tblGrid>
              <a:tr h="215265">
                <a:tc gridSpan="2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Code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aff1a"/>
                    </a:solidFill>
                  </a:tcPr>
                </a:tc>
                <a:tc hMerge="1">
                  <a:txBody>
                    <a:bodyPr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135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C1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 vert="horz" lIns="36000" tIns="54000" rIns="3600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 성별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(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남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/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여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)</a:t>
                      </a: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36000" marR="36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lt1"/>
                    </a:solidFill>
                  </a:tcPr>
                </a:tc>
              </a:tr>
              <a:tr h="24135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C2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 vert="horz" lIns="36000" tIns="54000" rIns="3600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 생년월일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(YYYY-MM-DD)</a:t>
                      </a: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36000" marR="36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17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>
              <a:alpha val="100000"/>
            </a:srgbClr>
          </a:solidFill>
        </p:spPr>
        <p:txBody>
          <a:bodyPr vert="horz" wrap="square" lIns="91424" tIns="91424" rIns="91424" bIns="91424" anchor="t" anchorCtr="0">
            <a:noAutofit/>
          </a:bodyPr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6.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 서비스 화면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ffffff"/>
              </a:solidFill>
              <a:latin typeface="KoPub돋움체 Light"/>
              <a:ea typeface="KoPub돋움체 Light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33</a:t>
            </a:fld>
            <a:endParaRPr lang="en-US" altLang="ko"/>
          </a:p>
        </p:txBody>
      </p:sp>
      <p:pic>
        <p:nvPicPr>
          <p:cNvPr id="195" name="그림 19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6775" y="744957"/>
            <a:ext cx="5885382" cy="3936389"/>
          </a:xfrm>
          <a:prstGeom prst="rect">
            <a:avLst/>
          </a:prstGeom>
        </p:spPr>
      </p:pic>
      <p:sp>
        <p:nvSpPr>
          <p:cNvPr id="196" name="직사각형 168"/>
          <p:cNvSpPr/>
          <p:nvPr/>
        </p:nvSpPr>
        <p:spPr>
          <a:xfrm>
            <a:off x="1874791" y="2642189"/>
            <a:ext cx="313307" cy="156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A1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98" name="직사각형 163"/>
          <p:cNvSpPr/>
          <p:nvPr/>
        </p:nvSpPr>
        <p:spPr>
          <a:xfrm>
            <a:off x="1874791" y="1786236"/>
            <a:ext cx="313307" cy="156099"/>
          </a:xfrm>
          <a:prstGeom prst="rect">
            <a:avLst/>
          </a:prstGeom>
          <a:solidFill>
            <a:srgbClr val="80808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D1</a:t>
            </a:r>
            <a:endParaRPr lang="en-US" altLang="ko-KR" sz="80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  <p:pic>
        <p:nvPicPr>
          <p:cNvPr id="200" name="그림 19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232401" y="2960003"/>
            <a:ext cx="2143424" cy="700185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cxnSp>
        <p:nvCxnSpPr>
          <p:cNvPr id="201" name="직선 연결선 200"/>
          <p:cNvCxnSpPr/>
          <p:nvPr/>
        </p:nvCxnSpPr>
        <p:spPr>
          <a:xfrm>
            <a:off x="4083844" y="2826544"/>
            <a:ext cx="142893" cy="142892"/>
          </a:xfrm>
          <a:prstGeom prst="line">
            <a:avLst/>
          </a:prstGeom>
          <a:ln w="28575">
            <a:solidFill>
              <a:schemeClr val="accent1">
                <a:shade val="95000"/>
                <a:satMod val="10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직사각형 168"/>
          <p:cNvSpPr/>
          <p:nvPr/>
        </p:nvSpPr>
        <p:spPr>
          <a:xfrm>
            <a:off x="5619931" y="3160050"/>
            <a:ext cx="313307" cy="156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A2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03" name="직사각형 163"/>
          <p:cNvSpPr/>
          <p:nvPr/>
        </p:nvSpPr>
        <p:spPr>
          <a:xfrm>
            <a:off x="4226737" y="2735219"/>
            <a:ext cx="313307" cy="156099"/>
          </a:xfrm>
          <a:prstGeom prst="rect">
            <a:avLst/>
          </a:prstGeom>
          <a:solidFill>
            <a:srgbClr val="80808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D2</a:t>
            </a:r>
            <a:endParaRPr lang="en-US" altLang="ko-KR" sz="80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04" name="직사각형 168"/>
          <p:cNvSpPr/>
          <p:nvPr/>
        </p:nvSpPr>
        <p:spPr>
          <a:xfrm>
            <a:off x="5977092" y="3160050"/>
            <a:ext cx="313307" cy="156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A3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graphicFrame>
        <p:nvGraphicFramePr>
          <p:cNvPr id="15" name="Group 253"/>
          <p:cNvGraphicFramePr>
            <a:graphicFrameLocks noGrp="1"/>
          </p:cNvGraphicFramePr>
          <p:nvPr/>
        </p:nvGraphicFramePr>
        <p:xfrm>
          <a:off x="206775" y="322763"/>
          <a:ext cx="5885382" cy="391650"/>
        </p:xfrm>
        <a:graphic>
          <a:graphicData uri="http://schemas.openxmlformats.org/drawingml/2006/table">
            <a:tbl>
              <a:tblPr firstRow="1" bandRow="1"/>
              <a:tblGrid>
                <a:gridCol w="530880"/>
                <a:gridCol w="1974237"/>
                <a:gridCol w="378632"/>
                <a:gridCol w="1419001"/>
                <a:gridCol w="489796"/>
                <a:gridCol w="1092836"/>
              </a:tblGrid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프로젝트명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스마트 음식 영양 분석 &amp; 식단 추천 프로젝트</a:t>
                      </a:r>
                      <a:endParaRPr kumimoji="1" lang="ko-KR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회원탈퇴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ID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DP-1060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위   치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홈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&gt;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 회원정보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&gt;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 회원탈퇴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파일명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member/withdrawal.html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버전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날짜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2025-09-02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" name="Group 369"/>
          <p:cNvGraphicFramePr>
            <a:graphicFrameLocks noGrp="1"/>
          </p:cNvGraphicFramePr>
          <p:nvPr/>
        </p:nvGraphicFramePr>
        <p:xfrm>
          <a:off x="6187558" y="326042"/>
          <a:ext cx="2744626" cy="831315"/>
        </p:xfrm>
        <a:graphic>
          <a:graphicData uri="http://schemas.openxmlformats.org/drawingml/2006/table">
            <a:tbl>
              <a:tblPr firstRow="1" bandRow="1"/>
              <a:tblGrid>
                <a:gridCol w="316692"/>
                <a:gridCol w="2427934"/>
              </a:tblGrid>
              <a:tr h="0">
                <a:tc gridSpan="2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lt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Description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lt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D1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탈퇴할 회원의 정보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.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 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ID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와 이름만 표시한다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.</a:t>
                      </a: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D2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회원탈퇴 버튼을 누르면 탈퇴 의사를 확인하는 알림창 생성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Group 369"/>
          <p:cNvGraphicFramePr>
            <a:graphicFrameLocks noGrp="1"/>
          </p:cNvGraphicFramePr>
          <p:nvPr/>
        </p:nvGraphicFramePr>
        <p:xfrm>
          <a:off x="6187003" y="1282940"/>
          <a:ext cx="2744428" cy="1409265"/>
        </p:xfrm>
        <a:graphic>
          <a:graphicData uri="http://schemas.openxmlformats.org/drawingml/2006/table">
            <a:tbl>
              <a:tblPr firstRow="1" bandRow="1"/>
              <a:tblGrid>
                <a:gridCol w="323184"/>
                <a:gridCol w="646369"/>
                <a:gridCol w="1774875"/>
              </a:tblGrid>
              <a:tr h="136213">
                <a:tc gridSpan="3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Action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15084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번호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버튼명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기능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65519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A1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회원탈퇴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회원탈퇴 과정을 진행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18714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A2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회원탈퇴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확인</a:t>
                      </a:r>
                      <a:endParaRPr lang="en-US" altLang="ko-KR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확인을 누르면 탈퇴 처리</a:t>
                      </a: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65519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A3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회원탈퇴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취소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취소를 누르면 회원탈퇴 진행이 중단되고 알림창이 사라진다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.</a:t>
                      </a:r>
                      <a:endParaRPr lang="en-US" altLang="ko-KR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07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>
              <a:alpha val="100000"/>
            </a:srgbClr>
          </a:solidFill>
        </p:spPr>
        <p:txBody>
          <a:bodyPr vert="horz" wrap="square" lIns="91424" tIns="91424" rIns="91424" bIns="91424" anchor="t" anchorCtr="0">
            <a:noAutofit/>
          </a:bodyPr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6.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 서비스 화면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ffffff"/>
              </a:solidFill>
              <a:latin typeface="KoPub돋움체 Light"/>
              <a:ea typeface="KoPub돋움체 Light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34</a:t>
            </a:fld>
            <a:endParaRPr lang="en-US" altLang="ko"/>
          </a:p>
        </p:txBody>
      </p:sp>
      <p:pic>
        <p:nvPicPr>
          <p:cNvPr id="199" name="그림 19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6775" y="741903"/>
            <a:ext cx="4986468" cy="4183387"/>
          </a:xfrm>
          <a:prstGeom prst="rect">
            <a:avLst/>
          </a:prstGeom>
        </p:spPr>
      </p:pic>
      <p:sp>
        <p:nvSpPr>
          <p:cNvPr id="201" name="직사각형 168"/>
          <p:cNvSpPr/>
          <p:nvPr/>
        </p:nvSpPr>
        <p:spPr>
          <a:xfrm>
            <a:off x="2022550" y="3679294"/>
            <a:ext cx="313307" cy="156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A1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02" name="직사각형 168"/>
          <p:cNvSpPr/>
          <p:nvPr/>
        </p:nvSpPr>
        <p:spPr>
          <a:xfrm>
            <a:off x="3042441" y="3681675"/>
            <a:ext cx="313307" cy="156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A2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03" name="직사각형 168"/>
          <p:cNvSpPr/>
          <p:nvPr/>
        </p:nvSpPr>
        <p:spPr>
          <a:xfrm>
            <a:off x="2550216" y="4123453"/>
            <a:ext cx="313307" cy="156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A3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05" name="직사각형 204"/>
          <p:cNvSpPr/>
          <p:nvPr/>
        </p:nvSpPr>
        <p:spPr>
          <a:xfrm>
            <a:off x="840488" y="1670101"/>
            <a:ext cx="412362" cy="1910807"/>
          </a:xfrm>
          <a:prstGeom prst="rect">
            <a:avLst/>
          </a:prstGeom>
          <a:solidFill>
            <a:srgbClr val="42c7f1"/>
          </a:solidFill>
          <a:ln>
            <a:solidFill>
              <a:srgbClr val="42c7f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06" name="직사각형 205"/>
          <p:cNvSpPr/>
          <p:nvPr/>
        </p:nvSpPr>
        <p:spPr>
          <a:xfrm>
            <a:off x="1570178" y="1672606"/>
            <a:ext cx="412362" cy="1910807"/>
          </a:xfrm>
          <a:prstGeom prst="rect">
            <a:avLst/>
          </a:prstGeom>
          <a:solidFill>
            <a:srgbClr val="42c7f1"/>
          </a:solidFill>
          <a:ln>
            <a:solidFill>
              <a:srgbClr val="42c7f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07" name="직사각형 206"/>
          <p:cNvSpPr/>
          <p:nvPr/>
        </p:nvSpPr>
        <p:spPr>
          <a:xfrm>
            <a:off x="2458791" y="1670385"/>
            <a:ext cx="871188" cy="1910807"/>
          </a:xfrm>
          <a:prstGeom prst="rect">
            <a:avLst/>
          </a:prstGeom>
          <a:solidFill>
            <a:srgbClr val="42c7f1"/>
          </a:solidFill>
          <a:ln>
            <a:solidFill>
              <a:srgbClr val="42c7f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08" name="직사각형 207"/>
          <p:cNvSpPr/>
          <p:nvPr/>
        </p:nvSpPr>
        <p:spPr>
          <a:xfrm>
            <a:off x="3606454" y="1662185"/>
            <a:ext cx="412362" cy="1910807"/>
          </a:xfrm>
          <a:prstGeom prst="rect">
            <a:avLst/>
          </a:prstGeom>
          <a:solidFill>
            <a:srgbClr val="42c7f1"/>
          </a:solidFill>
          <a:ln>
            <a:solidFill>
              <a:srgbClr val="42c7f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09" name="직사각형 163"/>
          <p:cNvSpPr/>
          <p:nvPr/>
        </p:nvSpPr>
        <p:spPr>
          <a:xfrm>
            <a:off x="716836" y="1227749"/>
            <a:ext cx="313307" cy="156099"/>
          </a:xfrm>
          <a:prstGeom prst="rect">
            <a:avLst/>
          </a:prstGeom>
          <a:solidFill>
            <a:srgbClr val="80808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D1</a:t>
            </a:r>
            <a:endParaRPr lang="en-US" altLang="ko-KR" sz="80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  <p:graphicFrame>
        <p:nvGraphicFramePr>
          <p:cNvPr id="16" name="Group 253"/>
          <p:cNvGraphicFramePr>
            <a:graphicFrameLocks noGrp="1"/>
          </p:cNvGraphicFramePr>
          <p:nvPr/>
        </p:nvGraphicFramePr>
        <p:xfrm>
          <a:off x="206775" y="322763"/>
          <a:ext cx="5885382" cy="391650"/>
        </p:xfrm>
        <a:graphic>
          <a:graphicData uri="http://schemas.openxmlformats.org/drawingml/2006/table">
            <a:tbl>
              <a:tblPr firstRow="1" bandRow="1"/>
              <a:tblGrid>
                <a:gridCol w="530880"/>
                <a:gridCol w="1974237"/>
                <a:gridCol w="378632"/>
                <a:gridCol w="1419001"/>
                <a:gridCol w="489796"/>
                <a:gridCol w="1092836"/>
              </a:tblGrid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프로젝트명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스마트 음식 영양 분석 &amp; 식단 추천 프로젝트</a:t>
                      </a:r>
                      <a:endParaRPr kumimoji="1" lang="ko-KR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회원 목록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ID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DP-1070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위   치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홈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&gt;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 회원정보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 &gt; 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회원 목록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파일명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member/member_list.html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버전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날짜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2025-09-03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" name="Group 369"/>
          <p:cNvGraphicFramePr>
            <a:graphicFrameLocks noGrp="1"/>
          </p:cNvGraphicFramePr>
          <p:nvPr/>
        </p:nvGraphicFramePr>
        <p:xfrm>
          <a:off x="6187558" y="326042"/>
          <a:ext cx="2744626" cy="964665"/>
        </p:xfrm>
        <a:graphic>
          <a:graphicData uri="http://schemas.openxmlformats.org/drawingml/2006/table">
            <a:tbl>
              <a:tblPr firstRow="1" bandRow="1"/>
              <a:tblGrid>
                <a:gridCol w="316692"/>
                <a:gridCol w="2427934"/>
              </a:tblGrid>
              <a:tr h="0">
                <a:tc gridSpan="2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lt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Description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lt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1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관리자만 접속할 수 있다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.</a:t>
                      </a: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D1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회원의 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ID, 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이름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,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 이메일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,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 전화번호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,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 가입일만 표시한다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.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 기준은 연락 가능 여부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.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 그 외의 신체정보 등은 따로 표시하지 않지만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,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 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DB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에는 저장되어 있다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.</a:t>
                      </a: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Group 369"/>
          <p:cNvGraphicFramePr>
            <a:graphicFrameLocks noGrp="1"/>
          </p:cNvGraphicFramePr>
          <p:nvPr/>
        </p:nvGraphicFramePr>
        <p:xfrm>
          <a:off x="6187558" y="1368614"/>
          <a:ext cx="2744428" cy="1514040"/>
        </p:xfrm>
        <a:graphic>
          <a:graphicData uri="http://schemas.openxmlformats.org/drawingml/2006/table">
            <a:tbl>
              <a:tblPr firstRow="1" bandRow="1"/>
              <a:tblGrid>
                <a:gridCol w="323184"/>
                <a:gridCol w="646369"/>
                <a:gridCol w="1774875"/>
              </a:tblGrid>
              <a:tr h="136213">
                <a:tc gridSpan="3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Action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15084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번호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버튼명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기능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65519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A1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페이지 번호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현재 페이지는 검은색으로 표시. 다른 페이지 번호를 누르면 해당 페이지로 이동한다.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18714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A2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"/>
                        </a:rPr>
                        <a:t>이전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"/>
                        </a:rPr>
                        <a:t>/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"/>
                        </a:rPr>
                        <a:t>다음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현재 페이지 번호에서 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-1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 또는 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+1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 페이지 번호의 목록을 보여준다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65519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A3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돌아가기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회원정보 페이지로 이동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11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>
              <a:alpha val="100000"/>
            </a:srgbClr>
          </a:solidFill>
        </p:spPr>
        <p:txBody>
          <a:bodyPr vert="horz" wrap="square" lIns="91424" tIns="91424" rIns="91424" bIns="91424" anchor="t" anchorCtr="0">
            <a:noAutofit/>
          </a:bodyPr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6.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 서비스 화면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ffffff"/>
              </a:solidFill>
              <a:latin typeface="KoPub돋움체 Light"/>
              <a:ea typeface="KoPub돋움체 Light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35</a:t>
            </a:fld>
            <a:endParaRPr lang="en-US" altLang="ko"/>
          </a:p>
        </p:txBody>
      </p:sp>
      <p:pic>
        <p:nvPicPr>
          <p:cNvPr id="195" name="그림 19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6775" y="758468"/>
            <a:ext cx="5217280" cy="4165442"/>
          </a:xfrm>
          <a:prstGeom prst="rect">
            <a:avLst/>
          </a:prstGeom>
        </p:spPr>
      </p:pic>
      <p:sp>
        <p:nvSpPr>
          <p:cNvPr id="199" name="직사각형 163"/>
          <p:cNvSpPr/>
          <p:nvPr/>
        </p:nvSpPr>
        <p:spPr>
          <a:xfrm>
            <a:off x="218145" y="891105"/>
            <a:ext cx="313307" cy="156099"/>
          </a:xfrm>
          <a:prstGeom prst="rect">
            <a:avLst/>
          </a:prstGeom>
          <a:solidFill>
            <a:srgbClr val="80808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D1</a:t>
            </a:r>
            <a:endParaRPr lang="en-US" altLang="ko-KR" sz="80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  <p:graphicFrame>
        <p:nvGraphicFramePr>
          <p:cNvPr id="8" name="Group 253"/>
          <p:cNvGraphicFramePr>
            <a:graphicFrameLocks noGrp="1"/>
          </p:cNvGraphicFramePr>
          <p:nvPr/>
        </p:nvGraphicFramePr>
        <p:xfrm>
          <a:off x="206775" y="322763"/>
          <a:ext cx="5885382" cy="391650"/>
        </p:xfrm>
        <a:graphic>
          <a:graphicData uri="http://schemas.openxmlformats.org/drawingml/2006/table">
            <a:tbl>
              <a:tblPr firstRow="1" bandRow="1"/>
              <a:tblGrid>
                <a:gridCol w="530880"/>
                <a:gridCol w="1974237"/>
                <a:gridCol w="378632"/>
                <a:gridCol w="1419001"/>
                <a:gridCol w="489796"/>
                <a:gridCol w="1092836"/>
              </a:tblGrid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프로젝트명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스마트 음식 영양 분석 &amp; 식단 추천 프로젝트</a:t>
                      </a:r>
                      <a:endParaRPr kumimoji="1" lang="ko-KR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이용약관 및 개인정보처리방침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ID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DP-1080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위   치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홈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&gt;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 이용약관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파일명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footer/terms.html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버전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날짜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2025-09-02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Group 369"/>
          <p:cNvGraphicFramePr>
            <a:graphicFrameLocks noGrp="1"/>
          </p:cNvGraphicFramePr>
          <p:nvPr/>
        </p:nvGraphicFramePr>
        <p:xfrm>
          <a:off x="6187558" y="326042"/>
          <a:ext cx="2744626" cy="456615"/>
        </p:xfrm>
        <a:graphic>
          <a:graphicData uri="http://schemas.openxmlformats.org/drawingml/2006/table">
            <a:tbl>
              <a:tblPr firstRow="1" bandRow="1"/>
              <a:tblGrid>
                <a:gridCol w="316692"/>
                <a:gridCol w="2427934"/>
              </a:tblGrid>
              <a:tr h="0">
                <a:tc gridSpan="2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lt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Description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lt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1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로그인하지 않아도 볼 수 있다</a:t>
                      </a: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02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>
              <a:alpha val="100000"/>
            </a:srgbClr>
          </a:solidFill>
        </p:spPr>
        <p:txBody>
          <a:bodyPr vert="horz" wrap="square" lIns="91424" tIns="91424" rIns="91424" bIns="91424" anchor="t" anchorCtr="0">
            <a:noAutofit/>
          </a:bodyPr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6.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 서비스 화면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ffffff"/>
              </a:solidFill>
              <a:latin typeface="KoPub돋움체 Light"/>
              <a:ea typeface="KoPub돋움체 Light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36</a:t>
            </a:fld>
            <a:endParaRPr lang="en-US" altLang="ko"/>
          </a:p>
        </p:txBody>
      </p:sp>
      <p:pic>
        <p:nvPicPr>
          <p:cNvPr id="217" name="그림 21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6775" y="741903"/>
            <a:ext cx="5582423" cy="4183387"/>
          </a:xfrm>
          <a:prstGeom prst="rect">
            <a:avLst/>
          </a:prstGeom>
        </p:spPr>
      </p:pic>
      <p:sp>
        <p:nvSpPr>
          <p:cNvPr id="218" name="직사각형 167"/>
          <p:cNvSpPr/>
          <p:nvPr/>
        </p:nvSpPr>
        <p:spPr>
          <a:xfrm>
            <a:off x="573260" y="1811911"/>
            <a:ext cx="313307" cy="156099"/>
          </a:xfrm>
          <a:prstGeom prst="rect">
            <a:avLst/>
          </a:prstGeom>
          <a:solidFill>
            <a:srgbClr val="42c7f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V1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19" name="직사각형 168"/>
          <p:cNvSpPr/>
          <p:nvPr/>
        </p:nvSpPr>
        <p:spPr>
          <a:xfrm>
            <a:off x="573260" y="2283104"/>
            <a:ext cx="313307" cy="156099"/>
          </a:xfrm>
          <a:prstGeom prst="rect">
            <a:avLst/>
          </a:prstGeom>
          <a:solidFill>
            <a:srgbClr val="42c7f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V2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20" name="직사각형 169"/>
          <p:cNvSpPr/>
          <p:nvPr/>
        </p:nvSpPr>
        <p:spPr>
          <a:xfrm>
            <a:off x="2624006" y="3548290"/>
            <a:ext cx="313307" cy="156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A1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21" name="직사각형 169"/>
          <p:cNvSpPr/>
          <p:nvPr/>
        </p:nvSpPr>
        <p:spPr>
          <a:xfrm>
            <a:off x="3134292" y="3549060"/>
            <a:ext cx="313307" cy="156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A2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22" name="직사각형 169"/>
          <p:cNvSpPr/>
          <p:nvPr/>
        </p:nvSpPr>
        <p:spPr>
          <a:xfrm>
            <a:off x="4168699" y="3842539"/>
            <a:ext cx="313307" cy="156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A3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pic>
        <p:nvPicPr>
          <p:cNvPr id="223" name="그림 22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976394" y="3496786"/>
            <a:ext cx="697919" cy="305625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cxnSp>
        <p:nvCxnSpPr>
          <p:cNvPr id="224" name="직선 화살표 연결선 223"/>
          <p:cNvCxnSpPr/>
          <p:nvPr/>
        </p:nvCxnSpPr>
        <p:spPr>
          <a:xfrm rot="10800000">
            <a:off x="3638587" y="3350644"/>
            <a:ext cx="342162" cy="129467"/>
          </a:xfrm>
          <a:prstGeom prst="straightConnector1">
            <a:avLst/>
          </a:prstGeom>
          <a:ln w="28575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직사각형 163"/>
          <p:cNvSpPr/>
          <p:nvPr/>
        </p:nvSpPr>
        <p:spPr>
          <a:xfrm>
            <a:off x="2147347" y="2044497"/>
            <a:ext cx="313307" cy="156099"/>
          </a:xfrm>
          <a:prstGeom prst="rect">
            <a:avLst/>
          </a:prstGeom>
          <a:solidFill>
            <a:srgbClr val="80808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D1</a:t>
            </a:r>
            <a:endParaRPr lang="en-US" altLang="ko-KR" sz="80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  <p:graphicFrame>
        <p:nvGraphicFramePr>
          <p:cNvPr id="17" name="Group 253"/>
          <p:cNvGraphicFramePr>
            <a:graphicFrameLocks noGrp="1"/>
          </p:cNvGraphicFramePr>
          <p:nvPr/>
        </p:nvGraphicFramePr>
        <p:xfrm>
          <a:off x="206775" y="322763"/>
          <a:ext cx="5885382" cy="391650"/>
        </p:xfrm>
        <a:graphic>
          <a:graphicData uri="http://schemas.openxmlformats.org/drawingml/2006/table">
            <a:tbl>
              <a:tblPr firstRow="1" bandRow="1"/>
              <a:tblGrid>
                <a:gridCol w="530880"/>
                <a:gridCol w="1974237"/>
                <a:gridCol w="378632"/>
                <a:gridCol w="1419001"/>
                <a:gridCol w="489796"/>
                <a:gridCol w="1092836"/>
              </a:tblGrid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프로젝트명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스마트 음식 영양 분석 &amp; 식단 추천 프로젝트</a:t>
                      </a:r>
                      <a:endParaRPr kumimoji="1" lang="ko-KR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문의하기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ID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DP-1090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위   치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홈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&gt;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 문의하기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파일명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footer/inquiry_form.html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버전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날짜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2025-09-02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Group 369"/>
          <p:cNvGraphicFramePr>
            <a:graphicFrameLocks noGrp="1"/>
          </p:cNvGraphicFramePr>
          <p:nvPr/>
        </p:nvGraphicFramePr>
        <p:xfrm>
          <a:off x="6187558" y="2731600"/>
          <a:ext cx="2744027" cy="939315"/>
        </p:xfrm>
        <a:graphic>
          <a:graphicData uri="http://schemas.openxmlformats.org/drawingml/2006/table">
            <a:tbl>
              <a:tblPr firstRow="1" bandRow="1"/>
              <a:tblGrid>
                <a:gridCol w="322205"/>
                <a:gridCol w="616611"/>
                <a:gridCol w="1805211"/>
              </a:tblGrid>
              <a:tr h="162344">
                <a:tc gridSpan="3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Validation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2c7f1"/>
                    </a:solidFill>
                  </a:tcPr>
                </a:tc>
                <a:tc hMerge="1">
                  <a:txBody>
                    <a:bodyPr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182016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번호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버튼명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설명</a:t>
                      </a:r>
                      <a:endParaRPr kumimoji="1" lang="ko-KR" altLang="en-US" sz="800" b="1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82016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V1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제목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문의글의 제목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82016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V2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내용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문의글의 내용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Group 369"/>
          <p:cNvGraphicFramePr>
            <a:graphicFrameLocks noGrp="1"/>
          </p:cNvGraphicFramePr>
          <p:nvPr/>
        </p:nvGraphicFramePr>
        <p:xfrm>
          <a:off x="6187558" y="1310936"/>
          <a:ext cx="2744428" cy="1399740"/>
        </p:xfrm>
        <a:graphic>
          <a:graphicData uri="http://schemas.openxmlformats.org/drawingml/2006/table">
            <a:tbl>
              <a:tblPr firstRow="1" bandRow="1"/>
              <a:tblGrid>
                <a:gridCol w="323184"/>
                <a:gridCol w="646369"/>
                <a:gridCol w="1774875"/>
              </a:tblGrid>
              <a:tr h="123580">
                <a:tc gridSpan="3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Action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136849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번호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버튼명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기능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A1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문의 보내기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회원이 관리자에게 문의 등록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A2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돌아가기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메인 메뉴로 돌아가기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A3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관리자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페이지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관리자에게 보낸 문의 내역을 확인할 수 있는 페이지로 이동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 관리자로 로그인할 때만 표시된다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Group 369"/>
          <p:cNvGraphicFramePr>
            <a:graphicFrameLocks noGrp="1"/>
          </p:cNvGraphicFramePr>
          <p:nvPr/>
        </p:nvGraphicFramePr>
        <p:xfrm>
          <a:off x="6187558" y="326042"/>
          <a:ext cx="2744626" cy="964665"/>
        </p:xfrm>
        <a:graphic>
          <a:graphicData uri="http://schemas.openxmlformats.org/drawingml/2006/table">
            <a:tbl>
              <a:tblPr firstRow="1" bandRow="1"/>
              <a:tblGrid>
                <a:gridCol w="316692"/>
                <a:gridCol w="2427934"/>
              </a:tblGrid>
              <a:tr h="0">
                <a:tc gridSpan="2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lt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Description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lt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1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이메일을 등록한 회원만 들어갈 수 있다</a:t>
                      </a: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D1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제목 또는 내용을 입력하지 않은 상태에서 문의 보내기 버튼을 누르면 나타나는 메시지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.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 두 항목 모두 채워야 문의 보내기를 할 수 있다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.</a:t>
                      </a: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29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>
              <a:alpha val="100000"/>
            </a:srgbClr>
          </a:solidFill>
        </p:spPr>
        <p:txBody>
          <a:bodyPr vert="horz" wrap="square" lIns="91424" tIns="91424" rIns="91424" bIns="91424" anchor="t" anchorCtr="0">
            <a:noAutofit/>
          </a:bodyPr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6.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 서비스 화면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ffffff"/>
              </a:solidFill>
              <a:latin typeface="KoPub돋움체 Light"/>
              <a:ea typeface="KoPub돋움체 Light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37</a:t>
            </a:fld>
            <a:endParaRPr lang="en-US" altLang="ko"/>
          </a:p>
        </p:txBody>
      </p:sp>
      <p:pic>
        <p:nvPicPr>
          <p:cNvPr id="216" name="그림 21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6775" y="741903"/>
            <a:ext cx="5694054" cy="4183387"/>
          </a:xfrm>
          <a:prstGeom prst="rect">
            <a:avLst/>
          </a:prstGeom>
        </p:spPr>
      </p:pic>
      <p:sp>
        <p:nvSpPr>
          <p:cNvPr id="217" name="직사각형 169"/>
          <p:cNvSpPr/>
          <p:nvPr/>
        </p:nvSpPr>
        <p:spPr>
          <a:xfrm>
            <a:off x="2258910" y="1775881"/>
            <a:ext cx="313307" cy="156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A1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18" name="직사각형 169"/>
          <p:cNvSpPr/>
          <p:nvPr/>
        </p:nvSpPr>
        <p:spPr>
          <a:xfrm>
            <a:off x="3225013" y="2952305"/>
            <a:ext cx="313307" cy="156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A2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19" name="직사각형 163"/>
          <p:cNvSpPr/>
          <p:nvPr/>
        </p:nvSpPr>
        <p:spPr>
          <a:xfrm>
            <a:off x="270330" y="915738"/>
            <a:ext cx="313307" cy="156099"/>
          </a:xfrm>
          <a:prstGeom prst="rect">
            <a:avLst/>
          </a:prstGeom>
          <a:solidFill>
            <a:srgbClr val="80808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D1</a:t>
            </a:r>
            <a:endParaRPr lang="en-US" altLang="ko-KR" sz="80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20" name="직사각형 169"/>
          <p:cNvSpPr/>
          <p:nvPr/>
        </p:nvSpPr>
        <p:spPr>
          <a:xfrm>
            <a:off x="2897148" y="3416959"/>
            <a:ext cx="313307" cy="156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A3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23" name="직사각형 222"/>
          <p:cNvSpPr/>
          <p:nvPr/>
        </p:nvSpPr>
        <p:spPr>
          <a:xfrm>
            <a:off x="776272" y="1780643"/>
            <a:ext cx="412362" cy="1013524"/>
          </a:xfrm>
          <a:prstGeom prst="rect">
            <a:avLst/>
          </a:prstGeom>
          <a:solidFill>
            <a:srgbClr val="42c7f1"/>
          </a:solidFill>
          <a:ln>
            <a:solidFill>
              <a:srgbClr val="42c7f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24" name="직사각형 223"/>
          <p:cNvSpPr/>
          <p:nvPr/>
        </p:nvSpPr>
        <p:spPr>
          <a:xfrm>
            <a:off x="1628760" y="1775881"/>
            <a:ext cx="412362" cy="1013524"/>
          </a:xfrm>
          <a:prstGeom prst="rect">
            <a:avLst/>
          </a:prstGeom>
          <a:solidFill>
            <a:srgbClr val="42c7f1"/>
          </a:solidFill>
          <a:ln>
            <a:solidFill>
              <a:srgbClr val="42c7f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KoPub돋움체 Light"/>
              <a:ea typeface="KoPub돋움체 Light"/>
              <a:cs typeface="+mn-cs"/>
            </a:endParaRPr>
          </a:p>
        </p:txBody>
      </p:sp>
      <p:graphicFrame>
        <p:nvGraphicFramePr>
          <p:cNvPr id="14" name="Group 253"/>
          <p:cNvGraphicFramePr>
            <a:graphicFrameLocks noGrp="1"/>
          </p:cNvGraphicFramePr>
          <p:nvPr/>
        </p:nvGraphicFramePr>
        <p:xfrm>
          <a:off x="206775" y="322763"/>
          <a:ext cx="5885382" cy="391650"/>
        </p:xfrm>
        <a:graphic>
          <a:graphicData uri="http://schemas.openxmlformats.org/drawingml/2006/table">
            <a:tbl>
              <a:tblPr firstRow="1" bandRow="1"/>
              <a:tblGrid>
                <a:gridCol w="530880"/>
                <a:gridCol w="1974237"/>
                <a:gridCol w="378632"/>
                <a:gridCol w="1419001"/>
                <a:gridCol w="489796"/>
                <a:gridCol w="1092836"/>
              </a:tblGrid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프로젝트명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스마트 음식 영양 분석 &amp; 식단 추천 프로젝트</a:t>
                      </a:r>
                      <a:endParaRPr kumimoji="1" lang="ko-KR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문의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목록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ID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DP-1100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위   치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홈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&gt;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 문의하기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&gt; 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문의 목록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파일명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footer/inquiry_list.html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버전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날짜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2025-09-03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Group 369"/>
          <p:cNvGraphicFramePr>
            <a:graphicFrameLocks noGrp="1"/>
          </p:cNvGraphicFramePr>
          <p:nvPr/>
        </p:nvGraphicFramePr>
        <p:xfrm>
          <a:off x="6187558" y="1310936"/>
          <a:ext cx="2744428" cy="1399740"/>
        </p:xfrm>
        <a:graphic>
          <a:graphicData uri="http://schemas.openxmlformats.org/drawingml/2006/table">
            <a:tbl>
              <a:tblPr firstRow="1" bandRow="1"/>
              <a:tblGrid>
                <a:gridCol w="323184"/>
                <a:gridCol w="646369"/>
                <a:gridCol w="1774875"/>
              </a:tblGrid>
              <a:tr h="123580">
                <a:tc gridSpan="3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Action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136849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번호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버튼명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기능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A1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문의글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제목을 클릭하면 개별 문의글로 이동한다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A2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페이지 번호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현재 페이지는 검은색으로 표시. 다른 페이지 번호를 누르면 해당 페이지로 이동한다.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A3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돌아가기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메인 메뉴로 돌아가기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Group 369"/>
          <p:cNvGraphicFramePr>
            <a:graphicFrameLocks noGrp="1"/>
          </p:cNvGraphicFramePr>
          <p:nvPr/>
        </p:nvGraphicFramePr>
        <p:xfrm>
          <a:off x="6187558" y="326042"/>
          <a:ext cx="2744626" cy="456615"/>
        </p:xfrm>
        <a:graphic>
          <a:graphicData uri="http://schemas.openxmlformats.org/drawingml/2006/table">
            <a:tbl>
              <a:tblPr firstRow="1" bandRow="1"/>
              <a:tblGrid>
                <a:gridCol w="316692"/>
                <a:gridCol w="2427934"/>
              </a:tblGrid>
              <a:tr h="0">
                <a:tc gridSpan="2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lt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Description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lt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D1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관리자만 들어갈 수 있다</a:t>
                      </a: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>
              <a:alpha val="100000"/>
            </a:srgbClr>
          </a:solidFill>
        </p:spPr>
        <p:txBody>
          <a:bodyPr vert="horz" wrap="square" lIns="91424" tIns="91424" rIns="91424" bIns="91424" anchor="t" anchorCtr="0">
            <a:noAutofit/>
          </a:bodyPr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6.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 서비스 화면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ffffff"/>
              </a:solidFill>
              <a:latin typeface="KoPub돋움체 Light"/>
              <a:ea typeface="KoPub돋움체 Light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38</a:t>
            </a:fld>
            <a:endParaRPr lang="en-US" altLang="ko"/>
          </a:p>
        </p:txBody>
      </p:sp>
      <p:pic>
        <p:nvPicPr>
          <p:cNvPr id="226" name="그림 22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6775" y="744104"/>
            <a:ext cx="5885382" cy="4180952"/>
          </a:xfrm>
          <a:prstGeom prst="rect">
            <a:avLst/>
          </a:prstGeom>
        </p:spPr>
      </p:pic>
      <p:sp>
        <p:nvSpPr>
          <p:cNvPr id="227" name="직사각형 167"/>
          <p:cNvSpPr/>
          <p:nvPr/>
        </p:nvSpPr>
        <p:spPr>
          <a:xfrm>
            <a:off x="837983" y="3848405"/>
            <a:ext cx="313307" cy="156099"/>
          </a:xfrm>
          <a:prstGeom prst="rect">
            <a:avLst/>
          </a:prstGeom>
          <a:solidFill>
            <a:srgbClr val="42c7f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V1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29" name="직사각형 169"/>
          <p:cNvSpPr/>
          <p:nvPr/>
        </p:nvSpPr>
        <p:spPr>
          <a:xfrm>
            <a:off x="1364373" y="4358187"/>
            <a:ext cx="313307" cy="156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A1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30" name="직사각형 169"/>
          <p:cNvSpPr/>
          <p:nvPr/>
        </p:nvSpPr>
        <p:spPr>
          <a:xfrm>
            <a:off x="1926604" y="4358187"/>
            <a:ext cx="313307" cy="156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A2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32" name="직사각형 163"/>
          <p:cNvSpPr/>
          <p:nvPr/>
        </p:nvSpPr>
        <p:spPr>
          <a:xfrm>
            <a:off x="835164" y="2571225"/>
            <a:ext cx="313307" cy="156099"/>
          </a:xfrm>
          <a:prstGeom prst="rect">
            <a:avLst/>
          </a:prstGeom>
          <a:solidFill>
            <a:srgbClr val="80808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D1</a:t>
            </a:r>
            <a:endParaRPr lang="en-US" altLang="ko-KR" sz="80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33" name="직사각형 163"/>
          <p:cNvSpPr/>
          <p:nvPr/>
        </p:nvSpPr>
        <p:spPr>
          <a:xfrm>
            <a:off x="835164" y="3407856"/>
            <a:ext cx="313307" cy="156099"/>
          </a:xfrm>
          <a:prstGeom prst="rect">
            <a:avLst/>
          </a:prstGeom>
          <a:solidFill>
            <a:srgbClr val="80808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D2</a:t>
            </a:r>
            <a:endParaRPr lang="en-US" altLang="ko-KR" sz="80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35" name="직사각형 234"/>
          <p:cNvSpPr/>
          <p:nvPr/>
        </p:nvSpPr>
        <p:spPr>
          <a:xfrm>
            <a:off x="1933553" y="1676358"/>
            <a:ext cx="961205" cy="457242"/>
          </a:xfrm>
          <a:prstGeom prst="rect">
            <a:avLst/>
          </a:prstGeom>
          <a:solidFill>
            <a:srgbClr val="42c7f1"/>
          </a:solidFill>
          <a:ln>
            <a:solidFill>
              <a:srgbClr val="42c7f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KoPub돋움체 Light"/>
              <a:ea typeface="KoPub돋움체 Light"/>
              <a:cs typeface="+mn-cs"/>
            </a:endParaRPr>
          </a:p>
        </p:txBody>
      </p:sp>
      <p:graphicFrame>
        <p:nvGraphicFramePr>
          <p:cNvPr id="15" name="Group 253"/>
          <p:cNvGraphicFramePr>
            <a:graphicFrameLocks noGrp="1"/>
          </p:cNvGraphicFramePr>
          <p:nvPr/>
        </p:nvGraphicFramePr>
        <p:xfrm>
          <a:off x="206775" y="322763"/>
          <a:ext cx="5885382" cy="391650"/>
        </p:xfrm>
        <a:graphic>
          <a:graphicData uri="http://schemas.openxmlformats.org/drawingml/2006/table">
            <a:tbl>
              <a:tblPr firstRow="1" bandRow="1"/>
              <a:tblGrid>
                <a:gridCol w="530880"/>
                <a:gridCol w="1974237"/>
                <a:gridCol w="378632"/>
                <a:gridCol w="1419001"/>
                <a:gridCol w="489796"/>
                <a:gridCol w="1092836"/>
              </a:tblGrid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프로젝트명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스마트 음식 영양 분석 &amp; 식단 추천 프로젝트</a:t>
                      </a:r>
                      <a:endParaRPr kumimoji="1" lang="ko-KR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문의 상세보기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&amp;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 답변하기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ID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DP-1110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위   치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홈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&gt;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 문의하기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&gt; 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문의 목록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&gt;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 문의 상세보기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파일명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footer/inquiry_reply.html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버전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날짜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2025-09-02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Group 369"/>
          <p:cNvGraphicFramePr>
            <a:graphicFrameLocks noGrp="1"/>
          </p:cNvGraphicFramePr>
          <p:nvPr/>
        </p:nvGraphicFramePr>
        <p:xfrm>
          <a:off x="6187558" y="2731600"/>
          <a:ext cx="2744027" cy="812265"/>
        </p:xfrm>
        <a:graphic>
          <a:graphicData uri="http://schemas.openxmlformats.org/drawingml/2006/table">
            <a:tbl>
              <a:tblPr firstRow="1" bandRow="1"/>
              <a:tblGrid>
                <a:gridCol w="322205"/>
                <a:gridCol w="616611"/>
                <a:gridCol w="1805211"/>
              </a:tblGrid>
              <a:tr h="162344">
                <a:tc gridSpan="3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Validation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2c7f1"/>
                    </a:solidFill>
                  </a:tcPr>
                </a:tc>
                <a:tc hMerge="1">
                  <a:txBody>
                    <a:bodyPr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182016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번호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버튼명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설명</a:t>
                      </a:r>
                      <a:endParaRPr kumimoji="1" lang="ko-KR" altLang="en-US" sz="800" b="1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82016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V1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답장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관리자가 문의에 답변한 내용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. 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이전에 답변한 내용이 있으면 자동으로 불러온다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Group 369"/>
          <p:cNvGraphicFramePr>
            <a:graphicFrameLocks noGrp="1"/>
          </p:cNvGraphicFramePr>
          <p:nvPr/>
        </p:nvGraphicFramePr>
        <p:xfrm>
          <a:off x="6187558" y="1310936"/>
          <a:ext cx="2744428" cy="929790"/>
        </p:xfrm>
        <a:graphic>
          <a:graphicData uri="http://schemas.openxmlformats.org/drawingml/2006/table">
            <a:tbl>
              <a:tblPr firstRow="1" bandRow="1"/>
              <a:tblGrid>
                <a:gridCol w="323184"/>
                <a:gridCol w="646369"/>
                <a:gridCol w="1774875"/>
              </a:tblGrid>
              <a:tr h="123580">
                <a:tc gridSpan="3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Action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136849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번호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버튼명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기능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A1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답변 보내기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관리자가 회원에게 답변 보내기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A2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돌아가기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문의 목록으로 돌아가기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Group 369"/>
          <p:cNvGraphicFramePr>
            <a:graphicFrameLocks noGrp="1"/>
          </p:cNvGraphicFramePr>
          <p:nvPr/>
        </p:nvGraphicFramePr>
        <p:xfrm>
          <a:off x="6187558" y="326042"/>
          <a:ext cx="2744626" cy="831315"/>
        </p:xfrm>
        <a:graphic>
          <a:graphicData uri="http://schemas.openxmlformats.org/drawingml/2006/table">
            <a:tbl>
              <a:tblPr firstRow="1" bandRow="1"/>
              <a:tblGrid>
                <a:gridCol w="316692"/>
                <a:gridCol w="2427934"/>
              </a:tblGrid>
              <a:tr h="0">
                <a:tc gridSpan="2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lt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Description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lt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D1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회원이 보낸 문의 내용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D2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관리자가 이전에 보냈던 답변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.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 아직 답변하지 않았을 경우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,</a:t>
                      </a: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 이 창은 나타나지 않는다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.</a:t>
                      </a: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37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>
              <a:alpha val="100000"/>
            </a:srgbClr>
          </a:solidFill>
        </p:spPr>
        <p:txBody>
          <a:bodyPr vert="horz" wrap="square" lIns="91424" tIns="91424" rIns="91424" bIns="91424" anchor="t" anchorCtr="0">
            <a:noAutofit/>
          </a:bodyPr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6.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 서비스 화면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ffffff"/>
              </a:solidFill>
              <a:latin typeface="KoPub돋움체 Light"/>
              <a:ea typeface="KoPub돋움체 Light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39</a:t>
            </a:fld>
            <a:endParaRPr lang="en-US" altLang="ko"/>
          </a:p>
        </p:txBody>
      </p:sp>
      <p:pic>
        <p:nvPicPr>
          <p:cNvPr id="227" name="그림 22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6775" y="741904"/>
            <a:ext cx="5658318" cy="4190314"/>
          </a:xfrm>
          <a:prstGeom prst="rect">
            <a:avLst/>
          </a:prstGeom>
        </p:spPr>
      </p:pic>
      <p:sp>
        <p:nvSpPr>
          <p:cNvPr id="228" name="직사각형 163"/>
          <p:cNvSpPr/>
          <p:nvPr/>
        </p:nvSpPr>
        <p:spPr>
          <a:xfrm>
            <a:off x="270076" y="938996"/>
            <a:ext cx="313307" cy="156099"/>
          </a:xfrm>
          <a:prstGeom prst="rect">
            <a:avLst/>
          </a:prstGeom>
          <a:solidFill>
            <a:srgbClr val="80808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D1</a:t>
            </a:r>
            <a:endParaRPr lang="en-US" altLang="ko-KR" sz="80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  <p:pic>
        <p:nvPicPr>
          <p:cNvPr id="229" name="그림 22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781989" y="2737262"/>
            <a:ext cx="494856" cy="283511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cxnSp>
        <p:nvCxnSpPr>
          <p:cNvPr id="230" name="직선 화살표 연결선 223"/>
          <p:cNvCxnSpPr/>
          <p:nvPr/>
        </p:nvCxnSpPr>
        <p:spPr>
          <a:xfrm rot="5400000" flipH="1" flipV="1">
            <a:off x="2255309" y="2372424"/>
            <a:ext cx="383382" cy="323851"/>
          </a:xfrm>
          <a:prstGeom prst="straightConnector1">
            <a:avLst/>
          </a:prstGeom>
          <a:ln w="28575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직사각형 169"/>
          <p:cNvSpPr/>
          <p:nvPr/>
        </p:nvSpPr>
        <p:spPr>
          <a:xfrm>
            <a:off x="408988" y="2454739"/>
            <a:ext cx="313307" cy="156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A1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32" name="직사각형 169"/>
          <p:cNvSpPr/>
          <p:nvPr/>
        </p:nvSpPr>
        <p:spPr>
          <a:xfrm>
            <a:off x="1856023" y="3098291"/>
            <a:ext cx="313307" cy="156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A2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graphicFrame>
        <p:nvGraphicFramePr>
          <p:cNvPr id="13" name="Group 253"/>
          <p:cNvGraphicFramePr>
            <a:graphicFrameLocks noGrp="1"/>
          </p:cNvGraphicFramePr>
          <p:nvPr/>
        </p:nvGraphicFramePr>
        <p:xfrm>
          <a:off x="206775" y="322763"/>
          <a:ext cx="5885382" cy="391650"/>
        </p:xfrm>
        <a:graphic>
          <a:graphicData uri="http://schemas.openxmlformats.org/drawingml/2006/table">
            <a:tbl>
              <a:tblPr firstRow="1" bandRow="1"/>
              <a:tblGrid>
                <a:gridCol w="530880"/>
                <a:gridCol w="1974237"/>
                <a:gridCol w="378632"/>
                <a:gridCol w="1419001"/>
                <a:gridCol w="489796"/>
                <a:gridCol w="1092836"/>
              </a:tblGrid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프로젝트명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스마트 음식 영양 분석 &amp; 식단 추천 프로젝트</a:t>
                      </a:r>
                      <a:endParaRPr kumimoji="1" lang="ko-KR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공지사항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ID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DP-1120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위   치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홈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&gt;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 공지사항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파일명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footer/notice.html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버전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날짜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2025-09-03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Group 369"/>
          <p:cNvGraphicFramePr>
            <a:graphicFrameLocks noGrp="1"/>
          </p:cNvGraphicFramePr>
          <p:nvPr/>
        </p:nvGraphicFramePr>
        <p:xfrm>
          <a:off x="6187558" y="1310936"/>
          <a:ext cx="2744428" cy="1294965"/>
        </p:xfrm>
        <a:graphic>
          <a:graphicData uri="http://schemas.openxmlformats.org/drawingml/2006/table">
            <a:tbl>
              <a:tblPr firstRow="1" bandRow="1"/>
              <a:tblGrid>
                <a:gridCol w="323184"/>
                <a:gridCol w="646369"/>
                <a:gridCol w="1774875"/>
              </a:tblGrid>
              <a:tr h="123580">
                <a:tc gridSpan="3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Action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136849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번호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버튼명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기능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A1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공지사항 글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제목을 클릭하면 개별 공지사항 글로 이동한다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A2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글쓰기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공지사항 작성 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(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관리자만 보임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)</a:t>
                      </a:r>
                      <a:endParaRPr lang="en-US" altLang="ko-KR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A3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돌아가기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메인 메뉴로 돌아가기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Group 369"/>
          <p:cNvGraphicFramePr>
            <a:graphicFrameLocks noGrp="1"/>
          </p:cNvGraphicFramePr>
          <p:nvPr/>
        </p:nvGraphicFramePr>
        <p:xfrm>
          <a:off x="6187558" y="326042"/>
          <a:ext cx="2744626" cy="456615"/>
        </p:xfrm>
        <a:graphic>
          <a:graphicData uri="http://schemas.openxmlformats.org/drawingml/2006/table">
            <a:tbl>
              <a:tblPr firstRow="1" bandRow="1"/>
              <a:tblGrid>
                <a:gridCol w="316692"/>
                <a:gridCol w="2427934"/>
              </a:tblGrid>
              <a:tr h="0">
                <a:tc gridSpan="2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lt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Description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lt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D1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로그인하지 않아도 볼 수 있다</a:t>
                      </a: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.</a:t>
                      </a: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35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>
              <a:alpha val="100000"/>
            </a:srgbClr>
          </a:solidFill>
        </p:spPr>
        <p:txBody>
          <a:bodyPr vert="horz" wrap="square" lIns="91424" tIns="91424" rIns="91424" bIns="91424" anchor="t" anchorCtr="0">
            <a:noAutofit/>
          </a:bodyPr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6.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 서비스 화면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ffffff"/>
              </a:solidFill>
              <a:latin typeface="KoPub돋움체 Light"/>
              <a:ea typeface="KoPub돋움체 Light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40</a:t>
            </a:fld>
            <a:endParaRPr lang="en-US" altLang="ko"/>
          </a:p>
        </p:txBody>
      </p:sp>
      <p:pic>
        <p:nvPicPr>
          <p:cNvPr id="233" name="그림 23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6775" y="753858"/>
            <a:ext cx="5754850" cy="4164505"/>
          </a:xfrm>
          <a:prstGeom prst="rect">
            <a:avLst/>
          </a:prstGeom>
        </p:spPr>
      </p:pic>
      <p:sp>
        <p:nvSpPr>
          <p:cNvPr id="234" name="직사각형 169"/>
          <p:cNvSpPr/>
          <p:nvPr/>
        </p:nvSpPr>
        <p:spPr>
          <a:xfrm>
            <a:off x="1236795" y="3315641"/>
            <a:ext cx="313307" cy="156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A1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graphicFrame>
        <p:nvGraphicFramePr>
          <p:cNvPr id="8" name="Group 253"/>
          <p:cNvGraphicFramePr>
            <a:graphicFrameLocks noGrp="1"/>
          </p:cNvGraphicFramePr>
          <p:nvPr/>
        </p:nvGraphicFramePr>
        <p:xfrm>
          <a:off x="206775" y="322763"/>
          <a:ext cx="5885382" cy="391650"/>
        </p:xfrm>
        <a:graphic>
          <a:graphicData uri="http://schemas.openxmlformats.org/drawingml/2006/table">
            <a:tbl>
              <a:tblPr firstRow="1" bandRow="1"/>
              <a:tblGrid>
                <a:gridCol w="530880"/>
                <a:gridCol w="1974237"/>
                <a:gridCol w="378632"/>
                <a:gridCol w="1419001"/>
                <a:gridCol w="489796"/>
                <a:gridCol w="1092836"/>
              </a:tblGrid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프로젝트명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스마트 음식 영양 분석 &amp; 식단 추천 프로젝트</a:t>
                      </a:r>
                      <a:endParaRPr kumimoji="1" lang="ko-KR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공지사항 내용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ID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DP-1130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위   치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홈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&gt;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 공지사항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 &gt; 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공지 상세보기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파일명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footer/notice_detail.html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버전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날짜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2025-09-03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Group 369"/>
          <p:cNvGraphicFramePr>
            <a:graphicFrameLocks noGrp="1"/>
          </p:cNvGraphicFramePr>
          <p:nvPr/>
        </p:nvGraphicFramePr>
        <p:xfrm>
          <a:off x="6187558" y="1310936"/>
          <a:ext cx="2744428" cy="697965"/>
        </p:xfrm>
        <a:graphic>
          <a:graphicData uri="http://schemas.openxmlformats.org/drawingml/2006/table">
            <a:tbl>
              <a:tblPr firstRow="1" bandRow="1"/>
              <a:tblGrid>
                <a:gridCol w="323184"/>
                <a:gridCol w="646369"/>
                <a:gridCol w="1774875"/>
              </a:tblGrid>
              <a:tr h="123580">
                <a:tc gridSpan="3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Action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136849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번호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버튼명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기능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A1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목록으로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공지사항 목록으로 돌아가기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38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>
              <a:alpha val="100000"/>
            </a:srgbClr>
          </a:solidFill>
        </p:spPr>
        <p:txBody>
          <a:bodyPr vert="horz" wrap="square" lIns="91424" tIns="91424" rIns="91424" bIns="91424" anchor="t" anchorCtr="0">
            <a:noAutofit/>
          </a:bodyPr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6.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 서비스 화면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ffffff"/>
              </a:solidFill>
              <a:latin typeface="KoPub돋움체 Light"/>
              <a:ea typeface="KoPub돋움체 Light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41</a:t>
            </a:fld>
            <a:endParaRPr lang="en-US" altLang="ko"/>
          </a:p>
        </p:txBody>
      </p:sp>
      <p:pic>
        <p:nvPicPr>
          <p:cNvPr id="220" name="그림 21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6775" y="743850"/>
            <a:ext cx="5494370" cy="4196028"/>
          </a:xfrm>
          <a:prstGeom prst="rect">
            <a:avLst/>
          </a:prstGeom>
        </p:spPr>
      </p:pic>
      <p:sp>
        <p:nvSpPr>
          <p:cNvPr id="221" name="직사각형 169"/>
          <p:cNvSpPr/>
          <p:nvPr/>
        </p:nvSpPr>
        <p:spPr>
          <a:xfrm>
            <a:off x="2557736" y="3594562"/>
            <a:ext cx="313307" cy="156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A1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22" name="직사각형 169"/>
          <p:cNvSpPr/>
          <p:nvPr/>
        </p:nvSpPr>
        <p:spPr>
          <a:xfrm>
            <a:off x="2996784" y="3592613"/>
            <a:ext cx="313307" cy="1560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A2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23" name="직사각형 163"/>
          <p:cNvSpPr/>
          <p:nvPr/>
        </p:nvSpPr>
        <p:spPr>
          <a:xfrm>
            <a:off x="273453" y="894706"/>
            <a:ext cx="313307" cy="156099"/>
          </a:xfrm>
          <a:prstGeom prst="rect">
            <a:avLst/>
          </a:prstGeom>
          <a:solidFill>
            <a:srgbClr val="80808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D1</a:t>
            </a:r>
            <a:endParaRPr lang="en-US" altLang="ko-KR" sz="80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24" name="직사각형 167"/>
          <p:cNvSpPr/>
          <p:nvPr/>
        </p:nvSpPr>
        <p:spPr>
          <a:xfrm>
            <a:off x="585325" y="1804438"/>
            <a:ext cx="313307" cy="156099"/>
          </a:xfrm>
          <a:prstGeom prst="rect">
            <a:avLst/>
          </a:prstGeom>
          <a:solidFill>
            <a:srgbClr val="42c7f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V1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225" name="직사각형 167"/>
          <p:cNvSpPr/>
          <p:nvPr/>
        </p:nvSpPr>
        <p:spPr>
          <a:xfrm>
            <a:off x="566829" y="2225498"/>
            <a:ext cx="313307" cy="156099"/>
          </a:xfrm>
          <a:prstGeom prst="rect">
            <a:avLst/>
          </a:prstGeom>
          <a:solidFill>
            <a:srgbClr val="42c7f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>
                <a:solidFill>
                  <a:srgbClr val="000000"/>
                </a:solidFill>
                <a:latin typeface="KoPub돋움체 Light"/>
                <a:ea typeface="KoPub돋움체 Light"/>
                <a:cs typeface="+mn-cs"/>
              </a:rPr>
              <a:t>V2</a:t>
            </a:r>
            <a:endParaRPr lang="en-US" altLang="ko-KR" sz="800">
              <a:solidFill>
                <a:srgbClr val="000000"/>
              </a:solidFill>
              <a:latin typeface="KoPub돋움체 Light"/>
              <a:ea typeface="KoPub돋움체 Light"/>
              <a:cs typeface="+mn-cs"/>
            </a:endParaRPr>
          </a:p>
        </p:txBody>
      </p:sp>
      <p:graphicFrame>
        <p:nvGraphicFramePr>
          <p:cNvPr id="14" name="Group 253"/>
          <p:cNvGraphicFramePr>
            <a:graphicFrameLocks noGrp="1"/>
          </p:cNvGraphicFramePr>
          <p:nvPr/>
        </p:nvGraphicFramePr>
        <p:xfrm>
          <a:off x="206775" y="322763"/>
          <a:ext cx="5885382" cy="391650"/>
        </p:xfrm>
        <a:graphic>
          <a:graphicData uri="http://schemas.openxmlformats.org/drawingml/2006/table">
            <a:tbl>
              <a:tblPr firstRow="1" bandRow="1"/>
              <a:tblGrid>
                <a:gridCol w="530880"/>
                <a:gridCol w="1974237"/>
                <a:gridCol w="378632"/>
                <a:gridCol w="1419001"/>
                <a:gridCol w="489796"/>
                <a:gridCol w="1092836"/>
              </a:tblGrid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프로젝트명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스마트 음식 영양 분석 &amp; 식단 추천 프로젝트</a:t>
                      </a:r>
                      <a:endParaRPr kumimoji="1" lang="ko-KR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공지사항 작성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화면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ID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DP-1140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825"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위   치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홈 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&gt;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 공지사항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 &gt; 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공지사항 작성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파일명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footer/notice_write.html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버전</a:t>
                      </a: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날짜</a:t>
                      </a:r>
                      <a:endParaRPr kumimoji="1" lang="ko-KR" altLang="en-US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 vert="horz" lIns="36000" tIns="36000" rIns="36000" bIns="3600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</a:rPr>
                        <a:t>2025-09-03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Group 369"/>
          <p:cNvGraphicFramePr>
            <a:graphicFrameLocks noGrp="1"/>
          </p:cNvGraphicFramePr>
          <p:nvPr/>
        </p:nvGraphicFramePr>
        <p:xfrm>
          <a:off x="6187558" y="2731600"/>
          <a:ext cx="2744027" cy="939315"/>
        </p:xfrm>
        <a:graphic>
          <a:graphicData uri="http://schemas.openxmlformats.org/drawingml/2006/table">
            <a:tbl>
              <a:tblPr firstRow="1" bandRow="1"/>
              <a:tblGrid>
                <a:gridCol w="322205"/>
                <a:gridCol w="616611"/>
                <a:gridCol w="1805211"/>
              </a:tblGrid>
              <a:tr h="162344">
                <a:tc gridSpan="3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Validation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2c7f1"/>
                    </a:solidFill>
                  </a:tcPr>
                </a:tc>
                <a:tc hMerge="1">
                  <a:txBody>
                    <a:bodyPr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182016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번호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버튼명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설명</a:t>
                      </a:r>
                      <a:endParaRPr kumimoji="1" lang="ko-KR" altLang="en-US" sz="800" b="1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82016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V1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제목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공지사항 제목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82016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V2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내용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공지사항 내용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Group 369"/>
          <p:cNvGraphicFramePr>
            <a:graphicFrameLocks noGrp="1"/>
          </p:cNvGraphicFramePr>
          <p:nvPr/>
        </p:nvGraphicFramePr>
        <p:xfrm>
          <a:off x="6187558" y="1310936"/>
          <a:ext cx="2744428" cy="939315"/>
        </p:xfrm>
        <a:graphic>
          <a:graphicData uri="http://schemas.openxmlformats.org/drawingml/2006/table">
            <a:tbl>
              <a:tblPr firstRow="1" bandRow="1"/>
              <a:tblGrid>
                <a:gridCol w="323184"/>
                <a:gridCol w="646369"/>
                <a:gridCol w="1774875"/>
              </a:tblGrid>
              <a:tr h="123580">
                <a:tc gridSpan="3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Action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136849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번호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버튼명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algn="ctr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cs typeface="+mn-cs"/>
                          <a:sym typeface="Wingdings"/>
                        </a:rPr>
                        <a:t>기능</a:t>
                      </a:r>
                      <a:endParaRPr kumimoji="1" lang="en-US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A1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0" bIns="54000" anchor="t" anchorCtr="0"/>
                    <a:p>
                      <a:pPr marL="85725" marR="0" lvl="0" indent="-85725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등록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공지사항 글 등록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A2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lvl="0"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돌아가기</a:t>
                      </a:r>
                      <a:endParaRPr lang="ko-KR" altLang="en-US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85725" marR="0" lvl="0" indent="-85725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공지사항 페이지로 이동</a:t>
                      </a:r>
                      <a:endParaRPr kumimoji="1" lang="ko-KR" altLang="en-US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Group 369"/>
          <p:cNvGraphicFramePr>
            <a:graphicFrameLocks noGrp="1"/>
          </p:cNvGraphicFramePr>
          <p:nvPr/>
        </p:nvGraphicFramePr>
        <p:xfrm>
          <a:off x="6187558" y="326042"/>
          <a:ext cx="2744626" cy="456615"/>
        </p:xfrm>
        <a:graphic>
          <a:graphicData uri="http://schemas.openxmlformats.org/drawingml/2006/table">
            <a:tbl>
              <a:tblPr firstRow="1" bandRow="1"/>
              <a:tblGrid>
                <a:gridCol w="316692"/>
                <a:gridCol w="2427934"/>
              </a:tblGrid>
              <a:tr h="0">
                <a:tc gridSpan="2">
                  <a:txBody>
                    <a:bodyPr vert="horz" lIns="0" tIns="45720" rIns="0" bIns="45720" anchor="t" anchorCtr="0"/>
                    <a:p>
                      <a:pPr marL="0" marR="0" lvl="0" indent="0" algn="l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solidFill>
                            <a:schemeClr val="lt1"/>
                          </a:solidFill>
                          <a:effectLst/>
                          <a:latin typeface="KoPub돋움체 Light"/>
                          <a:ea typeface="KoPub돋움체 Light"/>
                          <a:sym typeface="Wingdings 2"/>
                        </a:rPr>
                        <a:t> Description</a:t>
                      </a:r>
                      <a:endParaRPr kumimoji="1" lang="en-US" altLang="ko-KR" sz="800" b="0" i="0" u="none" strike="noStrike" cap="none" normalizeH="0" baseline="0">
                        <a:solidFill>
                          <a:schemeClr val="lt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 typeface="Wingdings"/>
                        <a:buNone/>
                        <a:defRPr/>
                      </a:pP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고딕"/>
                        <a:ea typeface="나눔고딕"/>
                        <a:cs typeface="+mn-cs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 vert="horz" lIns="0" tIns="45720" rIns="0" bIns="45720" anchor="t" anchorCtr="0"/>
                    <a:p>
                      <a:pPr marL="0" marR="0" lvl="0" indent="0" algn="ctr" defTabSz="914400" rtl="0" eaLnBrk="0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latin typeface="KoPub돋움체 Light"/>
                          <a:ea typeface="KoPub돋움체 Light"/>
                          <a:sym typeface="Wingdings 2"/>
                        </a:rPr>
                        <a:t>D1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 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 vert="horz" lIns="54000" tIns="54000" rIns="54000" bIns="54000" anchor="t" anchorCtr="0"/>
                    <a:p>
                      <a:pPr marL="0" marR="0" lvl="0" indent="0" algn="l" defTabSz="914400" rtl="0" eaLnBrk="0" latinLnBrk="0" hangingPunct="0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KoPub돋움체 Light"/>
                          <a:ea typeface="KoPub돋움체 Light"/>
                          <a:sym typeface="Wingdings"/>
                        </a:rPr>
                        <a:t>관리자만 들어갈 수 있다</a:t>
                      </a:r>
                      <a:endParaRPr kumimoji="1" lang="en-US" altLang="ko-KR" sz="800" b="0" i="0" u="none" strike="noStrike" kern="1200" cap="none" normalizeH="0" baseline="0">
                        <a:solidFill>
                          <a:schemeClr val="tx1"/>
                        </a:solidFill>
                        <a:latin typeface="KoPub돋움체 Light"/>
                        <a:ea typeface="KoPub돋움체 Light"/>
                        <a:sym typeface="Wingdings"/>
                      </a:endParaRPr>
                    </a:p>
                  </a:txBody>
                  <a:tcPr marL="54000" marR="54000" marT="54000" marB="54000" horzOverflow="overflow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29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>
              <a:alpha val="100000"/>
            </a:srgbClr>
          </a:solidFill>
        </p:spPr>
        <p:txBody>
          <a:bodyPr vert="horz" wrap="square" lIns="91424" tIns="91424" rIns="91424" bIns="91424" anchor="t" anchorCtr="0">
            <a:noAutofit/>
          </a:bodyPr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Corbel"/>
              </a:rPr>
              <a:t>6.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KoPub돋움체 Light"/>
                <a:ea typeface="KoPub돋움체 Light"/>
                <a:cs typeface="맑은 고딕"/>
              </a:rPr>
              <a:t> 서비스 화면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ffffff"/>
              </a:solidFill>
              <a:latin typeface="KoPub돋움체 Light"/>
              <a:ea typeface="KoPub돋움체 Light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>
                <a:latin typeface="KoPub돋움체 Medium"/>
                <a:ea typeface="KoPub돋움체 Medium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57</a:t>
            </a:fld>
            <a:endParaRPr lang="en-US" altLang="ko">
              <a:latin typeface="KoPub돋움체 Medium"/>
              <a:ea typeface="KoPub돋움체 Medium"/>
            </a:endParaRPr>
          </a:p>
        </p:txBody>
      </p:sp>
      <p:sp>
        <p:nvSpPr>
          <p:cNvPr id="111" name="TextBox 110"/>
          <p:cNvSpPr txBox="1"/>
          <p:nvPr/>
        </p:nvSpPr>
        <p:spPr>
          <a:xfrm flipH="1">
            <a:off x="444142" y="703739"/>
            <a:ext cx="724750" cy="723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12" name="TextBox 111"/>
          <p:cNvSpPr txBox="1"/>
          <p:nvPr/>
        </p:nvSpPr>
        <p:spPr>
          <a:xfrm>
            <a:off x="484572" y="592766"/>
            <a:ext cx="7131618" cy="399637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1600" b="1">
                <a:solidFill>
                  <a:srgbClr val="779014"/>
                </a:solidFill>
                <a:latin typeface="KoPub돋움체 Light"/>
                <a:ea typeface="KoPub돋움체 Light"/>
                <a:cs typeface="+mn-cs"/>
              </a:rPr>
              <a:t>🔔</a:t>
            </a:r>
            <a:r>
              <a:rPr lang="ko-KR" altLang="en-US" sz="1600" b="1">
                <a:latin typeface="KoPub돋움체 Light"/>
                <a:ea typeface="KoPub돋움체 Light"/>
                <a:cs typeface="+mn-cs"/>
              </a:rPr>
              <a:t> 단위 테스트 개요</a:t>
            </a:r>
            <a:endParaRPr lang="ko-KR" altLang="en-US" sz="1600" b="1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en-US" altLang="en-US" sz="1200">
                <a:solidFill>
                  <a:srgbClr val="ff0000"/>
                </a:solidFill>
                <a:latin typeface="KoPub돋움체 Light"/>
                <a:ea typeface="KoPub돋움체 Light"/>
                <a:cs typeface="+mn-cs"/>
              </a:rPr>
              <a:t>💬</a:t>
            </a:r>
            <a:r>
              <a:rPr lang="ko-KR" altLang="en-US" sz="1200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 </a:t>
            </a:r>
            <a:r>
              <a:rPr lang="ko-KR" altLang="en-US" sz="1200" b="1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정의</a:t>
            </a:r>
            <a:endParaRPr lang="ko-KR" altLang="en-US" sz="1200" b="1">
              <a:solidFill>
                <a:schemeClr val="dk1"/>
              </a:solidFill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 b="1">
                <a:solidFill>
                  <a:schemeClr val="dk1"/>
                </a:solidFill>
                <a:latin typeface="KoPub돋움체 Light"/>
                <a:ea typeface="KoPub돋움체 Light"/>
                <a:cs typeface="+mn-cs"/>
              </a:rPr>
              <a:t> </a:t>
            </a: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◾ 소프트웨어 개별 모듈 또는 함수가 올바르게 작동하는지 검증하는 테스트</a:t>
            </a: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◾ 개별 기능별로 독립적으로 실행</a:t>
            </a: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en-US" altLang="en-US" sz="1200" b="1">
                <a:solidFill>
                  <a:srgbClr val="ff0000"/>
                </a:solidFill>
                <a:latin typeface="KoPub돋움체 Light"/>
                <a:ea typeface="KoPub돋움체 Light"/>
                <a:cs typeface="+mn-cs"/>
              </a:rPr>
              <a:t>🚩</a:t>
            </a:r>
            <a:r>
              <a:rPr lang="ko-KR" altLang="en-US" sz="1200" b="1">
                <a:latin typeface="KoPub돋움체 Light"/>
                <a:ea typeface="KoPub돋움체 Light"/>
                <a:cs typeface="+mn-cs"/>
              </a:rPr>
              <a:t> 테스트 목적</a:t>
            </a:r>
            <a:endParaRPr lang="ko-KR" altLang="en-US" sz="1200" b="1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</a:t>
            </a:r>
            <a:r>
              <a:rPr lang="ko-KR" altLang="ko-KR" sz="1200">
                <a:latin typeface="KoPub돋움체 Light"/>
                <a:ea typeface="KoPub돋움체 Light"/>
                <a:cs typeface="+mn-cs"/>
              </a:rPr>
              <a:t>◾</a:t>
            </a:r>
            <a:r>
              <a:rPr lang="en-US" altLang="ko-KR" sz="1200">
                <a:latin typeface="KoPub돋움체 Light"/>
                <a:ea typeface="KoPub돋움체 Light"/>
                <a:cs typeface="+mn-cs"/>
              </a:rPr>
              <a:t> </a:t>
            </a: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각 기능별 페이지가 항상 렌더링되는지 검증</a:t>
            </a: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◾ 입력 흐름이 올바르게 작동하는지 검증</a:t>
            </a: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◾ 서버와 통신이 제대로 이루어지는지 검증</a:t>
            </a: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◾ 서버에서 보낸 메시지 출력과 리다이렉션이 이루어지는지 검증</a:t>
            </a: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 b="1">
                <a:solidFill>
                  <a:srgbClr val="ff0000"/>
                </a:solidFill>
                <a:latin typeface="KoPub돋움체 Light"/>
                <a:ea typeface="KoPub돋움체 Light"/>
                <a:cs typeface="+mn-cs"/>
              </a:rPr>
              <a:t>🏳</a:t>
            </a:r>
            <a:r>
              <a:rPr lang="ko-KR" altLang="en-US" sz="1200" b="1">
                <a:latin typeface="KoPub돋움체 Light"/>
                <a:ea typeface="KoPub돋움체 Light"/>
                <a:cs typeface="+mn-cs"/>
              </a:rPr>
              <a:t> 주요 테스트 시나리오 예시</a:t>
            </a:r>
            <a:endParaRPr lang="ko-KR" altLang="en-US" sz="1200" b="1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◾ 메인 페이지 출력</a:t>
            </a: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 → 사용자가 웹사이트 </a:t>
            </a:r>
            <a:r>
              <a:rPr lang="en-US" altLang="ko-KR" sz="1200">
                <a:latin typeface="KoPub돋움체 Light"/>
                <a:ea typeface="KoPub돋움체 Light"/>
                <a:cs typeface="+mn-cs"/>
              </a:rPr>
              <a:t>URL</a:t>
            </a: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을 입력했을 때 메인 페이지가 정상적으로 렌더링되는지 확인</a:t>
            </a: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◾회원가입 테스트</a:t>
            </a: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 → 비밀번호 입력 확인</a:t>
            </a:r>
            <a:r>
              <a:rPr lang="en-US" altLang="ko-KR" sz="1200">
                <a:latin typeface="KoPub돋움체 Light"/>
                <a:ea typeface="KoPub돋움체 Light"/>
                <a:cs typeface="+mn-cs"/>
              </a:rPr>
              <a:t>,</a:t>
            </a: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필수입력 정보 입력 후 회원가입이 정상적으로 처리되는지 확인</a:t>
            </a: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◾ 로그인 테스트</a:t>
            </a: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 → 이메일과 비밀번호를 입력하고 로그인 버튼 클릭 시</a:t>
            </a:r>
            <a:r>
              <a:rPr lang="en-US" altLang="ko-KR" sz="1200">
                <a:latin typeface="KoPub돋움체 Light"/>
                <a:ea typeface="KoPub돋움체 Light"/>
                <a:cs typeface="+mn-cs"/>
              </a:rPr>
              <a:t>,</a:t>
            </a: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성공 메시지와 함께 로그인 상태로 홈으로 이동하는지 확인</a:t>
            </a: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◾ 사진 업로드 테스트</a:t>
            </a: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 → 사진을 업로드하여 사진의 내용을 판별하는지 확인 </a:t>
            </a:r>
            <a:endParaRPr lang="ko-KR" altLang="en-US" sz="1200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15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/>
          </a:solidFill>
        </p:spPr>
        <p:txBody>
          <a:bodyPr vert="horz" wrap="square" lIns="91424" tIns="91424" rIns="91424" bIns="91424" anchor="t" anchorCtr="0">
            <a:noAutofit/>
          </a:bodyPr>
          <a:lstStyle/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kumimoji="0" lang="en-US" altLang="ko-KR" sz="1600" b="1" i="0" u="none" strike="noStrike" kern="1200" cap="none" spc="0" normalizeH="0" baseline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7.</a:t>
            </a:r>
            <a:r>
              <a:rPr kumimoji="0" lang="ko-KR" altLang="en-US" sz="1600" b="1" i="0" u="none" strike="noStrike" kern="1200" cap="none" spc="0" normalizeH="0" baseline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 단위 테스트</a:t>
            </a:r>
            <a:endParaRPr kumimoji="0" lang="ko-KR" altLang="en-US" sz="1600" b="1" i="0" u="none" strike="noStrike" kern="1200" cap="none" spc="0" normalizeH="0" baseline="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480703" y="3205208"/>
            <a:ext cx="4276248" cy="2885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en-US" altLang="en-US" sz="1300" b="1">
              <a:solidFill>
                <a:srgbClr val="ff0000"/>
              </a:solidFill>
              <a:latin typeface="KoPub돋움체 Light"/>
              <a:ea typeface="KoPub돋움체 Light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" name="표 109"/>
          <p:cNvGraphicFramePr/>
          <p:nvPr/>
        </p:nvGraphicFramePr>
        <p:xfrm>
          <a:off x="370790" y="463303"/>
          <a:ext cx="8399460" cy="4457700"/>
        </p:xfrm>
        <a:graphic>
          <a:graphicData uri="http://schemas.openxmlformats.org/drawingml/2006/table">
            <a:tbl>
              <a:tblPr firstRow="1" bandRow="1"/>
              <a:tblGrid>
                <a:gridCol w="481807"/>
                <a:gridCol w="956331"/>
                <a:gridCol w="1180970"/>
                <a:gridCol w="2573655"/>
                <a:gridCol w="592455"/>
                <a:gridCol w="1668780"/>
                <a:gridCol w="423448"/>
                <a:gridCol w="522014"/>
              </a:tblGrid>
              <a:tr h="204271"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en-US" altLang="ko-KR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ID</a:t>
                      </a:r>
                      <a:endParaRPr lang="ko-KR" altLang="en-US"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요구사항</a:t>
                      </a:r>
                      <a:endParaRPr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ko-KR" altLang="en-US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경로</a:t>
                      </a:r>
                      <a:endParaRPr lang="ko-KR" altLang="en-US"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ko-KR" altLang="en-US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내용</a:t>
                      </a:r>
                      <a:endParaRPr lang="ko-KR" altLang="en-US"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ko-KR" altLang="en-US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사전조건</a:t>
                      </a:r>
                      <a:endParaRPr lang="ko-KR" altLang="en-US"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ko-KR" altLang="en-US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테스트 데이터</a:t>
                      </a:r>
                      <a:endParaRPr lang="ko-KR" altLang="en-US"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ko-KR" altLang="en-US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결과</a:t>
                      </a:r>
                      <a:endParaRPr lang="ko-KR" altLang="en-US"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ko-KR" altLang="en-US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수행</a:t>
                      </a:r>
                      <a:r>
                        <a:rPr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자</a:t>
                      </a:r>
                      <a:endParaRPr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</a:tr>
              <a:tr h="195615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T1010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회원가입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/member/signup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회원가입 정보 저장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자동 로그인 확인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없음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ID: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aaaa / 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암호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: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1111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  <a:tr h="637049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T1011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회원가입 실패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/member/signup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비밀번호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1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과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2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불일치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이미 회원이거나 탈퇴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1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년 미만 계정으로 시도한 경우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형식 오류 이메일로 시도한 경우 회원가입 실패 확인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없음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ID: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aaaa / 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암호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1: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1111 / 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암호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2: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1112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(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비밀번호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1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과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2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불일치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)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ID: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bbbb (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이미 존재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)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ID: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cccc (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탈퇴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1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년 미만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)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email: abcdef.com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  <a:tr h="195615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T1020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/member/login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 성공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헤더에 사용자 이름 표시 확인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없음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ID: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aaaa / 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암호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: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1111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  <a:tr h="308138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T1021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 실패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/member/login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미등록 계정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비밀번호 오류일 경우 로그인 실패 확인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오류 메시지 확인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없음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ID: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aaaa / 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암호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: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2222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ID: dddd (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미등록 계정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)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  <a:tr h="195615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T1022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로그아웃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/member/logout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로그아웃 성공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ID: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aaaa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  <a:tr h="195615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T1030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회원정보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/member/mypage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로그인한 회원 정보 확인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ID: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aaaa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  <a:tr h="195615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T1040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회원정보 수정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/member/mypage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회원정보 수정 내용 확인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수정일시 변경 확인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ID: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aaaa / 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암호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: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1111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  <a:tr h="524527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T1041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회원정보 수정 실패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/member/mypage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회원정보 변경사항 없음 확인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ID: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aaaa / 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암호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1: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1111 / 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암호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2: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1112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(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비밀번호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1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과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2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불일치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)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생년월일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신장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체중 돌아가며 하나씩 미입력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  <a:tr h="308138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T1050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회원탈퇴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/member/withdrawal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회원탈퇴처리 확인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재가입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로그인 시도 실패 확인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알림칭에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“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예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”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클릭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회원가입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로그인 시도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  <a:tr h="195615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T1051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회원탈퇴 취소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/member/withdrawal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회원탈퇴 취소 처리 알림창 확인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알림칭에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“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아니오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”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클릭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  <a:tr h="195615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T1060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회원목록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/member/list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등록된 회원목록 확인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관리자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회원정보에서 회원목록 버튼 표시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  <a:tr h="195615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T1070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메인 화면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메인 화면 구성요소 확인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없음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-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  <a:tr h="195615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T1080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이용약관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/terms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이용약관 조회 확인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없음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-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</a:tr>
              <a:tr h="308138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T1090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문의하기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/inquiry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문의하기 성공 확인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이메일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등록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-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15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/>
          </a:solidFill>
        </p:spPr>
        <p:txBody>
          <a:bodyPr vert="horz" wrap="square" lIns="91424" tIns="91424" rIns="91424" bIns="91424" anchor="t" anchorCtr="0">
            <a:noAutofit/>
          </a:bodyPr>
          <a:lstStyle/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kumimoji="0" lang="en-US" altLang="ko-KR" sz="1600" b="1" i="0" u="none" strike="noStrike" kern="1200" cap="none" spc="0" normalizeH="0" baseline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7.</a:t>
            </a:r>
            <a:r>
              <a:rPr kumimoji="0" lang="ko-KR" altLang="en-US" sz="1600" b="1" i="0" u="none" strike="noStrike" kern="1200" cap="none" spc="0" normalizeH="0" baseline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 단위 테스트 </a:t>
            </a:r>
            <a:r>
              <a:rPr kumimoji="0" lang="en-US" altLang="ko-KR" sz="1200" b="1" i="0" u="none" strike="noStrike" kern="1200" cap="none" spc="0" normalizeH="0" baseline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(1/2)</a:t>
            </a:r>
            <a:endParaRPr kumimoji="0" lang="en-US" altLang="ko-KR" sz="1200" b="1" i="0" u="none" strike="noStrike" kern="1200" cap="none" spc="0" normalizeH="0" baseline="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16" name="Google Shape;106;p20"/>
          <p:cNvSpPr txBox="1">
            <a:spLocks noGrp="1"/>
          </p:cNvSpPr>
          <p:nvPr>
            <p:ph type="sldNum" idx="12"/>
          </p:nvPr>
        </p:nvSpPr>
        <p:spPr>
          <a:xfrm>
            <a:off x="8595300" y="4851623"/>
            <a:ext cx="548700" cy="393600"/>
          </a:xfrm>
          <a:prstGeom prst="rect">
            <a:avLst/>
          </a:prstGeom>
        </p:spPr>
        <p:txBody>
          <a:bodyPr vert="horz"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>
                <a:latin typeface="KoPub돋움체 Medium"/>
                <a:ea typeface="KoPub돋움체 Medium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58</a:t>
            </a:fld>
            <a:endParaRPr lang="en-US" altLang="ko">
              <a:latin typeface="KoPub돋움체 Medium"/>
              <a:ea typeface="KoPub돋움체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" name="표 109"/>
          <p:cNvGraphicFramePr/>
          <p:nvPr/>
        </p:nvGraphicFramePr>
        <p:xfrm>
          <a:off x="375370" y="477396"/>
          <a:ext cx="8393259" cy="4324350"/>
        </p:xfrm>
        <a:graphic>
          <a:graphicData uri="http://schemas.openxmlformats.org/drawingml/2006/table">
            <a:tbl>
              <a:tblPr firstRow="1" bandRow="1"/>
              <a:tblGrid>
                <a:gridCol w="478155"/>
                <a:gridCol w="956331"/>
                <a:gridCol w="1180970"/>
                <a:gridCol w="2573655"/>
                <a:gridCol w="589906"/>
                <a:gridCol w="1668780"/>
                <a:gridCol w="423448"/>
                <a:gridCol w="522014"/>
              </a:tblGrid>
              <a:tr h="0"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en-US" altLang="ko-KR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ID</a:t>
                      </a:r>
                      <a:endParaRPr lang="ko-KR" altLang="en-US"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요구사항</a:t>
                      </a:r>
                      <a:endParaRPr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ko-KR" altLang="en-US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경로</a:t>
                      </a:r>
                      <a:endParaRPr lang="ko-KR" altLang="en-US"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ko-KR" altLang="en-US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내용</a:t>
                      </a:r>
                      <a:endParaRPr lang="ko-KR" altLang="en-US"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ko-KR" altLang="en-US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사전조건</a:t>
                      </a:r>
                      <a:endParaRPr lang="ko-KR" altLang="en-US"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ko-KR" altLang="en-US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테스트 데이터</a:t>
                      </a:r>
                      <a:endParaRPr lang="ko-KR" altLang="en-US"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ko-KR" altLang="en-US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결과</a:t>
                      </a:r>
                      <a:endParaRPr lang="ko-KR" altLang="en-US"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ko-KR" altLang="en-US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수행</a:t>
                      </a:r>
                      <a:r>
                        <a:rPr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자</a:t>
                      </a:r>
                      <a:endParaRPr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</a:tr>
              <a:tr h="0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T1100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문의목록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/inquiry/list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회원이 문의한 목록 확인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관리자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문의하기에서 관리자 페이지 버튼 표시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</a:tr>
              <a:tr h="215265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T1110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문의조회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/inquiry/reply/{id}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문의목록에서 제목 클릭하면 개별 내용 조회 확인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관리자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en-US" altLang="ko-KR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-</a:t>
                      </a:r>
                      <a:endParaRPr kumimoji="0" lang="en-US" altLang="ko-KR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</a:tr>
              <a:tr h="0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T1120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문의답변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/inquiry/reply/{id}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문의에 답변 성공 확인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관리자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en-US" altLang="ko-KR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-</a:t>
                      </a:r>
                      <a:endParaRPr kumimoji="0" lang="en-US" altLang="ko-KR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</a:tr>
              <a:tr h="0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T1130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골지사항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/notice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등록한 공지사항 게재 확인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없음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-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</a:tr>
              <a:tr h="0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T1140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공지사항 조회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/notice/{id}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공지사항의 내용 조회 확인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없음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-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</a:tr>
              <a:tr h="0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T1150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공지사항 작성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/notice_write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공지사항 작성 성공 확인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관리자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공지사항에서 글쓰기 버튼 표시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</a:tr>
              <a:tr h="130043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T2010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음식 사진 업로드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/photo/upload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음식 사진 업로드 확인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곱창전골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깍두기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양념치킨 등의 이미지 업로드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김유진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</a:tr>
              <a:tr h="0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T2011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다시 분석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/photo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사진 분석 초기 화면으로 돌아가기 확인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-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김유진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</a:tr>
              <a:tr h="173878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T2012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음식 저장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/photo/save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분석 결과 나온 음식의 이름과 영양 정보들을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DB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에 저장 확인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식사시간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(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아침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점심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저녁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)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모두 한번씩 선택하고 저장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식사시간을 선택하지 않고 저장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김유진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</a:tr>
              <a:tr h="0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T3010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정보 불러오기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/diet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페이지에서 자동으로 회원정보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오늘 날짜 불러오기 확인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en-US" altLang="ko-KR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ID: aaaa</a:t>
                      </a:r>
                      <a:endParaRPr kumimoji="0" lang="en-US" altLang="ko-KR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김도윤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</a:tr>
              <a:tr h="173878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T3020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추천 받기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/diet/recommend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사용자에게 맞는 오늘의 식단 추천 확인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en-US" altLang="ko-KR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회원의 기본 정보가 아닌</a:t>
                      </a:r>
                      <a:r>
                        <a:rPr kumimoji="0" lang="en-US" altLang="ko-KR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임의의 정보를 입력하여 추천 결과가 달라짐을 확인</a:t>
                      </a:r>
                      <a:r>
                        <a:rPr kumimoji="0" lang="en-US" altLang="ko-KR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.)</a:t>
                      </a:r>
                      <a:endParaRPr kumimoji="0" lang="en-US" altLang="ko-KR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김도윤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</a:tr>
              <a:tr h="0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T3021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식단 저장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/diet/save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식단 기록 저장 확인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-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김도윤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</a:tr>
              <a:tr h="0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T3100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기록 조회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/record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저장된 회원의 식단 기록 조회 확인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다른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ID(</a:t>
                      </a:r>
                      <a:r>
                        <a:rPr kumimoji="0" lang="en-US" altLang="ko-KR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bbbb)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 로그인하여 비교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김도윤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</a:tr>
              <a:tr h="221366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T4010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감정분석 식단추천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/emotion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감정을 유추할 수 있는 여러 개의 문장을 입력하여 확인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“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정말 불쾌해서 눈물이 났어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”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“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누군가 내게 나쁜 말을 해서 화가 났어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”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“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오늘 축구 이겨서 환호성을 질렀어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”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kumimoji="0" lang="ko-KR" altLang="en-US" sz="800" b="0" i="0" u="none" strike="noStrike" kern="0" cap="none" spc="0" normalizeH="0" baseline="0">
                          <a:solidFill>
                            <a:srgbClr val="000000"/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이동훈</a:t>
                      </a:r>
                      <a:endParaRPr kumimoji="0" lang="ko-KR" altLang="en-US" sz="800" b="0" i="0" u="none" strike="noStrike" kern="0" cap="none" spc="0" normalizeH="0" baseline="0">
                        <a:solidFill>
                          <a:srgbClr val="000000"/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14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/>
          </a:solidFill>
        </p:spPr>
        <p:txBody>
          <a:bodyPr vert="horz" wrap="square" lIns="91424" tIns="91424" rIns="91424" bIns="91424" anchor="t" anchorCtr="0">
            <a:noAutofit/>
          </a:bodyPr>
          <a:lstStyle/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kumimoji="0" lang="en-US" altLang="ko-KR" sz="1600" b="1" i="0" u="none" strike="noStrike" kern="1200" cap="none" spc="0" normalizeH="0" baseline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7.</a:t>
            </a:r>
            <a:r>
              <a:rPr kumimoji="0" lang="ko-KR" altLang="en-US" sz="1600" b="1" i="0" u="none" strike="noStrike" kern="1200" cap="none" spc="0" normalizeH="0" baseline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 단위 테스트 </a:t>
            </a:r>
            <a:r>
              <a:rPr kumimoji="0" lang="en-US" altLang="ko-KR" sz="1200" b="1" i="0" u="none" strike="noStrike" kern="1200" cap="none" spc="0" normalizeH="0" baseline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(2/2)</a:t>
            </a:r>
            <a:endParaRPr kumimoji="0" lang="en-US" altLang="ko-KR" sz="1200" b="1" i="0" u="none" strike="noStrike" kern="1200" cap="none" spc="0" normalizeH="0" baseline="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15" name="Google Shape;106;p20"/>
          <p:cNvSpPr txBox="1">
            <a:spLocks noGrp="1"/>
          </p:cNvSpPr>
          <p:nvPr>
            <p:ph type="sldNum" idx="12"/>
          </p:nvPr>
        </p:nvSpPr>
        <p:spPr>
          <a:xfrm>
            <a:off x="8595300" y="4851623"/>
            <a:ext cx="548700" cy="393600"/>
          </a:xfrm>
          <a:prstGeom prst="rect">
            <a:avLst/>
          </a:prstGeom>
        </p:spPr>
        <p:txBody>
          <a:bodyPr vert="horz"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>
                <a:latin typeface="KoPub돋움체 Medium"/>
                <a:ea typeface="KoPub돋움체 Medium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59</a:t>
            </a:fld>
            <a:endParaRPr lang="en-US" altLang="ko">
              <a:latin typeface="KoPub돋움체 Medium"/>
              <a:ea typeface="KoPub돋움체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>
                <a:latin typeface="KoPub돋움체 Medium"/>
                <a:ea typeface="KoPub돋움체 Medium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60</a:t>
            </a:fld>
            <a:endParaRPr lang="en-US" altLang="ko">
              <a:latin typeface="KoPub돋움체 Medium"/>
              <a:ea typeface="KoPub돋움체 Medium"/>
            </a:endParaRPr>
          </a:p>
        </p:txBody>
      </p:sp>
      <p:sp>
        <p:nvSpPr>
          <p:cNvPr id="111" name="TextBox 110"/>
          <p:cNvSpPr txBox="1"/>
          <p:nvPr/>
        </p:nvSpPr>
        <p:spPr>
          <a:xfrm flipH="1">
            <a:off x="444142" y="703739"/>
            <a:ext cx="724750" cy="723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12" name="TextBox 111"/>
          <p:cNvSpPr txBox="1"/>
          <p:nvPr/>
        </p:nvSpPr>
        <p:spPr>
          <a:xfrm>
            <a:off x="484572" y="592765"/>
            <a:ext cx="5683818" cy="39963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1600" b="1">
                <a:solidFill>
                  <a:srgbClr val="779014"/>
                </a:solidFill>
                <a:latin typeface="KoPub돋움체 Light"/>
                <a:ea typeface="KoPub돋움체 Light"/>
                <a:cs typeface="+mn-cs"/>
              </a:rPr>
              <a:t>🔔</a:t>
            </a:r>
            <a:r>
              <a:rPr lang="ko-KR" altLang="en-US" sz="1600" b="1">
                <a:latin typeface="KoPub돋움체 Light"/>
                <a:ea typeface="KoPub돋움체 Light"/>
                <a:cs typeface="+mn-cs"/>
              </a:rPr>
              <a:t> 통합 테스트 개요</a:t>
            </a:r>
            <a:endParaRPr lang="ko-KR" altLang="en-US" sz="1600" b="1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en-US" altLang="en-US" sz="1200">
                <a:solidFill>
                  <a:srgbClr val="ff0000"/>
                </a:solidFill>
                <a:latin typeface="KoPub돋움체 Light"/>
                <a:ea typeface="KoPub돋움체 Light"/>
                <a:cs typeface="+mn-cs"/>
              </a:rPr>
              <a:t>💬</a:t>
            </a: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</a:t>
            </a:r>
            <a:r>
              <a:rPr lang="ko-KR" altLang="en-US" sz="1200" b="1">
                <a:latin typeface="KoPub돋움체 Light"/>
                <a:ea typeface="KoPub돋움체 Light"/>
                <a:cs typeface="+mn-cs"/>
              </a:rPr>
              <a:t>정의</a:t>
            </a:r>
            <a:endParaRPr lang="ko-KR" altLang="en-US" sz="1200" b="1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</a:t>
            </a:r>
            <a:r>
              <a:rPr lang="ko-KR" altLang="ko-KR" sz="1200">
                <a:latin typeface="KoPub돋움체 Light"/>
                <a:ea typeface="KoPub돋움체 Light"/>
                <a:cs typeface="+mn-cs"/>
              </a:rPr>
              <a:t>◾</a:t>
            </a: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전체 시스템이 올바르게 작동하는지 확인하는 테스트 단계</a:t>
            </a: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</a:t>
            </a:r>
            <a:r>
              <a:rPr lang="ko-KR" altLang="ko-KR" sz="1200">
                <a:latin typeface="KoPub돋움체 Light"/>
                <a:ea typeface="KoPub돋움체 Light"/>
                <a:cs typeface="+mn-cs"/>
              </a:rPr>
              <a:t>◾</a:t>
            </a: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개별적으로 테스트된 모듈</a:t>
            </a:r>
            <a:r>
              <a:rPr lang="en-US" altLang="ko-KR" sz="1200">
                <a:latin typeface="KoPub돋움체 Light"/>
                <a:ea typeface="KoPub돋움체 Light"/>
                <a:cs typeface="+mn-cs"/>
              </a:rPr>
              <a:t>(</a:t>
            </a: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컴포넌트</a:t>
            </a:r>
            <a:r>
              <a:rPr lang="en-US" altLang="ko-KR" sz="1200">
                <a:latin typeface="KoPub돋움체 Light"/>
                <a:ea typeface="KoPub돋움체 Light"/>
                <a:cs typeface="+mn-cs"/>
              </a:rPr>
              <a:t>)</a:t>
            </a: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들을 결합하여 실행</a:t>
            </a: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endParaRPr lang="en-US" altLang="en-US" sz="1200" b="1">
              <a:solidFill>
                <a:srgbClr val="ff0000"/>
              </a:solidFill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en-US" altLang="en-US" sz="1200" b="1">
                <a:solidFill>
                  <a:srgbClr val="ff0000"/>
                </a:solidFill>
                <a:latin typeface="KoPub돋움체 Light"/>
                <a:ea typeface="KoPub돋움체 Light"/>
                <a:cs typeface="+mn-cs"/>
              </a:rPr>
              <a:t>🚩</a:t>
            </a:r>
            <a:r>
              <a:rPr lang="ko-KR" altLang="en-US" sz="1200" b="1">
                <a:latin typeface="KoPub돋움체 Light"/>
                <a:ea typeface="KoPub돋움체 Light"/>
                <a:cs typeface="+mn-cs"/>
              </a:rPr>
              <a:t> 테스트 목적</a:t>
            </a:r>
            <a:endParaRPr lang="ko-KR" altLang="en-US" sz="1200" b="1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</a:t>
            </a:r>
            <a:r>
              <a:rPr lang="ko-KR" altLang="ko-KR" sz="1200">
                <a:latin typeface="KoPub돋움체 Light"/>
                <a:ea typeface="KoPub돋움체 Light"/>
                <a:cs typeface="+mn-cs"/>
              </a:rPr>
              <a:t>◾</a:t>
            </a:r>
            <a:r>
              <a:rPr lang="en-US" altLang="ko-KR" sz="1200">
                <a:latin typeface="KoPub돋움체 Light"/>
                <a:ea typeface="KoPub돋움체 Light"/>
                <a:cs typeface="+mn-cs"/>
              </a:rPr>
              <a:t> </a:t>
            </a: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개별 단위 테스트에서 검증된 모듈들이 함께 동작할 때 발생할 수 있는 오류를 발견</a:t>
            </a: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◾ 서로 다른 모듈 간의 데이터 교환</a:t>
            </a:r>
            <a:r>
              <a:rPr lang="en-US" altLang="ko-KR" sz="1200">
                <a:latin typeface="KoPub돋움체 Light"/>
                <a:ea typeface="KoPub돋움체 Light"/>
                <a:cs typeface="+mn-cs"/>
              </a:rPr>
              <a:t>,</a:t>
            </a: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200">
                <a:latin typeface="KoPub돋움체 Light"/>
                <a:ea typeface="KoPub돋움체 Light"/>
                <a:cs typeface="+mn-cs"/>
              </a:rPr>
              <a:t>API </a:t>
            </a: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호출</a:t>
            </a:r>
            <a:r>
              <a:rPr lang="en-US" altLang="ko-KR" sz="1200">
                <a:latin typeface="KoPub돋움체 Light"/>
                <a:ea typeface="KoPub돋움체 Light"/>
                <a:cs typeface="+mn-cs"/>
              </a:rPr>
              <a:t>,</a:t>
            </a: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의존성 주입이 정상적으로 수행되는지 검증</a:t>
            </a: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◾ </a:t>
            </a:r>
            <a:r>
              <a:rPr lang="en-US" altLang="ko-KR" sz="1200">
                <a:latin typeface="KoPub돋움체 Light"/>
                <a:ea typeface="KoPub돋움체 Light"/>
                <a:cs typeface="+mn-cs"/>
              </a:rPr>
              <a:t>DB, </a:t>
            </a: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외부 </a:t>
            </a:r>
            <a:r>
              <a:rPr lang="en-US" altLang="ko-KR" sz="1200">
                <a:latin typeface="KoPub돋움체 Light"/>
                <a:ea typeface="KoPub돋움체 Light"/>
                <a:cs typeface="+mn-cs"/>
              </a:rPr>
              <a:t>API, </a:t>
            </a: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서드파티 서비스 등과의 연동이 문제없이 작동하는지 확인</a:t>
            </a: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◾ 전체 시스템이 요구사항을 충족하는지 검증하여 예상치 못한 문제를 조기에 발견</a:t>
            </a: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 b="1">
                <a:solidFill>
                  <a:srgbClr val="ff0000"/>
                </a:solidFill>
                <a:latin typeface="KoPub돋움체 Light"/>
                <a:ea typeface="KoPub돋움체 Light"/>
                <a:cs typeface="+mn-cs"/>
              </a:rPr>
              <a:t>🏳</a:t>
            </a:r>
            <a:r>
              <a:rPr lang="ko-KR" altLang="en-US" sz="1200" b="1">
                <a:latin typeface="KoPub돋움체 Light"/>
                <a:ea typeface="KoPub돋움체 Light"/>
                <a:cs typeface="+mn-cs"/>
              </a:rPr>
              <a:t> 주요 테스트 시나리오 예시</a:t>
            </a:r>
            <a:endParaRPr lang="ko-KR" altLang="en-US" sz="1200" b="1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◾ 모듈 간 연결 오류 조기 발견</a:t>
            </a: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 → 프론트와 백엔드 간 데이터 흐름 문제를 빠르게 찾아냄</a:t>
            </a: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◾전체 시스템의 동작 보장</a:t>
            </a: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 → 각 기능이 단독이 아닌</a:t>
            </a:r>
            <a:r>
              <a:rPr lang="en-US" altLang="ko-KR" sz="1200">
                <a:latin typeface="KoPub돋움체 Light"/>
                <a:ea typeface="KoPub돋움체 Light"/>
                <a:cs typeface="+mn-cs"/>
              </a:rPr>
              <a:t>,</a:t>
            </a: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함께 있을 때도 올바르게 작동하는지 확인</a:t>
            </a: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◾ 실제 사용자 경험 시뮬레이션</a:t>
            </a:r>
            <a:endParaRPr lang="ko-KR" altLang="en-US" sz="1200">
              <a:latin typeface="KoPub돋움체 Light"/>
              <a:ea typeface="KoPub돋움체 Light"/>
              <a:cs typeface="+mn-cs"/>
            </a:endParaRPr>
          </a:p>
          <a:p>
            <a:pPr>
              <a:defRPr/>
            </a:pP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 → 버튼 클릭</a:t>
            </a:r>
            <a:r>
              <a:rPr lang="en-US" altLang="ko-KR" sz="1200">
                <a:latin typeface="KoPub돋움체 Light"/>
                <a:ea typeface="KoPub돋움체 Light"/>
                <a:cs typeface="+mn-cs"/>
              </a:rPr>
              <a:t>,</a:t>
            </a: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</a:t>
            </a:r>
            <a:r>
              <a:rPr lang="en-US" altLang="ko-KR" sz="1200">
                <a:latin typeface="KoPub돋움체 Light"/>
                <a:ea typeface="KoPub돋움체 Light"/>
                <a:cs typeface="+mn-cs"/>
              </a:rPr>
              <a:t>API </a:t>
            </a: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요청</a:t>
            </a:r>
            <a:r>
              <a:rPr lang="en-US" altLang="ko-KR" sz="1200">
                <a:latin typeface="KoPub돋움체 Light"/>
                <a:ea typeface="KoPub돋움체 Light"/>
                <a:cs typeface="+mn-cs"/>
              </a:rPr>
              <a:t>,</a:t>
            </a:r>
            <a:r>
              <a:rPr lang="ko-KR" altLang="en-US" sz="1200">
                <a:latin typeface="KoPub돋움체 Light"/>
                <a:ea typeface="KoPub돋움체 Light"/>
                <a:cs typeface="+mn-cs"/>
              </a:rPr>
              <a:t> 화면 이동 등 실제 사용자 흐름을 기반으로 테스트</a:t>
            </a:r>
            <a:endParaRPr lang="ko-KR" altLang="en-US" sz="1200"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115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/>
          </a:solidFill>
        </p:spPr>
        <p:txBody>
          <a:bodyPr vert="horz" wrap="square" lIns="91424" tIns="91424" rIns="91424" bIns="91424" anchor="t" anchorCtr="0">
            <a:noAutofit/>
          </a:bodyPr>
          <a:lstStyle/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kumimoji="0" lang="en-US" altLang="ko-KR" sz="1600" b="1" i="0" u="none" strike="noStrike" kern="1200" cap="none" spc="0" normalizeH="0" baseline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8.</a:t>
            </a:r>
            <a:r>
              <a:rPr kumimoji="0" lang="ko-KR" altLang="en-US" sz="1600" b="1" i="0" u="none" strike="noStrike" kern="1200" cap="none" spc="0" normalizeH="0" baseline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 통합 테스트</a:t>
            </a:r>
            <a:endParaRPr kumimoji="0" lang="ko-KR" altLang="en-US" sz="1600" b="1" i="0" u="none" strike="noStrike" kern="1200" cap="none" spc="0" normalizeH="0" baseline="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>
                <a:latin typeface="KoPub돋움체 Light"/>
                <a:ea typeface="KoPub돋움체 Light"/>
                <a:cs typeface="+mn-cs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61</a:t>
            </a:fld>
            <a:endParaRPr lang="en-US" altLang="ko">
              <a:latin typeface="KoPub돋움체 Light"/>
              <a:ea typeface="KoPub돋움체 Light"/>
              <a:cs typeface="+mn-cs"/>
            </a:endParaRPr>
          </a:p>
        </p:txBody>
      </p:sp>
      <p:graphicFrame>
        <p:nvGraphicFramePr>
          <p:cNvPr id="110" name="표 109"/>
          <p:cNvGraphicFramePr/>
          <p:nvPr/>
        </p:nvGraphicFramePr>
        <p:xfrm>
          <a:off x="370790" y="463302"/>
          <a:ext cx="8416018" cy="2602230"/>
        </p:xfrm>
        <a:graphic>
          <a:graphicData uri="http://schemas.openxmlformats.org/drawingml/2006/table">
            <a:tbl>
              <a:tblPr firstRow="1" bandRow="1"/>
              <a:tblGrid>
                <a:gridCol w="580710"/>
                <a:gridCol w="2391847"/>
                <a:gridCol w="601980"/>
                <a:gridCol w="1531638"/>
                <a:gridCol w="2373630"/>
                <a:gridCol w="414199"/>
                <a:gridCol w="522014"/>
              </a:tblGrid>
              <a:tr h="123751"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en-US" altLang="ko-KR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ID</a:t>
                      </a:r>
                      <a:endParaRPr lang="ko-KR" altLang="en-US"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ko-KR" altLang="en-US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테스트 케이스</a:t>
                      </a:r>
                      <a:endParaRPr lang="ko-KR" altLang="en-US"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ko-KR" altLang="en-US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사전조건</a:t>
                      </a:r>
                      <a:endParaRPr lang="ko-KR" altLang="en-US"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ko-KR" altLang="en-US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테스트 데이터</a:t>
                      </a:r>
                      <a:endParaRPr lang="ko-KR" altLang="en-US"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ko-KR" altLang="en-US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예상 결과</a:t>
                      </a:r>
                      <a:endParaRPr lang="ko-KR" altLang="en-US"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ko-KR" altLang="en-US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결과</a:t>
                      </a:r>
                      <a:endParaRPr lang="ko-KR" altLang="en-US"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ko-KR" altLang="en-US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수행</a:t>
                      </a:r>
                      <a:r>
                        <a:rPr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자</a:t>
                      </a:r>
                      <a:endParaRPr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</a:tr>
              <a:tr h="249600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H1023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로그인이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필요한 메뉴 접속 시도 시 로그인 페이지로 자동 이동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비로그인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사진 분석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추천 식단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기록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회원정보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문의하기 페이지 클릭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 화면으로 자동 이동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로그인 화면에서 초록 글씨로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“로그인을 하셔야 서비스를 이용하실 수 있습니다.”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메시지 출력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  <a:tr h="249600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H1024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/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로그아웃 후 상단 왼쪽에 환영 메시지 변경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ID: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aaaa / 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암호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: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1111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“MealMind에 오신 것을 환영합니다.”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메시지가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“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가가가님 환영합니다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.”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 메시지 변경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로그아웃하면 다시 이전 메시지 출력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  <a:tr h="249600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H1025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 후 세션 유지 여부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상동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상단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메뉴는 모든 페이지에서 나옴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로그아웃 전까지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또는 세션이 자동 종료되기 전까지는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H1023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의 변경된 메시지 계속 출력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  <a:tr h="186676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H1052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회원탈퇴 후 회원가입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없음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ID: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dddd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회원가입 화면에 빨간 글씨로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“</a:t>
                      </a:r>
                      <a:r>
                        <a:rPr lang="ko-KR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탈퇴한 회원입니다. 새로운 계정으로 다시 가입해주세요.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”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메시지 출력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*1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  <a:tr h="186676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H1053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회원탈퇴 후 로그인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없음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상동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 화면에 빨간 글씨로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“</a:t>
                      </a:r>
                      <a:r>
                        <a:rPr lang="ko-KR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탈퇴한 회원입니다. 새로운 계정으로 다시 가입해주세요.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”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메시지 출력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  <a:tr h="186676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H1091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이메일 등록하지 않은 계정으로 문의하기 시도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이메일 미등록 계정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ID: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cccc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“등록된 이메일이 없습니다. 회원정보에서 이메일을 입력해주세요.”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알림 출력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*2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13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/>
          </a:solidFill>
        </p:spPr>
        <p:txBody>
          <a:bodyPr vert="horz" wrap="square" lIns="91424" tIns="91424" rIns="91424" bIns="91424" anchor="t" anchorCtr="0">
            <a:noAutofit/>
          </a:bodyPr>
          <a:lstStyle/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kumimoji="0" lang="en-US" altLang="ko-KR" sz="1600" b="1" i="0" u="none" strike="noStrike" kern="1200" cap="none" spc="0" normalizeH="0" baseline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8.</a:t>
            </a:r>
            <a:r>
              <a:rPr kumimoji="0" lang="ko-KR" altLang="en-US" sz="1600" b="1" i="0" u="none" strike="noStrike" kern="1200" cap="none" spc="0" normalizeH="0" baseline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 통합 테스트 </a:t>
            </a:r>
            <a:r>
              <a:rPr kumimoji="0" lang="en-US" altLang="ko-KR" sz="1200" b="1" i="0" u="none" strike="noStrike" kern="1200" cap="none" spc="0" normalizeH="0" baseline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(1/2)</a:t>
            </a:r>
            <a:endParaRPr kumimoji="0" lang="en-US" altLang="ko-KR" sz="1200" b="1" i="0" u="none" strike="noStrike" kern="1200" cap="none" spc="0" normalizeH="0" baseline="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  <p:graphicFrame>
        <p:nvGraphicFramePr>
          <p:cNvPr id="114" name="표 109"/>
          <p:cNvGraphicFramePr/>
          <p:nvPr/>
        </p:nvGraphicFramePr>
        <p:xfrm>
          <a:off x="370680" y="4139028"/>
          <a:ext cx="8419306" cy="655320"/>
        </p:xfrm>
        <a:graphic>
          <a:graphicData uri="http://schemas.openxmlformats.org/drawingml/2006/table">
            <a:tbl>
              <a:tblPr firstRow="1" bandRow="1"/>
              <a:tblGrid>
                <a:gridCol w="580546"/>
                <a:gridCol w="2396840"/>
                <a:gridCol w="601809"/>
                <a:gridCol w="1531205"/>
                <a:gridCol w="2372958"/>
                <a:gridCol w="414082"/>
                <a:gridCol w="521866"/>
              </a:tblGrid>
              <a:tr h="224790"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ko-KR" altLang="en-US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주석</a:t>
                      </a:r>
                      <a:endParaRPr lang="ko-KR" altLang="en-US"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ffceb0">
                        <a:alpha val="100000"/>
                      </a:srgbClr>
                    </a:solidFill>
                  </a:tcPr>
                </a:tc>
                <a:tc gridSpan="6"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ko-KR" altLang="en-US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내용</a:t>
                      </a:r>
                      <a:endParaRPr lang="ko-KR" altLang="en-US"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ffce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</a:tr>
              <a:tr h="215265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1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 gridSpan="6">
                  <a:txBody>
                    <a:bodyPr vert="horz" lIns="91440" tIns="45720" rIns="91440" bIns="45720" anchor="ctr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“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이미 등록된 사용자입니다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”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 메시지 출력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 정상 회원과 탈퇴 회원을 구분하지는 않으나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 회원가입이 불가능하게 한 목표는 달성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 hMerge="1">
                  <a:txBody>
                    <a:bodyPr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 hMerge="1">
                  <a:txBody>
                    <a:bodyPr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 hMerge="1">
                  <a:txBody>
                    <a:bodyPr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 hMerge="1">
                  <a:txBody>
                    <a:bodyPr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 hMerge="1">
                  <a:txBody>
                    <a:bodyPr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  <a:tr h="215265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2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 gridSpan="6">
                  <a:txBody>
                    <a:bodyPr vert="horz" lIns="91440" tIns="45720" rIns="91440" bIns="45720" anchor="ctr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아직 아무 메시지 안나옴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r>
                        <a:rPr lang="ko-KR" altLang="en-US" sz="800">
                          <a:latin typeface="KoPub돋움체 Light"/>
                          <a:ea typeface="KoPub돋움체 Light"/>
                          <a:cs typeface="+mn-cs"/>
                        </a:rPr>
                        <a:t> 목표는 달성</a:t>
                      </a:r>
                      <a:r>
                        <a:rPr lang="en-US" altLang="ko-KR" sz="800"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 hMerge="1">
                  <a:txBody>
                    <a:bodyPr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 hMerge="1">
                  <a:txBody>
                    <a:bodyPr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 hMerge="1">
                  <a:txBody>
                    <a:bodyPr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 hMerge="1">
                  <a:txBody>
                    <a:bodyPr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 hMerge="1">
                  <a:txBody>
                    <a:bodyPr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>
                <a:latin typeface="KoPub돋움체 Light"/>
                <a:ea typeface="KoPub돋움체 Light"/>
                <a:cs typeface="+mn-cs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62</a:t>
            </a:fld>
            <a:endParaRPr lang="en-US" altLang="ko">
              <a:latin typeface="KoPub돋움체 Light"/>
              <a:ea typeface="KoPub돋움체 Light"/>
              <a:cs typeface="+mn-cs"/>
            </a:endParaRPr>
          </a:p>
        </p:txBody>
      </p:sp>
      <p:graphicFrame>
        <p:nvGraphicFramePr>
          <p:cNvPr id="110" name="표 109"/>
          <p:cNvGraphicFramePr/>
          <p:nvPr/>
        </p:nvGraphicFramePr>
        <p:xfrm>
          <a:off x="370790" y="463302"/>
          <a:ext cx="8416018" cy="2272665"/>
        </p:xfrm>
        <a:graphic>
          <a:graphicData uri="http://schemas.openxmlformats.org/drawingml/2006/table">
            <a:tbl>
              <a:tblPr firstRow="1" bandRow="1"/>
              <a:tblGrid>
                <a:gridCol w="580710"/>
                <a:gridCol w="2391847"/>
                <a:gridCol w="601980"/>
                <a:gridCol w="1531638"/>
                <a:gridCol w="2373630"/>
                <a:gridCol w="414199"/>
                <a:gridCol w="522014"/>
              </a:tblGrid>
              <a:tr h="138964"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en-US" altLang="ko-KR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ID</a:t>
                      </a:r>
                      <a:endParaRPr lang="ko-KR" altLang="en-US"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ko-KR" altLang="en-US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테스트 케이스</a:t>
                      </a:r>
                      <a:endParaRPr lang="ko-KR" altLang="en-US"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ko-KR" altLang="en-US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사전조건</a:t>
                      </a:r>
                      <a:endParaRPr lang="ko-KR" altLang="en-US"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ko-KR" altLang="en-US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테스트 데이터</a:t>
                      </a:r>
                      <a:endParaRPr lang="ko-KR" altLang="en-US"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ko-KR" altLang="en-US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예상 결과</a:t>
                      </a:r>
                      <a:endParaRPr lang="ko-KR" altLang="en-US"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ko-KR" altLang="en-US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결과</a:t>
                      </a:r>
                      <a:endParaRPr lang="ko-KR" altLang="en-US"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ko-KR" altLang="en-US"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수행</a:t>
                      </a:r>
                      <a:r>
                        <a:rPr sz="9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자</a:t>
                      </a:r>
                      <a:endParaRPr sz="9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</a:tr>
              <a:tr h="209623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H2010b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사진 분석 시 복수의 사진 업로드하고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모든 사진을 한 번에 분석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피자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와플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햄버거 사진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모든 사진 업로드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판별 성공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  <a:tr h="280283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H2020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사진 분석 결과 발표를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DB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에 저장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이 데이터를 추천 식단 페이지에 표시하기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이 때 모든 식사의 총 열량 자동 계산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상동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추천 식단 페이지로 자동 이동하여 표시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총 열량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(kcal)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도 자동 계산하여 표시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  <a:tr h="453390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H3022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사진 분석 결과는 마지막 식사 시간의 다음 식사 시간만 추천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-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① 아침 식사의 분석 결과 없이 점심 식사의 분석 결과만 있을 경우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: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저녁 식사 추천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② ①과 같은 날의 마지막 분석 결과가 저녁 식사일 경우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: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다음날 아침 식사 추천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  <a:tr h="209623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H3023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추천받은 식단을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DB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에 저장하면 기록 페이지로 자동으로 넘어감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-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기록 저장 버튼을 누르면 기록 페이지로 이동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DB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에 저장된 일별 식단 정보 표시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  <a:tr h="339090"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H3024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DB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에 이미 점심 식사 추천 식단이 있는 상태에서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,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 같은 날 저녁 식사 추천 식단을 추가로 저장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로그인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-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DB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의 같은 날에 있는 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row</a:t>
                      </a: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에 저녁 식단 추천 데이터를 추가한다</a:t>
                      </a:r>
                      <a:r>
                        <a:rPr lang="en-US" altLang="ko-KR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.</a:t>
                      </a:r>
                      <a:endParaRPr lang="en-US" altLang="ko-KR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통과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>
                        <a:defRPr/>
                      </a:pPr>
                      <a:r>
                        <a:rPr lang="ko-KR" altLang="en-US" sz="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KoPub돋움체 Light"/>
                          <a:ea typeface="KoPub돋움체 Light"/>
                          <a:cs typeface="+mn-cs"/>
                        </a:rPr>
                        <a:t>박정환</a:t>
                      </a:r>
                      <a:endParaRPr lang="ko-KR" altLang="en-US" sz="8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KoPub돋움체 Light"/>
                        <a:ea typeface="KoPub돋움체 Light"/>
                        <a:cs typeface="+mn-cs"/>
                      </a:endParaRPr>
                    </a:p>
                  </a:txBody>
                  <a:tcPr marL="91440" marR="91440" anchor="ctr">
                    <a:lnL w="9921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13" name="Google Shape;68;p15"/>
          <p:cNvSpPr txBox="1">
            <a:spLocks noGrp="1"/>
          </p:cNvSpPr>
          <p:nvPr/>
        </p:nvSpPr>
        <p:spPr>
          <a:xfrm>
            <a:off x="149867" y="0"/>
            <a:ext cx="8844266" cy="295272"/>
          </a:xfrm>
          <a:prstGeom prst="rect">
            <a:avLst/>
          </a:prstGeom>
          <a:solidFill>
            <a:srgbClr val="0b0b1a"/>
          </a:solidFill>
        </p:spPr>
        <p:txBody>
          <a:bodyPr vert="horz" wrap="square" lIns="91424" tIns="91424" rIns="91424" bIns="91424" anchor="t" anchorCtr="0">
            <a:noAutofit/>
          </a:bodyPr>
          <a:lstStyle/>
          <a:p>
            <a:pPr marL="68580" lvl="0" indent="0" algn="l" defTabSz="6858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/>
            </a:pPr>
            <a:r>
              <a:rPr kumimoji="0" lang="en-US" altLang="ko-KR" sz="1600" b="1" i="0" u="none" strike="noStrike" kern="1200" cap="none" spc="0" normalizeH="0" baseline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8.</a:t>
            </a:r>
            <a:r>
              <a:rPr kumimoji="0" lang="ko-KR" altLang="en-US" sz="1600" b="1" i="0" u="none" strike="noStrike" kern="1200" cap="none" spc="0" normalizeH="0" baseline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 통합 테스트 </a:t>
            </a:r>
            <a:r>
              <a:rPr kumimoji="0" lang="en-US" altLang="ko-KR" sz="1200" b="1" i="0" u="none" strike="noStrike" kern="1200" cap="none" spc="0" normalizeH="0" baseline="0">
                <a:solidFill>
                  <a:schemeClr val="lt1"/>
                </a:solidFill>
                <a:latin typeface="KoPub돋움체 Light"/>
                <a:ea typeface="KoPub돋움체 Light"/>
                <a:cs typeface="+mn-cs"/>
              </a:rPr>
              <a:t>(2/2)</a:t>
            </a:r>
            <a:endParaRPr kumimoji="0" lang="en-US" altLang="ko-KR" sz="1200" b="1" i="0" u="none" strike="noStrike" kern="1200" cap="none" spc="0" normalizeH="0" baseline="0">
              <a:solidFill>
                <a:schemeClr val="lt1"/>
              </a:solidFill>
              <a:latin typeface="KoPub돋움체 Light"/>
              <a:ea typeface="KoPub돋움체 Light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기본">
  <a:themeElements>
    <a:clrScheme name="기본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기본">
      <a:majorFont>
        <a:latin typeface="Corbel" panose="21474836470000000000"/>
        <a:ea typeface=""/>
        <a:cs typeface=""/>
        <a:font script="Jpan" typeface="MS Gothic"/>
        <a:font script="Hang" typeface="맑은 고딕"/>
        <a:font script="Hans" typeface="SimSun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21474836470000000000"/>
        <a:ea typeface=""/>
        <a:cs typeface=""/>
        <a:font script="Jpan" typeface="MS Gothic"/>
        <a:font script="Hang" typeface="맑은 고딕"/>
        <a:font script="Hans" typeface="SimSun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기본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5303</ep:Words>
  <ep:PresentationFormat>화면 슬라이드 쇼(16:9)</ep:PresentationFormat>
  <ep:Paragraphs>522</ep:Paragraphs>
  <ep:Slides>47</ep:Slides>
  <ep:Notes>58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ep:HeadingPairs>
  <ep:TitlesOfParts>
    <vt:vector size="48" baseType="lpstr">
      <vt:lpstr>기본</vt:lpstr>
      <vt:lpstr>슬라이드 1</vt:lpstr>
      <vt:lpstr>1. 기능 정의서 (1/3)</vt:lpstr>
      <vt:lpstr>1. 기능 정의서 (2/3)</vt:lpstr>
      <vt:lpstr>1. 기능 정의서 (3/3)</vt:lpstr>
      <vt:lpstr>2. 정책 정의서</vt:lpstr>
      <vt:lpstr>3. 프로젝트 구조도 (상세)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ppp2</dc:creator>
  <cp:lastModifiedBy>human-10</cp:lastModifiedBy>
  <dcterms:modified xsi:type="dcterms:W3CDTF">2025-09-18T01:15:54.131</dcterms:modified>
  <cp:revision>618</cp:revision>
  <dc:title>스마트 음식 영양 분석 &amp;  식단 추천 프로젝트</dc:title>
  <cp:version>1000.0000.01</cp:version>
</cp:coreProperties>
</file>